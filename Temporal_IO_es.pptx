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8" r:id="rId4"/>
    <p:sldId id="269" r:id="rId5"/>
    <p:sldId id="258" r:id="rId6"/>
    <p:sldId id="259" r:id="rId7"/>
    <p:sldId id="260" r:id="rId8"/>
    <p:sldId id="261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966"/>
    <p:restoredTop sz="94610"/>
  </p:normalViewPr>
  <p:slideViewPr>
    <p:cSldViewPr snapToGrid="0" snapToObjects="1">
      <p:cViewPr varScale="1">
        <p:scale>
          <a:sx n="188" d="100"/>
          <a:sy n="188" d="100"/>
        </p:scale>
        <p:origin x="168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33409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E9D78-97CB-7BC1-5731-9415C4FB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2AFE0F-325D-51AB-6EB5-0C6DAD7B08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04B7FF-DD1E-2CEB-9686-78D443C455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5184A5-0661-7CB1-C542-2A79823F4A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2237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Shape 1"/>
          <p:cNvSpPr/>
          <p:nvPr/>
        </p:nvSpPr>
        <p:spPr>
          <a:xfrm>
            <a:off x="6858000" y="-548640"/>
            <a:ext cx="3657600" cy="3657600"/>
          </a:xfrm>
          <a:prstGeom prst="ellipse">
            <a:avLst/>
          </a:prstGeom>
          <a:solidFill>
            <a:srgbClr val="1B6CA8">
              <a:alpha val="20000"/>
            </a:srgbClr>
          </a:solidFill>
          <a:ln w="12700">
            <a:solidFill>
              <a:srgbClr val="1B6CA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" name="Shape 2"/>
          <p:cNvSpPr/>
          <p:nvPr/>
        </p:nvSpPr>
        <p:spPr>
          <a:xfrm>
            <a:off x="7498080" y="2560320"/>
            <a:ext cx="2286000" cy="2286000"/>
          </a:xfrm>
          <a:prstGeom prst="ellipse">
            <a:avLst/>
          </a:prstGeom>
          <a:solidFill>
            <a:srgbClr val="00D4AA">
              <a:alpha val="15000"/>
            </a:srgbClr>
          </a:solidFill>
          <a:ln w="12700">
            <a:solidFill>
              <a:srgbClr val="00D4AA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2011680" cy="347472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PLATAFORMA OPEN-SOURCE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7772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IO</a:t>
            </a:r>
            <a:endParaRPr lang="en-US" sz="6000" dirty="0">
              <a:solidFill>
                <a:srgbClr val="002060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74320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 err="1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Flujos</a:t>
            </a:r>
            <a:r>
              <a:rPr lang="en-US" sz="2200" dirty="0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2200" dirty="0" err="1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</a:t>
            </a:r>
            <a:r>
              <a:rPr lang="en-US" sz="2200" dirty="0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duraderos</a:t>
            </a:r>
            <a:r>
              <a:rPr lang="en-US" sz="2200" dirty="0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</a:t>
            </a:r>
            <a:r>
              <a:rPr lang="en-US" sz="2200" dirty="0" err="1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</a:t>
            </a:r>
            <a:r>
              <a:rPr lang="en-US" sz="2200" dirty="0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distribuidos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4114800"/>
            <a:ext cx="8229600" cy="0"/>
          </a:xfrm>
          <a:prstGeom prst="line">
            <a:avLst/>
          </a:prstGeom>
          <a:noFill/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8FA3B3"/>
                </a:solidFill>
              </a:rPr>
              <a:t>Presentación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técnica</a:t>
            </a:r>
            <a:r>
              <a:rPr lang="en-US" sz="1100" dirty="0">
                <a:solidFill>
                  <a:srgbClr val="8FA3B3"/>
                </a:solidFill>
              </a:rPr>
              <a:t> •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Índice</a:t>
            </a:r>
            <a:endParaRPr lang="en-US" sz="3000" dirty="0"/>
          </a:p>
        </p:txBody>
      </p:sp>
      <p:sp>
        <p:nvSpPr>
          <p:cNvPr id="28" name="Shape 2">
            <a:extLst>
              <a:ext uri="{FF2B5EF4-FFF2-40B4-BE49-F238E27FC236}">
                <a16:creationId xmlns:a16="http://schemas.microsoft.com/office/drawing/2014/main" id="{E5CBE0D5-37D5-65C1-EED0-5C2D08344305}"/>
              </a:ext>
            </a:extLst>
          </p:cNvPr>
          <p:cNvSpPr/>
          <p:nvPr/>
        </p:nvSpPr>
        <p:spPr>
          <a:xfrm>
            <a:off x="457200" y="2057404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9" name="Shape 3">
            <a:extLst>
              <a:ext uri="{FF2B5EF4-FFF2-40B4-BE49-F238E27FC236}">
                <a16:creationId xmlns:a16="http://schemas.microsoft.com/office/drawing/2014/main" id="{669FBD2C-1C25-4DA0-819D-C299F7B9E1E9}"/>
              </a:ext>
            </a:extLst>
          </p:cNvPr>
          <p:cNvSpPr/>
          <p:nvPr/>
        </p:nvSpPr>
        <p:spPr>
          <a:xfrm>
            <a:off x="457200" y="2057404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0" name="Text 4">
            <a:extLst>
              <a:ext uri="{FF2B5EF4-FFF2-40B4-BE49-F238E27FC236}">
                <a16:creationId xmlns:a16="http://schemas.microsoft.com/office/drawing/2014/main" id="{126D0715-123B-7016-E806-686A310F1FFC}"/>
              </a:ext>
            </a:extLst>
          </p:cNvPr>
          <p:cNvSpPr/>
          <p:nvPr/>
        </p:nvSpPr>
        <p:spPr>
          <a:xfrm>
            <a:off x="457200" y="2057404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02</a:t>
            </a:r>
            <a:endParaRPr lang="en-US" sz="1300" dirty="0"/>
          </a:p>
        </p:txBody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7047130D-F635-95F7-2DFD-9CF141453A6E}"/>
              </a:ext>
            </a:extLst>
          </p:cNvPr>
          <p:cNvSpPr/>
          <p:nvPr/>
        </p:nvSpPr>
        <p:spPr>
          <a:xfrm>
            <a:off x="1051560" y="2057404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Que es Temporal IO?</a:t>
            </a:r>
            <a:endParaRPr lang="en-US" sz="1300" dirty="0"/>
          </a:p>
        </p:txBody>
      </p:sp>
      <p:sp>
        <p:nvSpPr>
          <p:cNvPr id="32" name="Shape 6">
            <a:extLst>
              <a:ext uri="{FF2B5EF4-FFF2-40B4-BE49-F238E27FC236}">
                <a16:creationId xmlns:a16="http://schemas.microsoft.com/office/drawing/2014/main" id="{09AF871C-7CD2-E491-FD62-5483E930796F}"/>
              </a:ext>
            </a:extLst>
          </p:cNvPr>
          <p:cNvSpPr/>
          <p:nvPr/>
        </p:nvSpPr>
        <p:spPr>
          <a:xfrm>
            <a:off x="457200" y="3032409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D39D75CF-E755-12CC-C4AC-FA50B3DF41C7}"/>
              </a:ext>
            </a:extLst>
          </p:cNvPr>
          <p:cNvSpPr/>
          <p:nvPr/>
        </p:nvSpPr>
        <p:spPr>
          <a:xfrm>
            <a:off x="457200" y="3032409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5071DB4E-6726-667E-969C-661B4681B364}"/>
              </a:ext>
            </a:extLst>
          </p:cNvPr>
          <p:cNvSpPr/>
          <p:nvPr/>
        </p:nvSpPr>
        <p:spPr>
          <a:xfrm>
            <a:off x="457200" y="3032409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03</a:t>
            </a:r>
            <a:endParaRPr lang="en-US" sz="1300" dirty="0"/>
          </a:p>
        </p:txBody>
      </p:sp>
      <p:sp>
        <p:nvSpPr>
          <p:cNvPr id="35" name="Text 9">
            <a:extLst>
              <a:ext uri="{FF2B5EF4-FFF2-40B4-BE49-F238E27FC236}">
                <a16:creationId xmlns:a16="http://schemas.microsoft.com/office/drawing/2014/main" id="{D076EB2D-EA03-BE1E-2F4A-355C2438AAC6}"/>
              </a:ext>
            </a:extLst>
          </p:cNvPr>
          <p:cNvSpPr/>
          <p:nvPr/>
        </p:nvSpPr>
        <p:spPr>
          <a:xfrm>
            <a:off x="1051560" y="3032409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Por que usar Temporal IO?</a:t>
            </a:r>
            <a:endParaRPr lang="en-US" sz="1300" dirty="0"/>
          </a:p>
        </p:txBody>
      </p:sp>
      <p:sp>
        <p:nvSpPr>
          <p:cNvPr id="36" name="Shape 10">
            <a:extLst>
              <a:ext uri="{FF2B5EF4-FFF2-40B4-BE49-F238E27FC236}">
                <a16:creationId xmlns:a16="http://schemas.microsoft.com/office/drawing/2014/main" id="{2CB28BC6-9E8A-0F59-1479-17769BF83BAF}"/>
              </a:ext>
            </a:extLst>
          </p:cNvPr>
          <p:cNvSpPr/>
          <p:nvPr/>
        </p:nvSpPr>
        <p:spPr>
          <a:xfrm>
            <a:off x="457200" y="4024280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37" name="Shape 11">
            <a:extLst>
              <a:ext uri="{FF2B5EF4-FFF2-40B4-BE49-F238E27FC236}">
                <a16:creationId xmlns:a16="http://schemas.microsoft.com/office/drawing/2014/main" id="{F3007C12-9704-B794-31D6-DF25663416B2}"/>
              </a:ext>
            </a:extLst>
          </p:cNvPr>
          <p:cNvSpPr/>
          <p:nvPr/>
        </p:nvSpPr>
        <p:spPr>
          <a:xfrm>
            <a:off x="457200" y="4024280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8" name="Text 12">
            <a:extLst>
              <a:ext uri="{FF2B5EF4-FFF2-40B4-BE49-F238E27FC236}">
                <a16:creationId xmlns:a16="http://schemas.microsoft.com/office/drawing/2014/main" id="{2A1BB4F4-47EB-E796-8295-5C56642DCE40}"/>
              </a:ext>
            </a:extLst>
          </p:cNvPr>
          <p:cNvSpPr/>
          <p:nvPr/>
        </p:nvSpPr>
        <p:spPr>
          <a:xfrm>
            <a:off x="457200" y="4024280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04</a:t>
            </a:r>
            <a:endParaRPr lang="en-US" sz="1300" dirty="0"/>
          </a:p>
        </p:txBody>
      </p:sp>
      <p:sp>
        <p:nvSpPr>
          <p:cNvPr id="39" name="Text 13">
            <a:extLst>
              <a:ext uri="{FF2B5EF4-FFF2-40B4-BE49-F238E27FC236}">
                <a16:creationId xmlns:a16="http://schemas.microsoft.com/office/drawing/2014/main" id="{C6B84352-9ABE-52A3-3B96-EB4C19A35E89}"/>
              </a:ext>
            </a:extLst>
          </p:cNvPr>
          <p:cNvSpPr/>
          <p:nvPr/>
        </p:nvSpPr>
        <p:spPr>
          <a:xfrm>
            <a:off x="1051560" y="402428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FFFFFF"/>
                </a:solidFill>
              </a:rPr>
              <a:t>Ventajas</a:t>
            </a:r>
            <a:r>
              <a:rPr lang="en-US" sz="1300" dirty="0">
                <a:solidFill>
                  <a:srgbClr val="FFFFFF"/>
                </a:solidFill>
              </a:rPr>
              <a:t> y </a:t>
            </a:r>
            <a:r>
              <a:rPr lang="en-US" sz="1300" dirty="0" err="1">
                <a:solidFill>
                  <a:srgbClr val="FFFFFF"/>
                </a:solidFill>
              </a:rPr>
              <a:t>Desventajas</a:t>
            </a:r>
            <a:endParaRPr lang="en-US" sz="1300" dirty="0"/>
          </a:p>
        </p:txBody>
      </p:sp>
      <p:sp>
        <p:nvSpPr>
          <p:cNvPr id="40" name="Shape 14">
            <a:extLst>
              <a:ext uri="{FF2B5EF4-FFF2-40B4-BE49-F238E27FC236}">
                <a16:creationId xmlns:a16="http://schemas.microsoft.com/office/drawing/2014/main" id="{030C2BC0-71D5-1539-A32E-F0AEC19978AC}"/>
              </a:ext>
            </a:extLst>
          </p:cNvPr>
          <p:cNvSpPr/>
          <p:nvPr/>
        </p:nvSpPr>
        <p:spPr>
          <a:xfrm>
            <a:off x="4827909" y="1109556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 dirty="0"/>
          </a:p>
        </p:txBody>
      </p:sp>
      <p:sp>
        <p:nvSpPr>
          <p:cNvPr id="41" name="Shape 15">
            <a:extLst>
              <a:ext uri="{FF2B5EF4-FFF2-40B4-BE49-F238E27FC236}">
                <a16:creationId xmlns:a16="http://schemas.microsoft.com/office/drawing/2014/main" id="{CCD9776D-8B90-A92B-63F3-E30FF9EC035E}"/>
              </a:ext>
            </a:extLst>
          </p:cNvPr>
          <p:cNvSpPr/>
          <p:nvPr/>
        </p:nvSpPr>
        <p:spPr>
          <a:xfrm>
            <a:off x="4827909" y="1109556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2" name="Text 16">
            <a:extLst>
              <a:ext uri="{FF2B5EF4-FFF2-40B4-BE49-F238E27FC236}">
                <a16:creationId xmlns:a16="http://schemas.microsoft.com/office/drawing/2014/main" id="{378EA426-A85C-A8CB-3B47-124D8A322329}"/>
              </a:ext>
            </a:extLst>
          </p:cNvPr>
          <p:cNvSpPr/>
          <p:nvPr/>
        </p:nvSpPr>
        <p:spPr>
          <a:xfrm>
            <a:off x="4827909" y="1109556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05</a:t>
            </a:r>
            <a:endParaRPr lang="en-US" sz="1300" dirty="0"/>
          </a:p>
        </p:txBody>
      </p:sp>
      <p:sp>
        <p:nvSpPr>
          <p:cNvPr id="43" name="Text 17">
            <a:extLst>
              <a:ext uri="{FF2B5EF4-FFF2-40B4-BE49-F238E27FC236}">
                <a16:creationId xmlns:a16="http://schemas.microsoft.com/office/drawing/2014/main" id="{6F93D3CD-DF04-7E54-5428-5DE3B62FA62D}"/>
              </a:ext>
            </a:extLst>
          </p:cNvPr>
          <p:cNvSpPr/>
          <p:nvPr/>
        </p:nvSpPr>
        <p:spPr>
          <a:xfrm>
            <a:off x="5422269" y="1109556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FFFFFF"/>
                </a:solidFill>
              </a:rPr>
              <a:t>Conceptos</a:t>
            </a:r>
            <a:r>
              <a:rPr lang="en-US" sz="1300" dirty="0">
                <a:solidFill>
                  <a:srgbClr val="FFFFFF"/>
                </a:solidFill>
              </a:rPr>
              <a:t> </a:t>
            </a:r>
            <a:r>
              <a:rPr lang="en-US" sz="1300" dirty="0" err="1">
                <a:solidFill>
                  <a:srgbClr val="FFFFFF"/>
                </a:solidFill>
              </a:rPr>
              <a:t>principales</a:t>
            </a:r>
            <a:endParaRPr lang="en-US" sz="1300" dirty="0"/>
          </a:p>
        </p:txBody>
      </p:sp>
      <p:sp>
        <p:nvSpPr>
          <p:cNvPr id="44" name="Shape 18">
            <a:extLst>
              <a:ext uri="{FF2B5EF4-FFF2-40B4-BE49-F238E27FC236}">
                <a16:creationId xmlns:a16="http://schemas.microsoft.com/office/drawing/2014/main" id="{1829AEF9-412E-A245-B7AA-34BCCBEA3E32}"/>
              </a:ext>
            </a:extLst>
          </p:cNvPr>
          <p:cNvSpPr/>
          <p:nvPr/>
        </p:nvSpPr>
        <p:spPr>
          <a:xfrm>
            <a:off x="4827909" y="2057404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45" name="Shape 19">
            <a:extLst>
              <a:ext uri="{FF2B5EF4-FFF2-40B4-BE49-F238E27FC236}">
                <a16:creationId xmlns:a16="http://schemas.microsoft.com/office/drawing/2014/main" id="{A2705A9D-7F68-CBFB-E052-4269CBDC6C88}"/>
              </a:ext>
            </a:extLst>
          </p:cNvPr>
          <p:cNvSpPr/>
          <p:nvPr/>
        </p:nvSpPr>
        <p:spPr>
          <a:xfrm>
            <a:off x="4827909" y="2057404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6" name="Text 20">
            <a:extLst>
              <a:ext uri="{FF2B5EF4-FFF2-40B4-BE49-F238E27FC236}">
                <a16:creationId xmlns:a16="http://schemas.microsoft.com/office/drawing/2014/main" id="{6021C24C-5F04-D720-7408-4F2C1562C531}"/>
              </a:ext>
            </a:extLst>
          </p:cNvPr>
          <p:cNvSpPr/>
          <p:nvPr/>
        </p:nvSpPr>
        <p:spPr>
          <a:xfrm>
            <a:off x="4827909" y="2057404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06</a:t>
            </a:r>
            <a:endParaRPr lang="en-US" sz="1300" dirty="0"/>
          </a:p>
        </p:txBody>
      </p:sp>
      <p:sp>
        <p:nvSpPr>
          <p:cNvPr id="47" name="Text 21">
            <a:extLst>
              <a:ext uri="{FF2B5EF4-FFF2-40B4-BE49-F238E27FC236}">
                <a16:creationId xmlns:a16="http://schemas.microsoft.com/office/drawing/2014/main" id="{F24361E4-E911-1ED1-E316-129B57614FF8}"/>
              </a:ext>
            </a:extLst>
          </p:cNvPr>
          <p:cNvSpPr/>
          <p:nvPr/>
        </p:nvSpPr>
        <p:spPr>
          <a:xfrm>
            <a:off x="5422269" y="2057404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FFFFFF"/>
                </a:solidFill>
              </a:rPr>
              <a:t>Arquitectura</a:t>
            </a:r>
            <a:r>
              <a:rPr lang="en-US" sz="1300" dirty="0">
                <a:solidFill>
                  <a:srgbClr val="FFFFFF"/>
                </a:solidFill>
              </a:rPr>
              <a:t> General</a:t>
            </a:r>
            <a:endParaRPr lang="en-US" sz="1300" dirty="0"/>
          </a:p>
        </p:txBody>
      </p:sp>
      <p:sp>
        <p:nvSpPr>
          <p:cNvPr id="48" name="Shape 22">
            <a:extLst>
              <a:ext uri="{FF2B5EF4-FFF2-40B4-BE49-F238E27FC236}">
                <a16:creationId xmlns:a16="http://schemas.microsoft.com/office/drawing/2014/main" id="{8D28D6F0-EFDC-E664-A186-D1A5173E1B76}"/>
              </a:ext>
            </a:extLst>
          </p:cNvPr>
          <p:cNvSpPr/>
          <p:nvPr/>
        </p:nvSpPr>
        <p:spPr>
          <a:xfrm>
            <a:off x="4827909" y="4024280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49" name="Shape 23">
            <a:extLst>
              <a:ext uri="{FF2B5EF4-FFF2-40B4-BE49-F238E27FC236}">
                <a16:creationId xmlns:a16="http://schemas.microsoft.com/office/drawing/2014/main" id="{7B635ADC-FEE0-B500-7AE4-FD0E08514288}"/>
              </a:ext>
            </a:extLst>
          </p:cNvPr>
          <p:cNvSpPr/>
          <p:nvPr/>
        </p:nvSpPr>
        <p:spPr>
          <a:xfrm>
            <a:off x="4827909" y="4024280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50" name="Text 24">
            <a:extLst>
              <a:ext uri="{FF2B5EF4-FFF2-40B4-BE49-F238E27FC236}">
                <a16:creationId xmlns:a16="http://schemas.microsoft.com/office/drawing/2014/main" id="{CCA247E0-6616-55EC-45BF-88AD57C14D38}"/>
              </a:ext>
            </a:extLst>
          </p:cNvPr>
          <p:cNvSpPr/>
          <p:nvPr/>
        </p:nvSpPr>
        <p:spPr>
          <a:xfrm>
            <a:off x="4827909" y="4024280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08</a:t>
            </a:r>
            <a:endParaRPr lang="en-US" sz="1300" dirty="0"/>
          </a:p>
        </p:txBody>
      </p:sp>
      <p:sp>
        <p:nvSpPr>
          <p:cNvPr id="51" name="Text 25">
            <a:extLst>
              <a:ext uri="{FF2B5EF4-FFF2-40B4-BE49-F238E27FC236}">
                <a16:creationId xmlns:a16="http://schemas.microsoft.com/office/drawing/2014/main" id="{6FE51697-02E0-5D0B-80EF-91352481EAF8}"/>
              </a:ext>
            </a:extLst>
          </p:cNvPr>
          <p:cNvSpPr/>
          <p:nvPr/>
        </p:nvSpPr>
        <p:spPr>
          <a:xfrm>
            <a:off x="5422269" y="402428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FFFFFF"/>
                </a:solidFill>
              </a:rPr>
              <a:t>Conclusión</a:t>
            </a:r>
            <a:endParaRPr lang="en-US" sz="1300" dirty="0"/>
          </a:p>
        </p:txBody>
      </p:sp>
      <p:sp>
        <p:nvSpPr>
          <p:cNvPr id="52" name="Shape 2">
            <a:extLst>
              <a:ext uri="{FF2B5EF4-FFF2-40B4-BE49-F238E27FC236}">
                <a16:creationId xmlns:a16="http://schemas.microsoft.com/office/drawing/2014/main" id="{44CD7DD7-E699-E88F-AA89-C0652D75B1F1}"/>
              </a:ext>
            </a:extLst>
          </p:cNvPr>
          <p:cNvSpPr/>
          <p:nvPr/>
        </p:nvSpPr>
        <p:spPr>
          <a:xfrm>
            <a:off x="457200" y="1109556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3" name="Shape 3">
            <a:extLst>
              <a:ext uri="{FF2B5EF4-FFF2-40B4-BE49-F238E27FC236}">
                <a16:creationId xmlns:a16="http://schemas.microsoft.com/office/drawing/2014/main" id="{6988D20E-F6EF-979E-2E14-F3E9C1F964F4}"/>
              </a:ext>
            </a:extLst>
          </p:cNvPr>
          <p:cNvSpPr/>
          <p:nvPr/>
        </p:nvSpPr>
        <p:spPr>
          <a:xfrm>
            <a:off x="457200" y="1109556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54" name="Text 4">
            <a:extLst>
              <a:ext uri="{FF2B5EF4-FFF2-40B4-BE49-F238E27FC236}">
                <a16:creationId xmlns:a16="http://schemas.microsoft.com/office/drawing/2014/main" id="{5EB00533-9653-8E07-F14F-22C36C1DDA61}"/>
              </a:ext>
            </a:extLst>
          </p:cNvPr>
          <p:cNvSpPr/>
          <p:nvPr/>
        </p:nvSpPr>
        <p:spPr>
          <a:xfrm>
            <a:off x="457200" y="1109556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01</a:t>
            </a:r>
            <a:endParaRPr lang="en-US" sz="1300" dirty="0"/>
          </a:p>
        </p:txBody>
      </p:sp>
      <p:sp>
        <p:nvSpPr>
          <p:cNvPr id="55" name="Text 5">
            <a:extLst>
              <a:ext uri="{FF2B5EF4-FFF2-40B4-BE49-F238E27FC236}">
                <a16:creationId xmlns:a16="http://schemas.microsoft.com/office/drawing/2014/main" id="{58263B8A-E003-8650-0B46-989205DEFA6E}"/>
              </a:ext>
            </a:extLst>
          </p:cNvPr>
          <p:cNvSpPr/>
          <p:nvPr/>
        </p:nvSpPr>
        <p:spPr>
          <a:xfrm>
            <a:off x="1051560" y="1109556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FFFFFF"/>
                </a:solidFill>
              </a:rPr>
              <a:t>Problema</a:t>
            </a:r>
            <a:r>
              <a:rPr lang="en-US" sz="1400" dirty="0">
                <a:solidFill>
                  <a:srgbClr val="FFFFFF"/>
                </a:solidFill>
              </a:rPr>
              <a:t> real </a:t>
            </a:r>
            <a:r>
              <a:rPr lang="en-US" sz="1400" dirty="0" err="1">
                <a:solidFill>
                  <a:srgbClr val="FFFFFF"/>
                </a:solidFill>
              </a:rPr>
              <a:t>en</a:t>
            </a:r>
            <a:r>
              <a:rPr lang="en-US" sz="1400" dirty="0">
                <a:solidFill>
                  <a:srgbClr val="FFFFFF"/>
                </a:solidFill>
              </a:rPr>
              <a:t> </a:t>
            </a:r>
            <a:r>
              <a:rPr lang="en-US" sz="1400" dirty="0" err="1">
                <a:solidFill>
                  <a:srgbClr val="FFFFFF"/>
                </a:solidFill>
              </a:rPr>
              <a:t>microservicios</a:t>
            </a:r>
            <a:endParaRPr lang="en-US" sz="1300" dirty="0"/>
          </a:p>
        </p:txBody>
      </p:sp>
      <p:sp>
        <p:nvSpPr>
          <p:cNvPr id="56" name="Shape 22">
            <a:extLst>
              <a:ext uri="{FF2B5EF4-FFF2-40B4-BE49-F238E27FC236}">
                <a16:creationId xmlns:a16="http://schemas.microsoft.com/office/drawing/2014/main" id="{79CB49B1-E6D3-9179-EFE8-681D65007FAC}"/>
              </a:ext>
            </a:extLst>
          </p:cNvPr>
          <p:cNvSpPr/>
          <p:nvPr/>
        </p:nvSpPr>
        <p:spPr>
          <a:xfrm>
            <a:off x="4827909" y="3040842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7" name="Shape 23">
            <a:extLst>
              <a:ext uri="{FF2B5EF4-FFF2-40B4-BE49-F238E27FC236}">
                <a16:creationId xmlns:a16="http://schemas.microsoft.com/office/drawing/2014/main" id="{18A42155-1F12-8E2F-D7E3-65FFE5086CC6}"/>
              </a:ext>
            </a:extLst>
          </p:cNvPr>
          <p:cNvSpPr/>
          <p:nvPr/>
        </p:nvSpPr>
        <p:spPr>
          <a:xfrm>
            <a:off x="4827909" y="3040842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58" name="Text 24">
            <a:extLst>
              <a:ext uri="{FF2B5EF4-FFF2-40B4-BE49-F238E27FC236}">
                <a16:creationId xmlns:a16="http://schemas.microsoft.com/office/drawing/2014/main" id="{DCB8041F-C709-2450-3172-D924EE1FC9B7}"/>
              </a:ext>
            </a:extLst>
          </p:cNvPr>
          <p:cNvSpPr/>
          <p:nvPr/>
        </p:nvSpPr>
        <p:spPr>
          <a:xfrm>
            <a:off x="4827909" y="3040842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07</a:t>
            </a:r>
            <a:endParaRPr lang="en-US" sz="1300" dirty="0"/>
          </a:p>
        </p:txBody>
      </p:sp>
      <p:sp>
        <p:nvSpPr>
          <p:cNvPr id="59" name="Text 25">
            <a:extLst>
              <a:ext uri="{FF2B5EF4-FFF2-40B4-BE49-F238E27FC236}">
                <a16:creationId xmlns:a16="http://schemas.microsoft.com/office/drawing/2014/main" id="{405F20EA-B11E-B0AB-F09B-65C5973322E6}"/>
              </a:ext>
            </a:extLst>
          </p:cNvPr>
          <p:cNvSpPr/>
          <p:nvPr/>
        </p:nvSpPr>
        <p:spPr>
          <a:xfrm>
            <a:off x="5422269" y="3040842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FFFFFF"/>
                </a:solidFill>
              </a:rPr>
              <a:t>Flujo</a:t>
            </a:r>
            <a:r>
              <a:rPr lang="en-US" sz="1300" dirty="0">
                <a:solidFill>
                  <a:srgbClr val="FFFFFF"/>
                </a:solidFill>
              </a:rPr>
              <a:t> de </a:t>
            </a:r>
            <a:r>
              <a:rPr lang="en-US" sz="1300" dirty="0" err="1">
                <a:solidFill>
                  <a:srgbClr val="FFFFFF"/>
                </a:solidFill>
              </a:rPr>
              <a:t>Ejecución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3">
            <a:extLst>
              <a:ext uri="{FF2B5EF4-FFF2-40B4-BE49-F238E27FC236}">
                <a16:creationId xmlns:a16="http://schemas.microsoft.com/office/drawing/2014/main" id="{55CD4805-F19C-31F2-A9D5-965B2ACEE397}"/>
              </a:ext>
            </a:extLst>
          </p:cNvPr>
          <p:cNvSpPr/>
          <p:nvPr/>
        </p:nvSpPr>
        <p:spPr>
          <a:xfrm>
            <a:off x="296342" y="1029778"/>
            <a:ext cx="3818458" cy="4572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 dirty="0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01  / </a:t>
            </a:r>
            <a:r>
              <a:rPr lang="en-US" sz="2400" b="1" dirty="0" err="1">
                <a:solidFill>
                  <a:srgbClr val="FFFFFF"/>
                </a:solidFill>
              </a:rPr>
              <a:t>Problema</a:t>
            </a:r>
            <a:r>
              <a:rPr lang="en-US" sz="2400" b="1" dirty="0">
                <a:solidFill>
                  <a:srgbClr val="FFFFFF"/>
                </a:solidFill>
              </a:rPr>
              <a:t> real </a:t>
            </a:r>
            <a:r>
              <a:rPr lang="en-US" sz="2400" b="1" dirty="0" err="1">
                <a:solidFill>
                  <a:srgbClr val="FFFFFF"/>
                </a:solidFill>
              </a:rPr>
              <a:t>en</a:t>
            </a:r>
            <a:r>
              <a:rPr lang="en-US" sz="2400" b="1" dirty="0">
                <a:solidFill>
                  <a:srgbClr val="FFFFFF"/>
                </a:solidFill>
              </a:rPr>
              <a:t> </a:t>
            </a:r>
            <a:r>
              <a:rPr lang="en-US" sz="2400" b="1" dirty="0" err="1">
                <a:solidFill>
                  <a:srgbClr val="FFFFFF"/>
                </a:solidFill>
              </a:rPr>
              <a:t>microservicios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96342" y="1488239"/>
            <a:ext cx="3818458" cy="1132223"/>
          </a:xfrm>
          <a:prstGeom prst="rect">
            <a:avLst/>
          </a:prstGeom>
          <a:solidFill>
            <a:srgbClr val="112236"/>
          </a:solidFill>
          <a:ln w="254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5" name="Text 3">
            <a:extLst>
              <a:ext uri="{FF2B5EF4-FFF2-40B4-BE49-F238E27FC236}">
                <a16:creationId xmlns:a16="http://schemas.microsoft.com/office/drawing/2014/main" id="{3C112B80-1565-C23F-AECD-9BD6AE8FE229}"/>
              </a:ext>
            </a:extLst>
          </p:cNvPr>
          <p:cNvSpPr/>
          <p:nvPr/>
        </p:nvSpPr>
        <p:spPr>
          <a:xfrm>
            <a:off x="457200" y="1595604"/>
            <a:ext cx="3254644" cy="8346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i="1" dirty="0" err="1">
                <a:solidFill>
                  <a:srgbClr val="FFFFFF"/>
                </a:solidFill>
              </a:rPr>
              <a:t>Procesamiento</a:t>
            </a:r>
            <a:r>
              <a:rPr lang="en-US" sz="1400" i="1" dirty="0">
                <a:solidFill>
                  <a:srgbClr val="FFFFFF"/>
                </a:solidFill>
              </a:rPr>
              <a:t> de </a:t>
            </a:r>
            <a:r>
              <a:rPr lang="en-US" sz="1400" i="1" dirty="0" err="1">
                <a:solidFill>
                  <a:srgbClr val="FFFFFF"/>
                </a:solidFill>
              </a:rPr>
              <a:t>pedidos</a:t>
            </a:r>
            <a:endParaRPr lang="en-US" sz="1400" i="1" dirty="0">
              <a:solidFill>
                <a:srgbClr val="FFFFFF"/>
              </a:solidFill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en-US" sz="1400" i="1" dirty="0" err="1">
                <a:solidFill>
                  <a:srgbClr val="FFFFFF"/>
                </a:solidFill>
              </a:rPr>
              <a:t>Reservar</a:t>
            </a:r>
            <a:r>
              <a:rPr lang="en-US" sz="1400" i="1" dirty="0">
                <a:solidFill>
                  <a:srgbClr val="FFFFFF"/>
                </a:solidFill>
              </a:rPr>
              <a:t> Stock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US" sz="1400" i="1" dirty="0">
                <a:solidFill>
                  <a:srgbClr val="FFFFFF"/>
                </a:solidFill>
              </a:rPr>
              <a:t>Pago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US" sz="1400" i="1" dirty="0" err="1">
                <a:solidFill>
                  <a:srgbClr val="FFFFFF"/>
                </a:solidFill>
              </a:rPr>
              <a:t>Enviar</a:t>
            </a:r>
            <a:r>
              <a:rPr lang="en-US" sz="1400" i="1" dirty="0">
                <a:solidFill>
                  <a:srgbClr val="FFFFFF"/>
                </a:solidFill>
              </a:rPr>
              <a:t> Email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BC8F8221-E248-C7C3-45F7-02D102595CD8}"/>
              </a:ext>
            </a:extLst>
          </p:cNvPr>
          <p:cNvSpPr txBox="1"/>
          <p:nvPr/>
        </p:nvSpPr>
        <p:spPr>
          <a:xfrm>
            <a:off x="463857" y="1089101"/>
            <a:ext cx="341071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0D1B2A"/>
                </a:solidFill>
              </a:rPr>
              <a:t>Caso de </a:t>
            </a:r>
            <a:r>
              <a:rPr lang="en-US" sz="1400" b="1" dirty="0" err="1">
                <a:solidFill>
                  <a:srgbClr val="0D1B2A"/>
                </a:solidFill>
              </a:rPr>
              <a:t>Uso</a:t>
            </a:r>
            <a:endParaRPr lang="pt-PT" sz="1400" dirty="0"/>
          </a:p>
        </p:txBody>
      </p:sp>
      <p:pic>
        <p:nvPicPr>
          <p:cNvPr id="30" name="Imagem 29">
            <a:extLst>
              <a:ext uri="{FF2B5EF4-FFF2-40B4-BE49-F238E27FC236}">
                <a16:creationId xmlns:a16="http://schemas.microsoft.com/office/drawing/2014/main" id="{DB2BB3BE-4FA4-AD70-F6B3-8482D5B837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159" y="1029778"/>
            <a:ext cx="4347835" cy="3757014"/>
          </a:xfrm>
          <a:prstGeom prst="rect">
            <a:avLst/>
          </a:prstGeom>
        </p:spPr>
      </p:pic>
      <p:sp>
        <p:nvSpPr>
          <p:cNvPr id="5" name="Shape 2">
            <a:extLst>
              <a:ext uri="{FF2B5EF4-FFF2-40B4-BE49-F238E27FC236}">
                <a16:creationId xmlns:a16="http://schemas.microsoft.com/office/drawing/2014/main" id="{68224E63-CDBF-A5E1-3F3C-40114C1946D0}"/>
              </a:ext>
            </a:extLst>
          </p:cNvPr>
          <p:cNvSpPr/>
          <p:nvPr/>
        </p:nvSpPr>
        <p:spPr>
          <a:xfrm>
            <a:off x="296342" y="2900166"/>
            <a:ext cx="3818458" cy="1886625"/>
          </a:xfrm>
          <a:prstGeom prst="rect">
            <a:avLst/>
          </a:prstGeom>
          <a:solidFill>
            <a:srgbClr val="112236"/>
          </a:solidFill>
          <a:ln w="254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F7057229-D972-4ECB-9672-87A5E5974479}"/>
              </a:ext>
            </a:extLst>
          </p:cNvPr>
          <p:cNvSpPr/>
          <p:nvPr/>
        </p:nvSpPr>
        <p:spPr>
          <a:xfrm>
            <a:off x="457200" y="2986085"/>
            <a:ext cx="3254644" cy="1696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t-PT" sz="1400" b="1" dirty="0">
                <a:solidFill>
                  <a:schemeClr val="bg1"/>
                </a:solidFill>
              </a:rPr>
              <a:t>Problema sem Temporal</a:t>
            </a:r>
          </a:p>
          <a:p>
            <a:r>
              <a:rPr lang="pt-PT" sz="1400" dirty="0">
                <a:solidFill>
                  <a:schemeClr val="bg1"/>
                </a:solidFill>
              </a:rPr>
              <a:t>Si el pago </a:t>
            </a:r>
            <a:r>
              <a:rPr lang="pt-PT" sz="1400" dirty="0" err="1">
                <a:solidFill>
                  <a:schemeClr val="bg1"/>
                </a:solidFill>
              </a:rPr>
              <a:t>falla</a:t>
            </a:r>
            <a:r>
              <a:rPr lang="pt-PT" sz="1400" dirty="0">
                <a:solidFill>
                  <a:schemeClr val="bg1"/>
                </a:solidFill>
              </a:rPr>
              <a:t> </a:t>
            </a:r>
            <a:r>
              <a:rPr lang="pt-PT" sz="1400" dirty="0" err="1">
                <a:solidFill>
                  <a:schemeClr val="bg1"/>
                </a:solidFill>
              </a:rPr>
              <a:t>tras</a:t>
            </a:r>
            <a:r>
              <a:rPr lang="pt-PT" sz="1400" dirty="0">
                <a:solidFill>
                  <a:schemeClr val="bg1"/>
                </a:solidFill>
              </a:rPr>
              <a:t> la reserva de stock: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PT" sz="1400" dirty="0">
                <a:solidFill>
                  <a:schemeClr val="bg1"/>
                </a:solidFill>
              </a:rPr>
              <a:t> el sistema permanece </a:t>
            </a:r>
            <a:r>
              <a:rPr lang="pt-PT" sz="1400" dirty="0" err="1">
                <a:solidFill>
                  <a:schemeClr val="bg1"/>
                </a:solidFill>
              </a:rPr>
              <a:t>en</a:t>
            </a:r>
            <a:r>
              <a:rPr lang="pt-PT" sz="1400" dirty="0">
                <a:solidFill>
                  <a:schemeClr val="bg1"/>
                </a:solidFill>
              </a:rPr>
              <a:t> </a:t>
            </a:r>
            <a:r>
              <a:rPr lang="pt-PT" sz="1400" dirty="0" err="1">
                <a:solidFill>
                  <a:schemeClr val="bg1"/>
                </a:solidFill>
              </a:rPr>
              <a:t>un</a:t>
            </a:r>
            <a:r>
              <a:rPr lang="pt-PT" sz="1400" dirty="0">
                <a:solidFill>
                  <a:schemeClr val="bg1"/>
                </a:solidFill>
              </a:rPr>
              <a:t> estado intermedio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PT" sz="1400" dirty="0">
                <a:solidFill>
                  <a:schemeClr val="bg1"/>
                </a:solidFill>
              </a:rPr>
              <a:t> </a:t>
            </a:r>
            <a:r>
              <a:rPr lang="pt-PT" sz="1400" dirty="0" err="1">
                <a:solidFill>
                  <a:schemeClr val="bg1"/>
                </a:solidFill>
              </a:rPr>
              <a:t>debe</a:t>
            </a:r>
            <a:r>
              <a:rPr lang="pt-PT" sz="1400" dirty="0">
                <a:solidFill>
                  <a:schemeClr val="bg1"/>
                </a:solidFill>
              </a:rPr>
              <a:t> decidir entre </a:t>
            </a:r>
            <a:r>
              <a:rPr lang="pt-PT" sz="1400" dirty="0" err="1">
                <a:solidFill>
                  <a:schemeClr val="bg1"/>
                </a:solidFill>
              </a:rPr>
              <a:t>reintentar</a:t>
            </a:r>
            <a:r>
              <a:rPr lang="pt-PT" sz="1400" dirty="0">
                <a:solidFill>
                  <a:schemeClr val="bg1"/>
                </a:solidFill>
              </a:rPr>
              <a:t> o compensar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PT" sz="1400" dirty="0">
                <a:solidFill>
                  <a:schemeClr val="bg1"/>
                </a:solidFill>
              </a:rPr>
              <a:t> </a:t>
            </a:r>
            <a:r>
              <a:rPr lang="pt-PT" sz="1400" dirty="0" err="1">
                <a:solidFill>
                  <a:schemeClr val="bg1"/>
                </a:solidFill>
              </a:rPr>
              <a:t>es</a:t>
            </a:r>
            <a:r>
              <a:rPr lang="pt-PT" sz="1400" dirty="0">
                <a:solidFill>
                  <a:schemeClr val="bg1"/>
                </a:solidFill>
              </a:rPr>
              <a:t> </a:t>
            </a:r>
            <a:r>
              <a:rPr lang="pt-PT" sz="1400" dirty="0" err="1">
                <a:solidFill>
                  <a:schemeClr val="bg1"/>
                </a:solidFill>
              </a:rPr>
              <a:t>necesario</a:t>
            </a:r>
            <a:r>
              <a:rPr lang="pt-PT" sz="1400" dirty="0">
                <a:solidFill>
                  <a:schemeClr val="bg1"/>
                </a:solidFill>
              </a:rPr>
              <a:t> evitar duplicados y saber </a:t>
            </a:r>
            <a:r>
              <a:rPr lang="pt-PT" sz="1400" dirty="0" err="1">
                <a:solidFill>
                  <a:schemeClr val="bg1"/>
                </a:solidFill>
              </a:rPr>
              <a:t>dónde</a:t>
            </a:r>
            <a:r>
              <a:rPr lang="pt-PT" sz="1400" dirty="0">
                <a:solidFill>
                  <a:schemeClr val="bg1"/>
                </a:solidFill>
              </a:rPr>
              <a:t> </a:t>
            </a:r>
            <a:r>
              <a:rPr lang="pt-PT" sz="1400" dirty="0" err="1">
                <a:solidFill>
                  <a:schemeClr val="bg1"/>
                </a:solidFill>
              </a:rPr>
              <a:t>reanudar</a:t>
            </a:r>
            <a:r>
              <a:rPr lang="pt-PT" sz="1400" dirty="0">
                <a:solidFill>
                  <a:schemeClr val="bg1"/>
                </a:solidFill>
              </a:rPr>
              <a:t> la </a:t>
            </a:r>
            <a:r>
              <a:rPr lang="pt-PT" sz="1400" dirty="0" err="1">
                <a:solidFill>
                  <a:schemeClr val="bg1"/>
                </a:solidFill>
              </a:rPr>
              <a:t>operación</a:t>
            </a:r>
            <a:endParaRPr lang="pt-PT" sz="1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F1EAA-D0AD-6646-40E2-1886C702A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D8C9ED9-A036-D733-7F14-4EF10CEE4D8C}"/>
              </a:ext>
            </a:extLst>
          </p:cNvPr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F29BEB5-FF40-92AE-F496-5A611B310339}"/>
              </a:ext>
            </a:extLst>
          </p:cNvPr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01  / </a:t>
            </a:r>
            <a:r>
              <a:rPr lang="en-US" sz="2400" b="1" dirty="0" err="1">
                <a:solidFill>
                  <a:srgbClr val="FFFFFF"/>
                </a:solidFill>
              </a:rPr>
              <a:t>Problema</a:t>
            </a:r>
            <a:r>
              <a:rPr lang="en-US" sz="2400" b="1" dirty="0">
                <a:solidFill>
                  <a:srgbClr val="FFFFFF"/>
                </a:solidFill>
              </a:rPr>
              <a:t> real </a:t>
            </a:r>
            <a:r>
              <a:rPr lang="en-US" sz="2400" b="1" dirty="0" err="1">
                <a:solidFill>
                  <a:srgbClr val="FFFFFF"/>
                </a:solidFill>
              </a:rPr>
              <a:t>en</a:t>
            </a:r>
            <a:r>
              <a:rPr lang="en-US" sz="2400" b="1" dirty="0">
                <a:solidFill>
                  <a:srgbClr val="FFFFFF"/>
                </a:solidFill>
              </a:rPr>
              <a:t> </a:t>
            </a:r>
            <a:r>
              <a:rPr lang="en-US" sz="2400" b="1" dirty="0" err="1">
                <a:solidFill>
                  <a:srgbClr val="FFFFFF"/>
                </a:solidFill>
              </a:rPr>
              <a:t>microservicios</a:t>
            </a:r>
            <a:endParaRPr lang="en-US" sz="2400" dirty="0"/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CA13B47F-8135-EB99-0CED-53077771A4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29778"/>
            <a:ext cx="4347835" cy="3491101"/>
          </a:xfrm>
          <a:prstGeom prst="rect">
            <a:avLst/>
          </a:prstGeom>
        </p:spPr>
      </p:pic>
      <p:sp>
        <p:nvSpPr>
          <p:cNvPr id="4" name="Shape 3">
            <a:extLst>
              <a:ext uri="{FF2B5EF4-FFF2-40B4-BE49-F238E27FC236}">
                <a16:creationId xmlns:a16="http://schemas.microsoft.com/office/drawing/2014/main" id="{8887D62C-15A8-6734-3362-F493B5DF38B7}"/>
              </a:ext>
            </a:extLst>
          </p:cNvPr>
          <p:cNvSpPr/>
          <p:nvPr/>
        </p:nvSpPr>
        <p:spPr>
          <a:xfrm>
            <a:off x="296342" y="1029778"/>
            <a:ext cx="3818458" cy="4572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12B878AB-42D1-0FD3-F2F8-62288356B5A2}"/>
              </a:ext>
            </a:extLst>
          </p:cNvPr>
          <p:cNvSpPr txBox="1"/>
          <p:nvPr/>
        </p:nvSpPr>
        <p:spPr>
          <a:xfrm>
            <a:off x="352212" y="1091240"/>
            <a:ext cx="370501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0D1B2A"/>
                </a:solidFill>
              </a:rPr>
              <a:t>Caso de </a:t>
            </a:r>
            <a:r>
              <a:rPr lang="en-US" sz="1400" b="1" dirty="0" err="1">
                <a:solidFill>
                  <a:srgbClr val="0D1B2A"/>
                </a:solidFill>
              </a:rPr>
              <a:t>Uso</a:t>
            </a:r>
            <a:r>
              <a:rPr lang="pt-PT" sz="1400" dirty="0"/>
              <a:t> </a:t>
            </a:r>
            <a:r>
              <a:rPr lang="en-US" sz="1400" b="1" dirty="0">
                <a:solidFill>
                  <a:srgbClr val="0D1B2A"/>
                </a:solidFill>
              </a:rPr>
              <a:t>– </a:t>
            </a:r>
            <a:r>
              <a:rPr lang="en-US" sz="1400" b="1" dirty="0" err="1">
                <a:solidFill>
                  <a:srgbClr val="0D1B2A"/>
                </a:solidFill>
              </a:rPr>
              <a:t>Procesamiento</a:t>
            </a:r>
            <a:r>
              <a:rPr lang="en-US" sz="1400" b="1" dirty="0">
                <a:solidFill>
                  <a:srgbClr val="0D1B2A"/>
                </a:solidFill>
              </a:rPr>
              <a:t> de </a:t>
            </a:r>
            <a:r>
              <a:rPr lang="en-US" sz="1400" b="1" dirty="0" err="1">
                <a:solidFill>
                  <a:srgbClr val="0D1B2A"/>
                </a:solidFill>
              </a:rPr>
              <a:t>pedidos</a:t>
            </a:r>
            <a:r>
              <a:rPr lang="en-US" sz="1400" b="1" dirty="0">
                <a:solidFill>
                  <a:srgbClr val="0D1B2A"/>
                </a:solidFill>
              </a:rPr>
              <a:t> / Saga</a:t>
            </a:r>
            <a:endParaRPr lang="pt-PT" sz="1400" dirty="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2B4AD246-C258-A354-C339-66A7DF4E2433}"/>
              </a:ext>
            </a:extLst>
          </p:cNvPr>
          <p:cNvSpPr/>
          <p:nvPr/>
        </p:nvSpPr>
        <p:spPr>
          <a:xfrm>
            <a:off x="296342" y="1488239"/>
            <a:ext cx="3818458" cy="1868652"/>
          </a:xfrm>
          <a:prstGeom prst="rect">
            <a:avLst/>
          </a:prstGeom>
          <a:solidFill>
            <a:srgbClr val="112236"/>
          </a:solidFill>
          <a:ln w="254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5737D986-4144-A67D-5611-18C3320C8B41}"/>
              </a:ext>
            </a:extLst>
          </p:cNvPr>
          <p:cNvSpPr/>
          <p:nvPr/>
        </p:nvSpPr>
        <p:spPr>
          <a:xfrm>
            <a:off x="457200" y="1546302"/>
            <a:ext cx="3254644" cy="1663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t-PT" sz="1400" b="1" dirty="0">
                <a:solidFill>
                  <a:schemeClr val="bg1"/>
                </a:solidFill>
              </a:rPr>
              <a:t>Com Temporal</a:t>
            </a:r>
          </a:p>
          <a:p>
            <a:r>
              <a:rPr lang="pt-PT" sz="1400" dirty="0">
                <a:solidFill>
                  <a:schemeClr val="bg1"/>
                </a:solidFill>
              </a:rPr>
              <a:t>El  workflow se guarda </a:t>
            </a:r>
            <a:r>
              <a:rPr lang="pt-PT" sz="1400" dirty="0" err="1">
                <a:solidFill>
                  <a:schemeClr val="bg1"/>
                </a:solidFill>
              </a:rPr>
              <a:t>automáticamente</a:t>
            </a:r>
            <a:r>
              <a:rPr lang="pt-PT" sz="1400" dirty="0">
                <a:solidFill>
                  <a:schemeClr val="bg1"/>
                </a:solidFill>
              </a:rPr>
              <a:t> y </a:t>
            </a:r>
            <a:r>
              <a:rPr lang="pt-PT" sz="1400" dirty="0" err="1">
                <a:solidFill>
                  <a:schemeClr val="bg1"/>
                </a:solidFill>
              </a:rPr>
              <a:t>usted</a:t>
            </a:r>
            <a:r>
              <a:rPr lang="pt-PT" sz="1400" dirty="0">
                <a:solidFill>
                  <a:schemeClr val="bg1"/>
                </a:solidFill>
              </a:rPr>
              <a:t> </a:t>
            </a:r>
            <a:r>
              <a:rPr lang="pt-PT" sz="1400" dirty="0" err="1">
                <a:solidFill>
                  <a:schemeClr val="bg1"/>
                </a:solidFill>
              </a:rPr>
              <a:t>puede</a:t>
            </a:r>
            <a:r>
              <a:rPr lang="pt-PT" sz="1400" dirty="0">
                <a:solidFill>
                  <a:schemeClr val="bg1"/>
                </a:solidFill>
              </a:rPr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PT" sz="1400" dirty="0">
                <a:solidFill>
                  <a:schemeClr val="bg1"/>
                </a:solidFill>
              </a:rPr>
              <a:t> intentar </a:t>
            </a:r>
            <a:r>
              <a:rPr lang="pt-PT" sz="1400" dirty="0" err="1">
                <a:solidFill>
                  <a:schemeClr val="bg1"/>
                </a:solidFill>
              </a:rPr>
              <a:t>fallas</a:t>
            </a:r>
            <a:r>
              <a:rPr lang="pt-PT" sz="1400" dirty="0">
                <a:solidFill>
                  <a:schemeClr val="bg1"/>
                </a:solidFill>
              </a:rPr>
              <a:t> </a:t>
            </a:r>
            <a:r>
              <a:rPr lang="pt-PT" sz="1400" dirty="0" err="1">
                <a:solidFill>
                  <a:schemeClr val="bg1"/>
                </a:solidFill>
              </a:rPr>
              <a:t>transitorias</a:t>
            </a:r>
            <a:endParaRPr lang="pt-PT" sz="1400" dirty="0">
              <a:solidFill>
                <a:schemeClr val="bg1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pt-PT" sz="1400" dirty="0">
                <a:solidFill>
                  <a:schemeClr val="bg1"/>
                </a:solidFill>
              </a:rPr>
              <a:t> </a:t>
            </a:r>
            <a:r>
              <a:rPr lang="pt-PT" sz="1400" dirty="0" err="1">
                <a:solidFill>
                  <a:schemeClr val="bg1"/>
                </a:solidFill>
              </a:rPr>
              <a:t>fallar</a:t>
            </a:r>
            <a:r>
              <a:rPr lang="pt-PT" sz="1400" dirty="0">
                <a:solidFill>
                  <a:schemeClr val="bg1"/>
                </a:solidFill>
              </a:rPr>
              <a:t> de </a:t>
            </a:r>
            <a:r>
              <a:rPr lang="pt-PT" sz="1400" dirty="0" err="1">
                <a:solidFill>
                  <a:schemeClr val="bg1"/>
                </a:solidFill>
              </a:rPr>
              <a:t>manera</a:t>
            </a:r>
            <a:r>
              <a:rPr lang="pt-PT" sz="1400" dirty="0">
                <a:solidFill>
                  <a:schemeClr val="bg1"/>
                </a:solidFill>
              </a:rPr>
              <a:t> controlada </a:t>
            </a:r>
            <a:r>
              <a:rPr lang="pt-PT" sz="1400" dirty="0" err="1">
                <a:solidFill>
                  <a:schemeClr val="bg1"/>
                </a:solidFill>
              </a:rPr>
              <a:t>en</a:t>
            </a:r>
            <a:r>
              <a:rPr lang="pt-PT" sz="1400" dirty="0">
                <a:solidFill>
                  <a:schemeClr val="bg1"/>
                </a:solidFill>
              </a:rPr>
              <a:t> los errores </a:t>
            </a:r>
            <a:r>
              <a:rPr lang="pt-PT" sz="1400" dirty="0" err="1">
                <a:solidFill>
                  <a:schemeClr val="bg1"/>
                </a:solidFill>
              </a:rPr>
              <a:t>empresariales</a:t>
            </a:r>
            <a:endParaRPr lang="pt-PT" sz="1400" dirty="0">
              <a:solidFill>
                <a:schemeClr val="bg1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pt-PT" sz="1400" dirty="0">
                <a:solidFill>
                  <a:schemeClr val="bg1"/>
                </a:solidFill>
              </a:rPr>
              <a:t> continuar desde el </a:t>
            </a:r>
            <a:r>
              <a:rPr lang="pt-PT" sz="1400" dirty="0" err="1">
                <a:solidFill>
                  <a:schemeClr val="bg1"/>
                </a:solidFill>
              </a:rPr>
              <a:t>punto</a:t>
            </a:r>
            <a:r>
              <a:rPr lang="pt-PT" sz="1400" dirty="0">
                <a:solidFill>
                  <a:schemeClr val="bg1"/>
                </a:solidFill>
              </a:rPr>
              <a:t> </a:t>
            </a:r>
            <a:r>
              <a:rPr lang="pt-PT" sz="1400" dirty="0" err="1">
                <a:solidFill>
                  <a:schemeClr val="bg1"/>
                </a:solidFill>
              </a:rPr>
              <a:t>correcto</a:t>
            </a:r>
            <a:r>
              <a:rPr lang="pt-PT" sz="1400" dirty="0">
                <a:solidFill>
                  <a:schemeClr val="bg1"/>
                </a:solidFill>
              </a:rPr>
              <a:t> </a:t>
            </a:r>
            <a:r>
              <a:rPr lang="pt-PT" sz="1400" dirty="0" err="1">
                <a:solidFill>
                  <a:schemeClr val="bg1"/>
                </a:solidFill>
              </a:rPr>
              <a:t>basándose</a:t>
            </a:r>
            <a:r>
              <a:rPr lang="pt-PT" sz="1400" dirty="0">
                <a:solidFill>
                  <a:schemeClr val="bg1"/>
                </a:solidFill>
              </a:rPr>
              <a:t> </a:t>
            </a:r>
            <a:r>
              <a:rPr lang="pt-PT" sz="1400" dirty="0" err="1">
                <a:solidFill>
                  <a:schemeClr val="bg1"/>
                </a:solidFill>
              </a:rPr>
              <a:t>en</a:t>
            </a:r>
            <a:r>
              <a:rPr lang="pt-PT" sz="1400" dirty="0">
                <a:solidFill>
                  <a:schemeClr val="bg1"/>
                </a:solidFill>
              </a:rPr>
              <a:t> la historia.</a:t>
            </a:r>
          </a:p>
        </p:txBody>
      </p:sp>
    </p:spTree>
    <p:extLst>
      <p:ext uri="{BB962C8B-B14F-4D97-AF65-F5344CB8AC3E}">
        <p14:creationId xmlns:p14="http://schemas.microsoft.com/office/powerpoint/2010/main" val="32255581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01  / </a:t>
            </a:r>
            <a:r>
              <a:rPr lang="en-US" sz="2400" b="1" dirty="0" err="1">
                <a:solidFill>
                  <a:srgbClr val="FFFFFF"/>
                </a:solidFill>
              </a:rPr>
              <a:t>Qué</a:t>
            </a:r>
            <a:r>
              <a:rPr lang="en-US" sz="2400" b="1" dirty="0">
                <a:solidFill>
                  <a:srgbClr val="FFFFFF"/>
                </a:solidFill>
              </a:rPr>
              <a:t> es Temporal IO?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8412480" cy="868680"/>
          </a:xfrm>
          <a:prstGeom prst="rect">
            <a:avLst/>
          </a:prstGeom>
          <a:solidFill>
            <a:srgbClr val="112236"/>
          </a:solidFill>
          <a:ln w="254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Text 3"/>
          <p:cNvSpPr/>
          <p:nvPr/>
        </p:nvSpPr>
        <p:spPr>
          <a:xfrm>
            <a:off x="548640" y="1024251"/>
            <a:ext cx="8046720" cy="644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FFFFF"/>
                </a:solidFill>
              </a:rPr>
              <a:t>Temporal es </a:t>
            </a:r>
            <a:r>
              <a:rPr lang="en-US" sz="1400" i="1" dirty="0" err="1">
                <a:solidFill>
                  <a:srgbClr val="FFFFFF"/>
                </a:solidFill>
              </a:rPr>
              <a:t>una</a:t>
            </a:r>
            <a:r>
              <a:rPr lang="en-US" sz="1400" i="1" dirty="0">
                <a:solidFill>
                  <a:srgbClr val="FFFFFF"/>
                </a:solidFill>
              </a:rPr>
              <a:t> </a:t>
            </a:r>
            <a:r>
              <a:rPr lang="en-US" sz="1400" i="1" dirty="0" err="1">
                <a:solidFill>
                  <a:srgbClr val="FFFFFF"/>
                </a:solidFill>
              </a:rPr>
              <a:t>plataforma</a:t>
            </a:r>
            <a:r>
              <a:rPr lang="en-US" sz="1400" i="1" dirty="0">
                <a:solidFill>
                  <a:srgbClr val="FFFFFF"/>
                </a:solidFill>
              </a:rPr>
              <a:t> de </a:t>
            </a:r>
            <a:r>
              <a:rPr lang="en-US" sz="1400" i="1" dirty="0" err="1">
                <a:solidFill>
                  <a:srgbClr val="FFFFFF"/>
                </a:solidFill>
              </a:rPr>
              <a:t>código</a:t>
            </a:r>
            <a:r>
              <a:rPr lang="en-US" sz="1400" i="1" dirty="0">
                <a:solidFill>
                  <a:srgbClr val="FFFFFF"/>
                </a:solidFill>
              </a:rPr>
              <a:t> </a:t>
            </a:r>
            <a:r>
              <a:rPr lang="en-US" sz="1400" i="1" dirty="0" err="1">
                <a:solidFill>
                  <a:srgbClr val="FFFFFF"/>
                </a:solidFill>
              </a:rPr>
              <a:t>abierto</a:t>
            </a:r>
            <a:r>
              <a:rPr lang="en-US" sz="1400" i="1" dirty="0">
                <a:solidFill>
                  <a:srgbClr val="FFFFFF"/>
                </a:solidFill>
              </a:rPr>
              <a:t> para </a:t>
            </a:r>
            <a:r>
              <a:rPr lang="en-US" sz="1400" i="1" dirty="0" err="1">
                <a:solidFill>
                  <a:srgbClr val="FFFFFF"/>
                </a:solidFill>
              </a:rPr>
              <a:t>implementar</a:t>
            </a:r>
            <a:r>
              <a:rPr lang="en-US" sz="1400" i="1" dirty="0">
                <a:solidFill>
                  <a:srgbClr val="FFFFFF"/>
                </a:solidFill>
              </a:rPr>
              <a:t> de forma </a:t>
            </a:r>
            <a:r>
              <a:rPr lang="en-US" sz="1400" i="1" dirty="0" err="1">
                <a:solidFill>
                  <a:srgbClr val="FFFFFF"/>
                </a:solidFill>
              </a:rPr>
              <a:t>fiable</a:t>
            </a:r>
            <a:r>
              <a:rPr lang="en-US" sz="1400" i="1" dirty="0">
                <a:solidFill>
                  <a:srgbClr val="FFFFFF"/>
                </a:solidFill>
              </a:rPr>
              <a:t> </a:t>
            </a:r>
            <a:r>
              <a:rPr lang="en-US" sz="1400" i="1" dirty="0" err="1">
                <a:solidFill>
                  <a:srgbClr val="FFFFFF"/>
                </a:solidFill>
              </a:rPr>
              <a:t>sistemas</a:t>
            </a:r>
            <a:r>
              <a:rPr lang="en-US" sz="1400" i="1" dirty="0">
                <a:solidFill>
                  <a:srgbClr val="FFFFFF"/>
                </a:solidFill>
              </a:rPr>
              <a:t> </a:t>
            </a:r>
            <a:r>
              <a:rPr lang="en-US" sz="1400" i="1" dirty="0" err="1">
                <a:solidFill>
                  <a:srgbClr val="FFFFFF"/>
                </a:solidFill>
              </a:rPr>
              <a:t>distribuidos</a:t>
            </a:r>
            <a:r>
              <a:rPr lang="en-US" sz="1400" i="1" dirty="0">
                <a:solidFill>
                  <a:srgbClr val="FFFFFF"/>
                </a:solidFill>
              </a:rPr>
              <a:t> de </a:t>
            </a:r>
            <a:r>
              <a:rPr lang="en-US" sz="1400" i="1" dirty="0" err="1">
                <a:solidFill>
                  <a:srgbClr val="FFFFFF"/>
                </a:solidFill>
              </a:rPr>
              <a:t>larga</a:t>
            </a:r>
            <a:r>
              <a:rPr lang="en-US" sz="1400" i="1" dirty="0">
                <a:solidFill>
                  <a:srgbClr val="FFFFFF"/>
                </a:solidFill>
              </a:rPr>
              <a:t> </a:t>
            </a:r>
            <a:r>
              <a:rPr lang="en-US" sz="1400" i="1" dirty="0" err="1">
                <a:solidFill>
                  <a:srgbClr val="FFFFFF"/>
                </a:solidFill>
              </a:rPr>
              <a:t>duración</a:t>
            </a:r>
            <a:r>
              <a:rPr lang="en-US" sz="1400" i="1" dirty="0">
                <a:solidFill>
                  <a:srgbClr val="FFFFFF"/>
                </a:solidFill>
              </a:rPr>
              <a:t>, </a:t>
            </a:r>
            <a:r>
              <a:rPr lang="en-US" sz="1400" i="1" dirty="0" err="1">
                <a:solidFill>
                  <a:srgbClr val="FFFFFF"/>
                </a:solidFill>
              </a:rPr>
              <a:t>donde</a:t>
            </a:r>
            <a:r>
              <a:rPr lang="en-US" sz="1400" i="1" dirty="0">
                <a:solidFill>
                  <a:srgbClr val="FFFFFF"/>
                </a:solidFill>
              </a:rPr>
              <a:t> </a:t>
            </a:r>
            <a:r>
              <a:rPr lang="en-US" sz="1400" i="1" dirty="0" err="1">
                <a:solidFill>
                  <a:srgbClr val="FFFFFF"/>
                </a:solidFill>
              </a:rPr>
              <a:t>el</a:t>
            </a:r>
            <a:r>
              <a:rPr lang="en-US" sz="1400" i="1" dirty="0">
                <a:solidFill>
                  <a:srgbClr val="FFFFFF"/>
                </a:solidFill>
              </a:rPr>
              <a:t> </a:t>
            </a:r>
            <a:r>
              <a:rPr lang="en-US" sz="1400" i="1" dirty="0" err="1">
                <a:solidFill>
                  <a:srgbClr val="FFFFFF"/>
                </a:solidFill>
              </a:rPr>
              <a:t>propio</a:t>
            </a:r>
            <a:r>
              <a:rPr lang="en-US" sz="1400" i="1" dirty="0">
                <a:solidFill>
                  <a:srgbClr val="FFFFFF"/>
                </a:solidFill>
              </a:rPr>
              <a:t> </a:t>
            </a:r>
            <a:r>
              <a:rPr lang="en-US" sz="1400" i="1" dirty="0" err="1">
                <a:solidFill>
                  <a:srgbClr val="FFFFFF"/>
                </a:solidFill>
              </a:rPr>
              <a:t>sistema</a:t>
            </a:r>
            <a:r>
              <a:rPr lang="en-US" sz="1400" i="1" dirty="0">
                <a:solidFill>
                  <a:srgbClr val="FFFFFF"/>
                </a:solidFill>
              </a:rPr>
              <a:t> </a:t>
            </a:r>
            <a:r>
              <a:rPr lang="en-US" sz="1400" i="1" dirty="0" err="1">
                <a:solidFill>
                  <a:srgbClr val="FFFFFF"/>
                </a:solidFill>
              </a:rPr>
              <a:t>gestiona</a:t>
            </a:r>
            <a:r>
              <a:rPr lang="en-US" sz="1400" i="1" dirty="0">
                <a:solidFill>
                  <a:srgbClr val="FFFFFF"/>
                </a:solidFill>
              </a:rPr>
              <a:t> </a:t>
            </a:r>
            <a:r>
              <a:rPr lang="en-US" sz="1400" i="1" dirty="0" err="1">
                <a:solidFill>
                  <a:srgbClr val="FFFFFF"/>
                </a:solidFill>
              </a:rPr>
              <a:t>toda</a:t>
            </a:r>
            <a:r>
              <a:rPr lang="en-US" sz="1400" i="1" dirty="0">
                <a:solidFill>
                  <a:srgbClr val="FFFFFF"/>
                </a:solidFill>
              </a:rPr>
              <a:t> la </a:t>
            </a:r>
            <a:r>
              <a:rPr lang="en-US" sz="1400" i="1" dirty="0" err="1">
                <a:solidFill>
                  <a:srgbClr val="FFFFFF"/>
                </a:solidFill>
              </a:rPr>
              <a:t>complejidad</a:t>
            </a:r>
            <a:r>
              <a:rPr lang="en-US" sz="1400" i="1" dirty="0">
                <a:solidFill>
                  <a:srgbClr val="FFFFFF"/>
                </a:solidFill>
              </a:rPr>
              <a:t> del </a:t>
            </a:r>
            <a:r>
              <a:rPr lang="en-US" sz="1400" i="1" dirty="0" err="1">
                <a:solidFill>
                  <a:srgbClr val="FFFFFF"/>
                </a:solidFill>
              </a:rPr>
              <a:t>estado</a:t>
            </a:r>
            <a:r>
              <a:rPr lang="en-US" sz="1400" i="1" dirty="0">
                <a:solidFill>
                  <a:srgbClr val="FFFFFF"/>
                </a:solidFill>
              </a:rPr>
              <a:t>, </a:t>
            </a:r>
            <a:r>
              <a:rPr lang="en-US" sz="1400" i="1" dirty="0" err="1">
                <a:solidFill>
                  <a:srgbClr val="FFFFFF"/>
                </a:solidFill>
              </a:rPr>
              <a:t>los</a:t>
            </a:r>
            <a:r>
              <a:rPr lang="en-US" sz="1400" i="1" dirty="0">
                <a:solidFill>
                  <a:srgbClr val="FFFFFF"/>
                </a:solidFill>
              </a:rPr>
              <a:t> </a:t>
            </a:r>
            <a:r>
              <a:rPr lang="en-US" sz="1400" i="1" dirty="0" err="1">
                <a:solidFill>
                  <a:srgbClr val="FFFFFF"/>
                </a:solidFill>
              </a:rPr>
              <a:t>fallos</a:t>
            </a:r>
            <a:r>
              <a:rPr lang="en-US" sz="1400" i="1" dirty="0">
                <a:solidFill>
                  <a:srgbClr val="FFFFFF"/>
                </a:solidFill>
              </a:rPr>
              <a:t>, </a:t>
            </a:r>
            <a:r>
              <a:rPr lang="en-US" sz="1400" i="1" dirty="0" err="1">
                <a:solidFill>
                  <a:srgbClr val="FFFFFF"/>
                </a:solidFill>
              </a:rPr>
              <a:t>los</a:t>
            </a:r>
            <a:r>
              <a:rPr lang="en-US" sz="1400" i="1" dirty="0">
                <a:solidFill>
                  <a:srgbClr val="FFFFFF"/>
                </a:solidFill>
              </a:rPr>
              <a:t> </a:t>
            </a:r>
            <a:r>
              <a:rPr lang="en-US" sz="1400" i="1" dirty="0" err="1">
                <a:solidFill>
                  <a:srgbClr val="FFFFFF"/>
                </a:solidFill>
              </a:rPr>
              <a:t>reintentos</a:t>
            </a:r>
            <a:r>
              <a:rPr lang="en-US" sz="1400" i="1" dirty="0">
                <a:solidFill>
                  <a:srgbClr val="FFFFFF"/>
                </a:solidFill>
              </a:rPr>
              <a:t> y la </a:t>
            </a:r>
            <a:r>
              <a:rPr lang="en-US" sz="1400" i="1" dirty="0" err="1">
                <a:solidFill>
                  <a:srgbClr val="FFFFFF"/>
                </a:solidFill>
              </a:rPr>
              <a:t>continuidad</a:t>
            </a:r>
            <a:r>
              <a:rPr lang="en-US" sz="1400" i="1" dirty="0">
                <a:solidFill>
                  <a:srgbClr val="FFFFFF"/>
                </a:solidFill>
              </a:rPr>
              <a:t>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992348"/>
            <a:ext cx="2651760" cy="21488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7" name="Text 5"/>
          <p:cNvSpPr/>
          <p:nvPr/>
        </p:nvSpPr>
        <p:spPr>
          <a:xfrm>
            <a:off x="365760" y="2083788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⚡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365760" y="258670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00D4AA"/>
                </a:solidFill>
              </a:rPr>
              <a:t>Durabilidad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99818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8FA3B3"/>
                </a:solidFill>
              </a:rPr>
              <a:t>Flujos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persistentes</a:t>
            </a:r>
            <a:r>
              <a:rPr lang="en-US" sz="1100" dirty="0">
                <a:solidFill>
                  <a:srgbClr val="8FA3B3"/>
                </a:solidFill>
              </a:rPr>
              <a:t> que se </a:t>
            </a:r>
            <a:r>
              <a:rPr lang="en-US" sz="1100" dirty="0" err="1">
                <a:solidFill>
                  <a:srgbClr val="8FA3B3"/>
                </a:solidFill>
              </a:rPr>
              <a:t>reanudan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automáticamente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después</a:t>
            </a:r>
            <a:r>
              <a:rPr lang="en-US" sz="1100" dirty="0">
                <a:solidFill>
                  <a:srgbClr val="8FA3B3"/>
                </a:solidFill>
              </a:rPr>
              <a:t> de </a:t>
            </a:r>
            <a:r>
              <a:rPr lang="en-US" sz="1100" dirty="0" err="1">
                <a:solidFill>
                  <a:srgbClr val="8FA3B3"/>
                </a:solidFill>
              </a:rPr>
              <a:t>fallos</a:t>
            </a:r>
            <a:r>
              <a:rPr lang="en-US" sz="1100" dirty="0">
                <a:solidFill>
                  <a:srgbClr val="8FA3B3"/>
                </a:solidFill>
              </a:rPr>
              <a:t>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0" y="1992348"/>
            <a:ext cx="2651760" cy="21488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1" name="Text 9"/>
          <p:cNvSpPr/>
          <p:nvPr/>
        </p:nvSpPr>
        <p:spPr>
          <a:xfrm>
            <a:off x="3200400" y="2083788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🔄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200400" y="258670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00D4AA"/>
                </a:solidFill>
              </a:rPr>
              <a:t>Intentos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91840" y="299818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8FA3B3"/>
                </a:solidFill>
              </a:rPr>
              <a:t>Reintento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automático</a:t>
            </a:r>
            <a:r>
              <a:rPr lang="en-US" sz="1100" dirty="0">
                <a:solidFill>
                  <a:srgbClr val="8FA3B3"/>
                </a:solidFill>
              </a:rPr>
              <a:t> sin </a:t>
            </a:r>
            <a:r>
              <a:rPr lang="en-US" sz="1100" dirty="0" err="1">
                <a:solidFill>
                  <a:srgbClr val="8FA3B3"/>
                </a:solidFill>
              </a:rPr>
              <a:t>perder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el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estado</a:t>
            </a:r>
            <a:r>
              <a:rPr lang="en-US" sz="1100" dirty="0">
                <a:solidFill>
                  <a:srgbClr val="8FA3B3"/>
                </a:solidFill>
              </a:rPr>
              <a:t> de </a:t>
            </a:r>
            <a:r>
              <a:rPr lang="en-US" sz="1100" dirty="0" err="1">
                <a:solidFill>
                  <a:srgbClr val="8FA3B3"/>
                </a:solidFill>
              </a:rPr>
              <a:t>ejecución</a:t>
            </a:r>
            <a:r>
              <a:rPr lang="en-US" sz="1100" dirty="0">
                <a:solidFill>
                  <a:srgbClr val="8FA3B3"/>
                </a:solidFill>
              </a:rPr>
              <a:t>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1992348"/>
            <a:ext cx="2651760" cy="21488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5" name="Text 13"/>
          <p:cNvSpPr/>
          <p:nvPr/>
        </p:nvSpPr>
        <p:spPr>
          <a:xfrm>
            <a:off x="6035040" y="2083788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🌐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035040" y="258670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00D4AA"/>
                </a:solidFill>
              </a:rPr>
              <a:t>Repartido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26480" y="299818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8FA3B3"/>
                </a:solidFill>
              </a:rPr>
              <a:t>Admite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procesos</a:t>
            </a:r>
            <a:r>
              <a:rPr lang="en-US" sz="1100" dirty="0">
                <a:solidFill>
                  <a:srgbClr val="8FA3B3"/>
                </a:solidFill>
              </a:rPr>
              <a:t> de </a:t>
            </a:r>
            <a:r>
              <a:rPr lang="en-US" sz="1100" dirty="0" err="1">
                <a:solidFill>
                  <a:srgbClr val="8FA3B3"/>
                </a:solidFill>
              </a:rPr>
              <a:t>larga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duración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en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sistemas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distribuidos</a:t>
            </a:r>
            <a:r>
              <a:rPr lang="en-US" sz="1100" dirty="0">
                <a:solidFill>
                  <a:srgbClr val="8FA3B3"/>
                </a:solidFill>
              </a:rPr>
              <a:t>.</a:t>
            </a:r>
            <a:endParaRPr lang="en-US" sz="1100" dirty="0"/>
          </a:p>
        </p:txBody>
      </p:sp>
      <p:sp>
        <p:nvSpPr>
          <p:cNvPr id="18" name="Shape 30">
            <a:extLst>
              <a:ext uri="{FF2B5EF4-FFF2-40B4-BE49-F238E27FC236}">
                <a16:creationId xmlns:a16="http://schemas.microsoft.com/office/drawing/2014/main" id="{55B29707-CB69-26E4-4E80-C74193C5C92C}"/>
              </a:ext>
            </a:extLst>
          </p:cNvPr>
          <p:cNvSpPr/>
          <p:nvPr/>
        </p:nvSpPr>
        <p:spPr>
          <a:xfrm>
            <a:off x="274320" y="4434840"/>
            <a:ext cx="8595360" cy="4572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9" name="Text 6">
            <a:extLst>
              <a:ext uri="{FF2B5EF4-FFF2-40B4-BE49-F238E27FC236}">
                <a16:creationId xmlns:a16="http://schemas.microsoft.com/office/drawing/2014/main" id="{BDC48AF0-C0E4-6BDB-34D3-C220A5536D45}"/>
              </a:ext>
            </a:extLst>
          </p:cNvPr>
          <p:cNvSpPr/>
          <p:nvPr/>
        </p:nvSpPr>
        <p:spPr>
          <a:xfrm>
            <a:off x="365760" y="4434841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resilientes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sin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escribir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manualmente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reintento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recuperación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02  / Por </a:t>
            </a:r>
            <a:r>
              <a:rPr lang="en-US" sz="2400" b="1" dirty="0" err="1">
                <a:solidFill>
                  <a:srgbClr val="FFFFFF"/>
                </a:solidFill>
              </a:rPr>
              <a:t>qué</a:t>
            </a:r>
            <a:r>
              <a:rPr lang="en-US" sz="2400" b="1" dirty="0">
                <a:solidFill>
                  <a:srgbClr val="FFFFFF"/>
                </a:solidFill>
              </a:rPr>
              <a:t> usar Temporal IO?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3931920" cy="3749040"/>
          </a:xfrm>
          <a:prstGeom prst="rect">
            <a:avLst/>
          </a:prstGeom>
          <a:solidFill>
            <a:srgbClr val="112236"/>
          </a:solidFill>
          <a:ln w="12700">
            <a:solidFill>
              <a:srgbClr val="CC44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Text 3"/>
          <p:cNvSpPr/>
          <p:nvPr/>
        </p:nvSpPr>
        <p:spPr>
          <a:xfrm>
            <a:off x="502920" y="1051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6B"/>
                </a:solidFill>
              </a:rPr>
              <a:t>❌  Sin Temporal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3"/>
                </a:solidFill>
              </a:rPr>
              <a:t>• </a:t>
            </a:r>
            <a:r>
              <a:rPr lang="en-US" sz="1200" dirty="0" err="1">
                <a:solidFill>
                  <a:srgbClr val="8FA3B3"/>
                </a:solidFill>
              </a:rPr>
              <a:t>Guardar</a:t>
            </a:r>
            <a:r>
              <a:rPr lang="en-US" sz="1200" dirty="0">
                <a:solidFill>
                  <a:srgbClr val="8FA3B3"/>
                </a:solidFill>
              </a:rPr>
              <a:t> </a:t>
            </a:r>
            <a:r>
              <a:rPr lang="en-US" sz="1200" dirty="0" err="1">
                <a:solidFill>
                  <a:srgbClr val="8FA3B3"/>
                </a:solidFill>
              </a:rPr>
              <a:t>manualmente</a:t>
            </a:r>
            <a:r>
              <a:rPr lang="en-US" sz="1200" dirty="0">
                <a:solidFill>
                  <a:srgbClr val="8FA3B3"/>
                </a:solidFill>
              </a:rPr>
              <a:t> </a:t>
            </a:r>
            <a:r>
              <a:rPr lang="en-US" sz="1200" dirty="0" err="1">
                <a:solidFill>
                  <a:srgbClr val="8FA3B3"/>
                </a:solidFill>
              </a:rPr>
              <a:t>el</a:t>
            </a:r>
            <a:r>
              <a:rPr lang="en-US" sz="1200" dirty="0">
                <a:solidFill>
                  <a:srgbClr val="8FA3B3"/>
                </a:solidFill>
              </a:rPr>
              <a:t> </a:t>
            </a:r>
            <a:r>
              <a:rPr lang="en-US" sz="1200" dirty="0" err="1">
                <a:solidFill>
                  <a:srgbClr val="8FA3B3"/>
                </a:solidFill>
              </a:rPr>
              <a:t>estado</a:t>
            </a:r>
            <a:r>
              <a:rPr lang="en-US" sz="1200" dirty="0">
                <a:solidFill>
                  <a:srgbClr val="8FA3B3"/>
                </a:solidFill>
              </a:rPr>
              <a:t> </a:t>
            </a:r>
            <a:r>
              <a:rPr lang="en-US" sz="1200" dirty="0" err="1">
                <a:solidFill>
                  <a:srgbClr val="8FA3B3"/>
                </a:solidFill>
              </a:rPr>
              <a:t>en</a:t>
            </a:r>
            <a:r>
              <a:rPr lang="en-US" sz="1200" dirty="0">
                <a:solidFill>
                  <a:srgbClr val="8FA3B3"/>
                </a:solidFill>
              </a:rPr>
              <a:t> la base de </a:t>
            </a:r>
            <a:r>
              <a:rPr lang="en-US" sz="1200" dirty="0" err="1">
                <a:solidFill>
                  <a:srgbClr val="8FA3B3"/>
                </a:solidFill>
              </a:rPr>
              <a:t>datos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21031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3"/>
                </a:solidFill>
              </a:rPr>
              <a:t>• </a:t>
            </a:r>
            <a:r>
              <a:rPr lang="en-US" sz="1200" dirty="0" err="1">
                <a:solidFill>
                  <a:srgbClr val="8FA3B3"/>
                </a:solidFill>
              </a:rPr>
              <a:t>Repita</a:t>
            </a:r>
            <a:r>
              <a:rPr lang="en-US" sz="1200" dirty="0">
                <a:solidFill>
                  <a:srgbClr val="8FA3B3"/>
                </a:solidFill>
              </a:rPr>
              <a:t> la </a:t>
            </a:r>
            <a:r>
              <a:rPr lang="en-US" sz="1200" dirty="0" err="1">
                <a:solidFill>
                  <a:srgbClr val="8FA3B3"/>
                </a:solidFill>
              </a:rPr>
              <a:t>lógica</a:t>
            </a:r>
            <a:r>
              <a:rPr lang="en-US" sz="1200" dirty="0">
                <a:solidFill>
                  <a:srgbClr val="8FA3B3"/>
                </a:solidFill>
              </a:rPr>
              <a:t> </a:t>
            </a:r>
            <a:r>
              <a:rPr lang="en-US" sz="1200" dirty="0" err="1">
                <a:solidFill>
                  <a:srgbClr val="8FA3B3"/>
                </a:solidFill>
              </a:rPr>
              <a:t>desde</a:t>
            </a:r>
            <a:r>
              <a:rPr lang="en-US" sz="1200" dirty="0">
                <a:solidFill>
                  <a:srgbClr val="8FA3B3"/>
                </a:solidFill>
              </a:rPr>
              <a:t> </a:t>
            </a:r>
            <a:r>
              <a:rPr lang="en-US" sz="1200" dirty="0" err="1">
                <a:solidFill>
                  <a:srgbClr val="8FA3B3"/>
                </a:solidFill>
              </a:rPr>
              <a:t>donde</a:t>
            </a:r>
            <a:r>
              <a:rPr lang="en-US" sz="1200" dirty="0">
                <a:solidFill>
                  <a:srgbClr val="8FA3B3"/>
                </a:solidFill>
              </a:rPr>
              <a:t> se </a:t>
            </a:r>
            <a:r>
              <a:rPr lang="en-US" sz="1200" dirty="0" err="1">
                <a:solidFill>
                  <a:srgbClr val="8FA3B3"/>
                </a:solidFill>
              </a:rPr>
              <a:t>interrumpió</a:t>
            </a:r>
            <a:r>
              <a:rPr lang="en-US" sz="1200" dirty="0">
                <a:solidFill>
                  <a:srgbClr val="8FA3B3"/>
                </a:solidFill>
              </a:rPr>
              <a:t>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6060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3"/>
                </a:solidFill>
              </a:rPr>
              <a:t>• </a:t>
            </a:r>
            <a:r>
              <a:rPr lang="en-US" sz="1200" dirty="0" err="1">
                <a:solidFill>
                  <a:srgbClr val="8FA3B3"/>
                </a:solidFill>
              </a:rPr>
              <a:t>Tratar</a:t>
            </a:r>
            <a:r>
              <a:rPr lang="en-US" sz="1200" dirty="0">
                <a:solidFill>
                  <a:srgbClr val="8FA3B3"/>
                </a:solidFill>
              </a:rPr>
              <a:t> </a:t>
            </a:r>
            <a:r>
              <a:rPr lang="en-US" sz="1200" dirty="0" err="1">
                <a:solidFill>
                  <a:srgbClr val="8FA3B3"/>
                </a:solidFill>
              </a:rPr>
              <a:t>duplicaciones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31089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3"/>
                </a:solidFill>
              </a:rPr>
              <a:t>• </a:t>
            </a:r>
            <a:r>
              <a:rPr lang="en-US" sz="1200" dirty="0" err="1">
                <a:solidFill>
                  <a:srgbClr val="8FA3B3"/>
                </a:solidFill>
              </a:rPr>
              <a:t>Corregir</a:t>
            </a:r>
            <a:r>
              <a:rPr lang="en-US" sz="1200" dirty="0">
                <a:solidFill>
                  <a:srgbClr val="8FA3B3"/>
                </a:solidFill>
              </a:rPr>
              <a:t> </a:t>
            </a:r>
            <a:r>
              <a:rPr lang="en-US" sz="1200" dirty="0" err="1">
                <a:solidFill>
                  <a:srgbClr val="8FA3B3"/>
                </a:solidFill>
              </a:rPr>
              <a:t>fallos</a:t>
            </a:r>
            <a:r>
              <a:rPr lang="en-US" sz="1200" dirty="0">
                <a:solidFill>
                  <a:srgbClr val="8FA3B3"/>
                </a:solidFill>
              </a:rPr>
              <a:t> de red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3"/>
                </a:solidFill>
              </a:rPr>
              <a:t>• </a:t>
            </a:r>
            <a:r>
              <a:rPr lang="en-US" sz="1200" dirty="0" err="1">
                <a:solidFill>
                  <a:srgbClr val="8FA3B3"/>
                </a:solidFill>
              </a:rPr>
              <a:t>Realizar</a:t>
            </a:r>
            <a:r>
              <a:rPr lang="en-US" sz="1200" dirty="0">
                <a:solidFill>
                  <a:srgbClr val="8FA3B3"/>
                </a:solidFill>
              </a:rPr>
              <a:t> la </a:t>
            </a:r>
            <a:r>
              <a:rPr lang="en-US" sz="1200" dirty="0" err="1">
                <a:solidFill>
                  <a:srgbClr val="8FA3B3"/>
                </a:solidFill>
              </a:rPr>
              <a:t>reconciliación</a:t>
            </a:r>
            <a:r>
              <a:rPr lang="en-US" sz="1200" dirty="0">
                <a:solidFill>
                  <a:srgbClr val="8FA3B3"/>
                </a:solidFill>
              </a:rPr>
              <a:t> de </a:t>
            </a:r>
            <a:r>
              <a:rPr lang="en-US" sz="1200" dirty="0" err="1">
                <a:solidFill>
                  <a:srgbClr val="8FA3B3"/>
                </a:solidFill>
              </a:rPr>
              <a:t>datos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9776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6B6B"/>
                </a:solidFill>
              </a:rPr>
              <a:t>Código </a:t>
            </a:r>
            <a:r>
              <a:rPr lang="en-US" sz="1100" i="1" dirty="0" err="1">
                <a:solidFill>
                  <a:srgbClr val="FF6B6B"/>
                </a:solidFill>
              </a:rPr>
              <a:t>repetitivo</a:t>
            </a:r>
            <a:r>
              <a:rPr lang="en-US" sz="1100" i="1" dirty="0">
                <a:solidFill>
                  <a:srgbClr val="FF6B6B"/>
                </a:solidFill>
              </a:rPr>
              <a:t>, </a:t>
            </a:r>
            <a:r>
              <a:rPr lang="en-US" sz="1100" i="1" dirty="0" err="1">
                <a:solidFill>
                  <a:srgbClr val="FF6B6B"/>
                </a:solidFill>
              </a:rPr>
              <a:t>difícil</a:t>
            </a:r>
            <a:r>
              <a:rPr lang="en-US" sz="1100" i="1" dirty="0">
                <a:solidFill>
                  <a:srgbClr val="FF6B6B"/>
                </a:solidFill>
              </a:rPr>
              <a:t> de </a:t>
            </a:r>
            <a:r>
              <a:rPr lang="en-US" sz="1100" i="1" dirty="0" err="1">
                <a:solidFill>
                  <a:srgbClr val="FF6B6B"/>
                </a:solidFill>
              </a:rPr>
              <a:t>probar</a:t>
            </a:r>
            <a:r>
              <a:rPr lang="en-US" sz="1100" i="1" dirty="0">
                <a:solidFill>
                  <a:srgbClr val="FF6B6B"/>
                </a:solidFill>
              </a:rPr>
              <a:t> y </a:t>
            </a:r>
            <a:r>
              <a:rPr lang="en-US" sz="1100" i="1" dirty="0" err="1">
                <a:solidFill>
                  <a:srgbClr val="FF6B6B"/>
                </a:solidFill>
              </a:rPr>
              <a:t>propenso</a:t>
            </a:r>
            <a:r>
              <a:rPr lang="en-US" sz="1100" i="1" dirty="0">
                <a:solidFill>
                  <a:srgbClr val="FF6B6B"/>
                </a:solidFill>
              </a:rPr>
              <a:t> a bugs.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46320" y="960120"/>
            <a:ext cx="3931920" cy="3749040"/>
          </a:xfrm>
          <a:prstGeom prst="rect">
            <a:avLst/>
          </a:prstGeom>
          <a:solidFill>
            <a:srgbClr val="112236"/>
          </a:solidFill>
          <a:ln w="127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3" name="Text 11"/>
          <p:cNvSpPr/>
          <p:nvPr/>
        </p:nvSpPr>
        <p:spPr>
          <a:xfrm>
            <a:off x="4983480" y="1051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A"/>
                </a:solidFill>
              </a:rPr>
              <a:t>✅  Con Temporal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83480" y="16002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• Estado </a:t>
            </a:r>
            <a:r>
              <a:rPr lang="en-US" sz="1200" dirty="0" err="1">
                <a:solidFill>
                  <a:srgbClr val="FFFFFF"/>
                </a:solidFill>
              </a:rPr>
              <a:t>reconstruido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automáticamente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21031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• </a:t>
            </a:r>
            <a:r>
              <a:rPr lang="en-US" sz="1200" dirty="0" err="1">
                <a:solidFill>
                  <a:srgbClr val="FFFFFF"/>
                </a:solidFill>
              </a:rPr>
              <a:t>Reanudando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donde</a:t>
            </a:r>
            <a:r>
              <a:rPr lang="en-US" sz="1200" dirty="0">
                <a:solidFill>
                  <a:srgbClr val="FFFFFF"/>
                </a:solidFill>
              </a:rPr>
              <a:t> se </a:t>
            </a:r>
            <a:r>
              <a:rPr lang="en-US" sz="1200" dirty="0" err="1">
                <a:solidFill>
                  <a:srgbClr val="FFFFFF"/>
                </a:solidFill>
              </a:rPr>
              <a:t>interrumpió</a:t>
            </a:r>
            <a:r>
              <a:rPr lang="en-US" sz="1200" dirty="0">
                <a:solidFill>
                  <a:srgbClr val="FFFFFF"/>
                </a:solidFill>
              </a:rPr>
              <a:t> (</a:t>
            </a:r>
            <a:r>
              <a:rPr lang="en-US" sz="1200" dirty="0" err="1">
                <a:solidFill>
                  <a:srgbClr val="FFFFFF"/>
                </a:solidFill>
              </a:rPr>
              <a:t>segundos</a:t>
            </a:r>
            <a:r>
              <a:rPr lang="en-US" sz="1200" dirty="0">
                <a:solidFill>
                  <a:srgbClr val="FFFFFF"/>
                </a:solidFill>
              </a:rPr>
              <a:t>, días, meses)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83480" y="26060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• </a:t>
            </a:r>
            <a:r>
              <a:rPr lang="en-US" sz="1200" dirty="0" err="1">
                <a:solidFill>
                  <a:srgbClr val="FFFFFF"/>
                </a:solidFill>
              </a:rPr>
              <a:t>Reintento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automático</a:t>
            </a:r>
            <a:r>
              <a:rPr lang="en-US" sz="1200" dirty="0">
                <a:solidFill>
                  <a:srgbClr val="FFFFFF"/>
                </a:solidFill>
              </a:rPr>
              <a:t> sin </a:t>
            </a:r>
            <a:r>
              <a:rPr lang="en-US" sz="1200" dirty="0" err="1">
                <a:solidFill>
                  <a:srgbClr val="FFFFFF"/>
                </a:solidFill>
              </a:rPr>
              <a:t>código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adicional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31089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• </a:t>
            </a:r>
            <a:r>
              <a:rPr lang="en-US" sz="1200" dirty="0" err="1">
                <a:solidFill>
                  <a:srgbClr val="FFFFFF"/>
                </a:solidFill>
              </a:rPr>
              <a:t>Tolerante</a:t>
            </a:r>
            <a:r>
              <a:rPr lang="en-US" sz="1200" dirty="0">
                <a:solidFill>
                  <a:srgbClr val="FFFFFF"/>
                </a:solidFill>
              </a:rPr>
              <a:t> a </a:t>
            </a:r>
            <a:r>
              <a:rPr lang="en-US" sz="1200" dirty="0" err="1">
                <a:solidFill>
                  <a:srgbClr val="FFFFFF"/>
                </a:solidFill>
              </a:rPr>
              <a:t>fallos</a:t>
            </a:r>
            <a:r>
              <a:rPr lang="en-US" sz="1200" dirty="0">
                <a:solidFill>
                  <a:srgbClr val="FFFFFF"/>
                </a:solidFill>
              </a:rPr>
              <a:t> y </a:t>
            </a:r>
            <a:r>
              <a:rPr lang="en-US" sz="1200" dirty="0" err="1">
                <a:solidFill>
                  <a:srgbClr val="FFFFFF"/>
                </a:solidFill>
              </a:rPr>
              <a:t>reinicios</a:t>
            </a:r>
            <a:r>
              <a:rPr lang="en-US" sz="1200" dirty="0">
                <a:solidFill>
                  <a:srgbClr val="FFFFFF"/>
                </a:solidFill>
              </a:rPr>
              <a:t> de la red.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83480" y="36118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• </a:t>
            </a:r>
            <a:r>
              <a:rPr lang="en-US" sz="1200" dirty="0" err="1">
                <a:solidFill>
                  <a:srgbClr val="FFFFFF"/>
                </a:solidFill>
              </a:rPr>
              <a:t>Historial</a:t>
            </a:r>
            <a:r>
              <a:rPr lang="en-US" sz="1200" dirty="0">
                <a:solidFill>
                  <a:srgbClr val="FFFFFF"/>
                </a:solidFill>
              </a:rPr>
              <a:t> de </a:t>
            </a:r>
            <a:r>
              <a:rPr lang="en-US" sz="1200" dirty="0" err="1">
                <a:solidFill>
                  <a:srgbClr val="FFFFFF"/>
                </a:solidFill>
              </a:rPr>
              <a:t>eventos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completo</a:t>
            </a:r>
            <a:r>
              <a:rPr lang="en-US" sz="1200" dirty="0">
                <a:solidFill>
                  <a:srgbClr val="FFFFFF"/>
                </a:solidFill>
              </a:rPr>
              <a:t> y auditable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83480" y="39776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 err="1">
                <a:solidFill>
                  <a:srgbClr val="00D4AA"/>
                </a:solidFill>
              </a:rPr>
              <a:t>Ejecución</a:t>
            </a:r>
            <a:r>
              <a:rPr lang="en-US" sz="1100" i="1" dirty="0">
                <a:solidFill>
                  <a:srgbClr val="00D4AA"/>
                </a:solidFill>
              </a:rPr>
              <a:t> a </a:t>
            </a:r>
            <a:r>
              <a:rPr lang="en-US" sz="1100" i="1" dirty="0" err="1">
                <a:solidFill>
                  <a:srgbClr val="00D4AA"/>
                </a:solidFill>
              </a:rPr>
              <a:t>prueba</a:t>
            </a:r>
            <a:r>
              <a:rPr lang="en-US" sz="1100" i="1" dirty="0">
                <a:solidFill>
                  <a:srgbClr val="00D4AA"/>
                </a:solidFill>
              </a:rPr>
              <a:t> de </a:t>
            </a:r>
            <a:r>
              <a:rPr lang="en-US" sz="1100" i="1" dirty="0" err="1">
                <a:solidFill>
                  <a:srgbClr val="00D4AA"/>
                </a:solidFill>
              </a:rPr>
              <a:t>fallos</a:t>
            </a:r>
            <a:r>
              <a:rPr lang="en-US" sz="1100" i="1" dirty="0">
                <a:solidFill>
                  <a:srgbClr val="00D4AA"/>
                </a:solidFill>
              </a:rPr>
              <a:t>, sin </a:t>
            </a:r>
            <a:r>
              <a:rPr lang="en-US" sz="1100" i="1" dirty="0" err="1">
                <a:solidFill>
                  <a:srgbClr val="00D4AA"/>
                </a:solidFill>
              </a:rPr>
              <a:t>lógica</a:t>
            </a:r>
            <a:r>
              <a:rPr lang="en-US" sz="1100" i="1" dirty="0">
                <a:solidFill>
                  <a:srgbClr val="00D4AA"/>
                </a:solidFill>
              </a:rPr>
              <a:t> de </a:t>
            </a:r>
            <a:r>
              <a:rPr lang="en-US" sz="1100" i="1" dirty="0" err="1">
                <a:solidFill>
                  <a:srgbClr val="00D4AA"/>
                </a:solidFill>
              </a:rPr>
              <a:t>recuperación</a:t>
            </a:r>
            <a:r>
              <a:rPr lang="en-US" sz="1100" i="1" dirty="0">
                <a:solidFill>
                  <a:srgbClr val="00D4AA"/>
                </a:solidFill>
              </a:rPr>
              <a:t> manual.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51960" y="2286000"/>
            <a:ext cx="640080" cy="640080"/>
          </a:xfrm>
          <a:prstGeom prst="ellipse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1" name="Text 19"/>
          <p:cNvSpPr/>
          <p:nvPr/>
        </p:nvSpPr>
        <p:spPr>
          <a:xfrm>
            <a:off x="425196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VS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03  / </a:t>
            </a:r>
            <a:r>
              <a:rPr lang="en-US" sz="2400" b="1" dirty="0" err="1">
                <a:solidFill>
                  <a:srgbClr val="FFFFFF"/>
                </a:solidFill>
              </a:rPr>
              <a:t>Ventajas</a:t>
            </a:r>
            <a:r>
              <a:rPr lang="en-US" sz="2400" b="1" dirty="0">
                <a:solidFill>
                  <a:srgbClr val="FFFFFF"/>
                </a:solidFill>
              </a:rPr>
              <a:t> y </a:t>
            </a:r>
            <a:r>
              <a:rPr lang="en-US" sz="2400" b="1" dirty="0" err="1">
                <a:solidFill>
                  <a:srgbClr val="FFFFFF"/>
                </a:solidFill>
              </a:rPr>
              <a:t>Desventajas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3931920" cy="3657600"/>
          </a:xfrm>
          <a:prstGeom prst="rect">
            <a:avLst/>
          </a:prstGeom>
          <a:solidFill>
            <a:srgbClr val="112236"/>
          </a:solidFill>
          <a:ln w="127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3931920" cy="5029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365760" y="10058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B2A"/>
                </a:solidFill>
              </a:rPr>
              <a:t>✅  </a:t>
            </a:r>
            <a:r>
              <a:rPr lang="en-US" sz="1500" b="1" dirty="0" err="1">
                <a:solidFill>
                  <a:srgbClr val="0D1B2A"/>
                </a:solidFill>
              </a:rPr>
              <a:t>Ventajas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16459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</a:rPr>
              <a:t>✓  </a:t>
            </a:r>
            <a:r>
              <a:rPr lang="en-US" sz="1300" dirty="0" err="1">
                <a:solidFill>
                  <a:srgbClr val="FFFFFF"/>
                </a:solidFill>
              </a:rPr>
              <a:t>Reintentos</a:t>
            </a:r>
            <a:r>
              <a:rPr lang="en-US" sz="1300" dirty="0">
                <a:solidFill>
                  <a:srgbClr val="FFFFFF"/>
                </a:solidFill>
              </a:rPr>
              <a:t> </a:t>
            </a:r>
            <a:r>
              <a:rPr lang="en-US" sz="1300" dirty="0" err="1">
                <a:solidFill>
                  <a:srgbClr val="FFFFFF"/>
                </a:solidFill>
              </a:rPr>
              <a:t>automáticos</a:t>
            </a:r>
            <a:r>
              <a:rPr lang="en-US" sz="1300" dirty="0">
                <a:solidFill>
                  <a:srgbClr val="FFFFFF"/>
                </a:solidFill>
              </a:rPr>
              <a:t> sin </a:t>
            </a:r>
            <a:r>
              <a:rPr lang="en-US" sz="1300" dirty="0" err="1">
                <a:solidFill>
                  <a:srgbClr val="FFFFFF"/>
                </a:solidFill>
              </a:rPr>
              <a:t>pérdida</a:t>
            </a:r>
            <a:r>
              <a:rPr lang="en-US" sz="1300" dirty="0">
                <a:solidFill>
                  <a:srgbClr val="FFFFFF"/>
                </a:solidFill>
              </a:rPr>
              <a:t> de </a:t>
            </a:r>
            <a:r>
              <a:rPr lang="en-US" sz="1300" dirty="0" err="1">
                <a:solidFill>
                  <a:srgbClr val="FFFFFF"/>
                </a:solidFill>
              </a:rPr>
              <a:t>estado</a:t>
            </a:r>
            <a:r>
              <a:rPr lang="en-US" sz="1300" dirty="0">
                <a:solidFill>
                  <a:srgbClr val="FFFFFF"/>
                </a:solidFill>
              </a:rPr>
              <a:t>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3317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</a:rPr>
              <a:t>✓  </a:t>
            </a:r>
            <a:r>
              <a:rPr lang="en-US" sz="1300" dirty="0">
                <a:solidFill>
                  <a:srgbClr val="FFFFFF"/>
                </a:solidFill>
              </a:rPr>
              <a:t>Estado </a:t>
            </a:r>
            <a:r>
              <a:rPr lang="en-US" sz="1300" dirty="0" err="1">
                <a:solidFill>
                  <a:srgbClr val="FFFFFF"/>
                </a:solidFill>
              </a:rPr>
              <a:t>reconstruido</a:t>
            </a:r>
            <a:r>
              <a:rPr lang="en-US" sz="1300" dirty="0">
                <a:solidFill>
                  <a:srgbClr val="FFFFFF"/>
                </a:solidFill>
              </a:rPr>
              <a:t> a </a:t>
            </a:r>
            <a:r>
              <a:rPr lang="en-US" sz="1300" dirty="0" err="1">
                <a:solidFill>
                  <a:srgbClr val="FFFFFF"/>
                </a:solidFill>
              </a:rPr>
              <a:t>partir</a:t>
            </a:r>
            <a:r>
              <a:rPr lang="en-US" sz="1300" dirty="0">
                <a:solidFill>
                  <a:srgbClr val="FFFFFF"/>
                </a:solidFill>
              </a:rPr>
              <a:t> de </a:t>
            </a:r>
            <a:r>
              <a:rPr lang="en-US" sz="1300" dirty="0" err="1">
                <a:solidFill>
                  <a:srgbClr val="FFFFFF"/>
                </a:solidFill>
              </a:rPr>
              <a:t>acontecimientos</a:t>
            </a:r>
            <a:r>
              <a:rPr lang="en-US" sz="1300" dirty="0">
                <a:solidFill>
                  <a:srgbClr val="FFFFFF"/>
                </a:solidFill>
              </a:rPr>
              <a:t> </a:t>
            </a:r>
            <a:r>
              <a:rPr lang="en-US" sz="1300" dirty="0" err="1">
                <a:solidFill>
                  <a:srgbClr val="FFFFFF"/>
                </a:solidFill>
              </a:rPr>
              <a:t>históricos</a:t>
            </a:r>
            <a:r>
              <a:rPr lang="en-US" sz="1300" dirty="0">
                <a:solidFill>
                  <a:srgbClr val="FFFFFF"/>
                </a:solidFill>
              </a:rPr>
              <a:t>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30175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</a:rPr>
              <a:t>✓  </a:t>
            </a:r>
            <a:r>
              <a:rPr lang="en-US" sz="1300" dirty="0" err="1">
                <a:solidFill>
                  <a:srgbClr val="FFFFFF"/>
                </a:solidFill>
              </a:rPr>
              <a:t>Excelente</a:t>
            </a:r>
            <a:r>
              <a:rPr lang="en-US" sz="1300" dirty="0">
                <a:solidFill>
                  <a:srgbClr val="FFFFFF"/>
                </a:solidFill>
              </a:rPr>
              <a:t> para </a:t>
            </a:r>
            <a:r>
              <a:rPr lang="en-US" sz="1300" dirty="0" err="1">
                <a:solidFill>
                  <a:srgbClr val="FFFFFF"/>
                </a:solidFill>
              </a:rPr>
              <a:t>procesos</a:t>
            </a:r>
            <a:r>
              <a:rPr lang="en-US" sz="1300" dirty="0">
                <a:solidFill>
                  <a:srgbClr val="FFFFFF"/>
                </a:solidFill>
              </a:rPr>
              <a:t> largos y </a:t>
            </a:r>
            <a:r>
              <a:rPr lang="en-US" sz="1300" dirty="0" err="1">
                <a:solidFill>
                  <a:srgbClr val="FFFFFF"/>
                </a:solidFill>
              </a:rPr>
              <a:t>asíncronos</a:t>
            </a:r>
            <a:r>
              <a:rPr lang="en-US" sz="1300" dirty="0">
                <a:solidFill>
                  <a:srgbClr val="FFFFFF"/>
                </a:solidFill>
              </a:rPr>
              <a:t>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37033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</a:rPr>
              <a:t>✓  </a:t>
            </a:r>
            <a:r>
              <a:rPr lang="en-US" sz="1300" dirty="0" err="1">
                <a:solidFill>
                  <a:srgbClr val="FFFFFF"/>
                </a:solidFill>
              </a:rPr>
              <a:t>Integración</a:t>
            </a:r>
            <a:r>
              <a:rPr lang="en-US" sz="1300" dirty="0">
                <a:solidFill>
                  <a:srgbClr val="FFFFFF"/>
                </a:solidFill>
              </a:rPr>
              <a:t> </a:t>
            </a:r>
            <a:r>
              <a:rPr lang="en-US" sz="1300" dirty="0" err="1">
                <a:solidFill>
                  <a:srgbClr val="FFFFFF"/>
                </a:solidFill>
              </a:rPr>
              <a:t>nativa</a:t>
            </a:r>
            <a:r>
              <a:rPr lang="en-US" sz="1300" dirty="0">
                <a:solidFill>
                  <a:srgbClr val="FFFFFF"/>
                </a:solidFill>
              </a:rPr>
              <a:t> con Java, Go, TypeScript y Python.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46320" y="1005840"/>
            <a:ext cx="3931920" cy="3657600"/>
          </a:xfrm>
          <a:prstGeom prst="rect">
            <a:avLst/>
          </a:prstGeom>
          <a:solidFill>
            <a:srgbClr val="112236"/>
          </a:solidFill>
          <a:ln w="12700">
            <a:solidFill>
              <a:srgbClr val="CC44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2" name="Shape 10"/>
          <p:cNvSpPr/>
          <p:nvPr/>
        </p:nvSpPr>
        <p:spPr>
          <a:xfrm>
            <a:off x="4846320" y="1005840"/>
            <a:ext cx="3931920" cy="502920"/>
          </a:xfrm>
          <a:prstGeom prst="rect">
            <a:avLst/>
          </a:prstGeom>
          <a:solidFill>
            <a:srgbClr val="CC4444"/>
          </a:solidFill>
          <a:ln w="12700">
            <a:solidFill>
              <a:srgbClr val="CC4444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3" name="Text 11"/>
          <p:cNvSpPr/>
          <p:nvPr/>
        </p:nvSpPr>
        <p:spPr>
          <a:xfrm>
            <a:off x="4846320" y="10058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⚠️  </a:t>
            </a:r>
            <a:r>
              <a:rPr lang="en-US" sz="1500" b="1" dirty="0" err="1">
                <a:solidFill>
                  <a:srgbClr val="FFFFFF"/>
                </a:solidFill>
              </a:rPr>
              <a:t>Desventajas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29200" y="16459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6B6B"/>
                </a:solidFill>
              </a:rPr>
              <a:t>✗  </a:t>
            </a:r>
            <a:r>
              <a:rPr lang="en-US" sz="1300" dirty="0">
                <a:solidFill>
                  <a:srgbClr val="FFFFFF"/>
                </a:solidFill>
              </a:rPr>
              <a:t>Curva de </a:t>
            </a:r>
            <a:r>
              <a:rPr lang="en-US" sz="1300" dirty="0" err="1">
                <a:solidFill>
                  <a:srgbClr val="FFFFFF"/>
                </a:solidFill>
              </a:rPr>
              <a:t>aprendizaje</a:t>
            </a:r>
            <a:r>
              <a:rPr lang="en-US" sz="1300" dirty="0">
                <a:solidFill>
                  <a:srgbClr val="FFFFFF"/>
                </a:solidFill>
              </a:rPr>
              <a:t> </a:t>
            </a:r>
            <a:r>
              <a:rPr lang="en-US" sz="1300" dirty="0" err="1">
                <a:solidFill>
                  <a:srgbClr val="FFFFFF"/>
                </a:solidFill>
              </a:rPr>
              <a:t>inicial</a:t>
            </a:r>
            <a:r>
              <a:rPr lang="en-US" sz="1300" dirty="0">
                <a:solidFill>
                  <a:srgbClr val="FFFFFF"/>
                </a:solidFill>
              </a:rPr>
              <a:t> </a:t>
            </a:r>
            <a:r>
              <a:rPr lang="en-US" sz="1300" dirty="0" err="1">
                <a:solidFill>
                  <a:srgbClr val="FFFFFF"/>
                </a:solidFill>
              </a:rPr>
              <a:t>avanzado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0" y="23317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6B6B"/>
                </a:solidFill>
              </a:rPr>
              <a:t>✗  </a:t>
            </a:r>
            <a:r>
              <a:rPr lang="en-US" sz="1300" dirty="0" err="1">
                <a:solidFill>
                  <a:srgbClr val="FFFFFF"/>
                </a:solidFill>
              </a:rPr>
              <a:t>Requiere</a:t>
            </a:r>
            <a:r>
              <a:rPr lang="en-US" sz="1300" dirty="0">
                <a:solidFill>
                  <a:srgbClr val="FFFFFF"/>
                </a:solidFill>
              </a:rPr>
              <a:t> infraestrutura adicional (Temporal Service + DB)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0" y="30175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6B6B"/>
                </a:solidFill>
              </a:rPr>
              <a:t>✗  </a:t>
            </a:r>
            <a:r>
              <a:rPr lang="en-US" sz="1300" dirty="0" err="1">
                <a:solidFill>
                  <a:srgbClr val="FFFFFF"/>
                </a:solidFill>
              </a:rPr>
              <a:t>Esto</a:t>
            </a:r>
            <a:r>
              <a:rPr lang="en-US" sz="1300" dirty="0">
                <a:solidFill>
                  <a:srgbClr val="FFFFFF"/>
                </a:solidFill>
              </a:rPr>
              <a:t> </a:t>
            </a:r>
            <a:r>
              <a:rPr lang="en-US" sz="1300" dirty="0" err="1">
                <a:solidFill>
                  <a:srgbClr val="FFFFFF"/>
                </a:solidFill>
              </a:rPr>
              <a:t>puede</a:t>
            </a:r>
            <a:r>
              <a:rPr lang="en-US" sz="1300" dirty="0">
                <a:solidFill>
                  <a:srgbClr val="FFFFFF"/>
                </a:solidFill>
              </a:rPr>
              <a:t> </a:t>
            </a:r>
            <a:r>
              <a:rPr lang="en-US" sz="1300" dirty="0" err="1">
                <a:solidFill>
                  <a:srgbClr val="FFFFFF"/>
                </a:solidFill>
              </a:rPr>
              <a:t>resultar</a:t>
            </a:r>
            <a:r>
              <a:rPr lang="en-US" sz="1300" dirty="0">
                <a:solidFill>
                  <a:srgbClr val="FFFFFF"/>
                </a:solidFill>
              </a:rPr>
              <a:t> </a:t>
            </a:r>
            <a:r>
              <a:rPr lang="en-US" sz="1300" dirty="0" err="1">
                <a:solidFill>
                  <a:srgbClr val="FFFFFF"/>
                </a:solidFill>
              </a:rPr>
              <a:t>excesivo</a:t>
            </a:r>
            <a:r>
              <a:rPr lang="en-US" sz="1300" dirty="0">
                <a:solidFill>
                  <a:srgbClr val="FFFFFF"/>
                </a:solidFill>
              </a:rPr>
              <a:t> para </a:t>
            </a:r>
            <a:r>
              <a:rPr lang="en-US" sz="1300" dirty="0" err="1">
                <a:solidFill>
                  <a:srgbClr val="FFFFFF"/>
                </a:solidFill>
              </a:rPr>
              <a:t>sistemas</a:t>
            </a:r>
            <a:r>
              <a:rPr lang="en-US" sz="1300" dirty="0">
                <a:solidFill>
                  <a:srgbClr val="FFFFFF"/>
                </a:solidFill>
              </a:rPr>
              <a:t> simples o </a:t>
            </a:r>
            <a:r>
              <a:rPr lang="en-US" sz="1300" dirty="0" err="1">
                <a:solidFill>
                  <a:srgbClr val="FFFFFF"/>
                </a:solidFill>
              </a:rPr>
              <a:t>flujos</a:t>
            </a:r>
            <a:r>
              <a:rPr lang="en-US" sz="1300" dirty="0">
                <a:solidFill>
                  <a:srgbClr val="FFFFFF"/>
                </a:solidFill>
              </a:rPr>
              <a:t> </a:t>
            </a:r>
            <a:r>
              <a:rPr lang="en-US" sz="1300" dirty="0" err="1">
                <a:solidFill>
                  <a:srgbClr val="FFFFFF"/>
                </a:solidFill>
              </a:rPr>
              <a:t>cortos</a:t>
            </a:r>
            <a:r>
              <a:rPr lang="en-US" sz="1300" dirty="0">
                <a:solidFill>
                  <a:srgbClr val="FFFFFF"/>
                </a:solidFill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05  / </a:t>
            </a:r>
            <a:r>
              <a:rPr lang="en-US" sz="2400" b="1" dirty="0" err="1">
                <a:solidFill>
                  <a:srgbClr val="FFFFFF"/>
                </a:solidFill>
              </a:rPr>
              <a:t>Conceptos</a:t>
            </a:r>
            <a:r>
              <a:rPr lang="en-US" sz="2400" b="1" dirty="0">
                <a:solidFill>
                  <a:srgbClr val="FFFFFF"/>
                </a:solidFill>
              </a:rPr>
              <a:t> </a:t>
            </a:r>
            <a:r>
              <a:rPr lang="en-US" sz="2400" b="1" dirty="0" err="1">
                <a:solidFill>
                  <a:srgbClr val="FFFFFF"/>
                </a:solidFill>
              </a:rPr>
              <a:t>principales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274320" y="96012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🔁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41248" y="103327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Workflow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39903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8FA3B3"/>
                </a:solidFill>
              </a:rPr>
              <a:t>Proceso</a:t>
            </a:r>
            <a:r>
              <a:rPr lang="en-US" sz="1000" dirty="0">
                <a:solidFill>
                  <a:srgbClr val="8FA3B3"/>
                </a:solidFill>
              </a:rPr>
              <a:t> </a:t>
            </a:r>
            <a:r>
              <a:rPr lang="en-US" sz="1000" dirty="0" err="1">
                <a:solidFill>
                  <a:srgbClr val="8FA3B3"/>
                </a:solidFill>
              </a:rPr>
              <a:t>duradero</a:t>
            </a:r>
            <a:r>
              <a:rPr lang="en-US" sz="1000" dirty="0">
                <a:solidFill>
                  <a:srgbClr val="8FA3B3"/>
                </a:solidFill>
              </a:rPr>
              <a:t> con </a:t>
            </a:r>
            <a:r>
              <a:rPr lang="en-US" sz="1000" dirty="0" err="1">
                <a:solidFill>
                  <a:srgbClr val="8FA3B3"/>
                </a:solidFill>
              </a:rPr>
              <a:t>ejecución</a:t>
            </a:r>
            <a:r>
              <a:rPr lang="en-US" sz="1000" dirty="0">
                <a:solidFill>
                  <a:srgbClr val="8FA3B3"/>
                </a:solidFill>
              </a:rPr>
              <a:t> </a:t>
            </a:r>
            <a:r>
              <a:rPr lang="en-US" sz="1000" dirty="0" err="1">
                <a:solidFill>
                  <a:srgbClr val="8FA3B3"/>
                </a:solidFill>
              </a:rPr>
              <a:t>determinista</a:t>
            </a:r>
            <a:r>
              <a:rPr lang="en-US" sz="1000" dirty="0">
                <a:solidFill>
                  <a:srgbClr val="8FA3B3"/>
                </a:solidFill>
              </a:rPr>
              <a:t>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96012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0" name="Shape 8"/>
          <p:cNvSpPr/>
          <p:nvPr/>
        </p:nvSpPr>
        <p:spPr>
          <a:xfrm>
            <a:off x="3200400" y="96012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1" name="Text 9"/>
          <p:cNvSpPr/>
          <p:nvPr/>
        </p:nvSpPr>
        <p:spPr>
          <a:xfrm>
            <a:off x="3200400" y="96012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⚙️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767328" y="103327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Activity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767328" y="139903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Unidad de </a:t>
            </a:r>
            <a:r>
              <a:rPr lang="en-US" sz="1000" dirty="0" err="1">
                <a:solidFill>
                  <a:srgbClr val="8FA3B3"/>
                </a:solidFill>
              </a:rPr>
              <a:t>trabajo</a:t>
            </a:r>
            <a:r>
              <a:rPr lang="en-US" sz="1000" dirty="0">
                <a:solidFill>
                  <a:srgbClr val="8FA3B3"/>
                </a:solidFill>
              </a:rPr>
              <a:t> externa (HTTP, DB, email…)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26480" y="96012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5" name="Shape 13"/>
          <p:cNvSpPr/>
          <p:nvPr/>
        </p:nvSpPr>
        <p:spPr>
          <a:xfrm>
            <a:off x="6126480" y="96012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6" name="Text 14"/>
          <p:cNvSpPr/>
          <p:nvPr/>
        </p:nvSpPr>
        <p:spPr>
          <a:xfrm>
            <a:off x="6126480" y="96012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🖥️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693408" y="103327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Worker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93408" y="139903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Un </a:t>
            </a:r>
            <a:r>
              <a:rPr lang="en-US" sz="1000" dirty="0" err="1">
                <a:solidFill>
                  <a:srgbClr val="8FA3B3"/>
                </a:solidFill>
              </a:rPr>
              <a:t>proceso</a:t>
            </a:r>
            <a:r>
              <a:rPr lang="en-US" sz="1000" dirty="0">
                <a:solidFill>
                  <a:srgbClr val="8FA3B3"/>
                </a:solidFill>
              </a:rPr>
              <a:t> que </a:t>
            </a:r>
            <a:r>
              <a:rPr lang="en-US" sz="1000" dirty="0" err="1">
                <a:solidFill>
                  <a:srgbClr val="8FA3B3"/>
                </a:solidFill>
              </a:rPr>
              <a:t>ejecuta</a:t>
            </a:r>
            <a:r>
              <a:rPr lang="en-US" sz="1000" dirty="0">
                <a:solidFill>
                  <a:srgbClr val="8FA3B3"/>
                </a:solidFill>
              </a:rPr>
              <a:t> </a:t>
            </a:r>
            <a:r>
              <a:rPr lang="en-US" sz="1000" dirty="0" err="1">
                <a:solidFill>
                  <a:srgbClr val="8FA3B3"/>
                </a:solidFill>
              </a:rPr>
              <a:t>flujos</a:t>
            </a:r>
            <a:r>
              <a:rPr lang="en-US" sz="1000" dirty="0">
                <a:solidFill>
                  <a:srgbClr val="8FA3B3"/>
                </a:solidFill>
              </a:rPr>
              <a:t> de </a:t>
            </a:r>
            <a:r>
              <a:rPr lang="en-US" sz="1000" dirty="0" err="1">
                <a:solidFill>
                  <a:srgbClr val="8FA3B3"/>
                </a:solidFill>
              </a:rPr>
              <a:t>trabajo</a:t>
            </a:r>
            <a:r>
              <a:rPr lang="en-US" sz="1000" dirty="0">
                <a:solidFill>
                  <a:srgbClr val="8FA3B3"/>
                </a:solidFill>
              </a:rPr>
              <a:t> y </a:t>
            </a:r>
            <a:r>
              <a:rPr lang="en-US" sz="1000" dirty="0" err="1">
                <a:solidFill>
                  <a:srgbClr val="8FA3B3"/>
                </a:solidFill>
              </a:rPr>
              <a:t>actividades</a:t>
            </a:r>
            <a:r>
              <a:rPr lang="en-US" sz="1000" dirty="0">
                <a:solidFill>
                  <a:srgbClr val="8FA3B3"/>
                </a:solidFill>
              </a:rPr>
              <a:t>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74320" y="228600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0" name="Shape 18"/>
          <p:cNvSpPr/>
          <p:nvPr/>
        </p:nvSpPr>
        <p:spPr>
          <a:xfrm>
            <a:off x="274320" y="228600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1" name="Text 19"/>
          <p:cNvSpPr/>
          <p:nvPr/>
        </p:nvSpPr>
        <p:spPr>
          <a:xfrm>
            <a:off x="274320" y="228600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1248" y="235915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Task Queue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41248" y="272491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Cola que </a:t>
            </a:r>
            <a:r>
              <a:rPr lang="en-US" sz="1000" dirty="0" err="1">
                <a:solidFill>
                  <a:srgbClr val="8FA3B3"/>
                </a:solidFill>
              </a:rPr>
              <a:t>conecta</a:t>
            </a:r>
            <a:r>
              <a:rPr lang="en-US" sz="1000" dirty="0">
                <a:solidFill>
                  <a:srgbClr val="8FA3B3"/>
                </a:solidFill>
              </a:rPr>
              <a:t> </a:t>
            </a:r>
            <a:r>
              <a:rPr lang="en-US" sz="1000" dirty="0" err="1">
                <a:solidFill>
                  <a:srgbClr val="8FA3B3"/>
                </a:solidFill>
              </a:rPr>
              <a:t>el</a:t>
            </a:r>
            <a:r>
              <a:rPr lang="en-US" sz="1000" dirty="0">
                <a:solidFill>
                  <a:srgbClr val="8FA3B3"/>
                </a:solidFill>
              </a:rPr>
              <a:t> </a:t>
            </a:r>
            <a:r>
              <a:rPr lang="en-US" sz="1000" dirty="0" err="1">
                <a:solidFill>
                  <a:srgbClr val="8FA3B3"/>
                </a:solidFill>
              </a:rPr>
              <a:t>servicio</a:t>
            </a:r>
            <a:r>
              <a:rPr lang="en-US" sz="1000" dirty="0">
                <a:solidFill>
                  <a:srgbClr val="8FA3B3"/>
                </a:solidFill>
              </a:rPr>
              <a:t> central con </a:t>
            </a:r>
            <a:r>
              <a:rPr lang="en-US" sz="1000" dirty="0" err="1">
                <a:solidFill>
                  <a:srgbClr val="8FA3B3"/>
                </a:solidFill>
              </a:rPr>
              <a:t>los</a:t>
            </a:r>
            <a:r>
              <a:rPr lang="en-US" sz="1000" dirty="0">
                <a:solidFill>
                  <a:srgbClr val="8FA3B3"/>
                </a:solidFill>
              </a:rPr>
              <a:t> </a:t>
            </a:r>
            <a:r>
              <a:rPr lang="en-US" sz="1000" dirty="0" err="1">
                <a:solidFill>
                  <a:srgbClr val="8FA3B3"/>
                </a:solidFill>
              </a:rPr>
              <a:t>trabajadores</a:t>
            </a:r>
            <a:r>
              <a:rPr lang="en-US" sz="1000" dirty="0">
                <a:solidFill>
                  <a:srgbClr val="8FA3B3"/>
                </a:solidFill>
              </a:rPr>
              <a:t>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0" y="228600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5" name="Shape 23"/>
          <p:cNvSpPr/>
          <p:nvPr/>
        </p:nvSpPr>
        <p:spPr>
          <a:xfrm>
            <a:off x="3200400" y="228600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6" name="Text 24"/>
          <p:cNvSpPr/>
          <p:nvPr/>
        </p:nvSpPr>
        <p:spPr>
          <a:xfrm>
            <a:off x="3200400" y="228600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767328" y="235915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Retry Policy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767328" y="272491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Define </a:t>
            </a:r>
            <a:r>
              <a:rPr lang="en-US" sz="1000" dirty="0" err="1">
                <a:solidFill>
                  <a:srgbClr val="8FA3B3"/>
                </a:solidFill>
              </a:rPr>
              <a:t>tentativas</a:t>
            </a:r>
            <a:r>
              <a:rPr lang="en-US" sz="1000" dirty="0">
                <a:solidFill>
                  <a:srgbClr val="8FA3B3"/>
                </a:solidFill>
              </a:rPr>
              <a:t>, </a:t>
            </a:r>
            <a:r>
              <a:rPr lang="en-US" sz="1000" dirty="0" err="1">
                <a:solidFill>
                  <a:srgbClr val="8FA3B3"/>
                </a:solidFill>
              </a:rPr>
              <a:t>intervalos</a:t>
            </a:r>
            <a:r>
              <a:rPr lang="en-US" sz="1000" dirty="0">
                <a:solidFill>
                  <a:srgbClr val="8FA3B3"/>
                </a:solidFill>
              </a:rPr>
              <a:t> e </a:t>
            </a:r>
            <a:r>
              <a:rPr lang="en-US" sz="1000" dirty="0" err="1">
                <a:solidFill>
                  <a:srgbClr val="8FA3B3"/>
                </a:solidFill>
              </a:rPr>
              <a:t>erros</a:t>
            </a:r>
            <a:r>
              <a:rPr lang="en-US" sz="1000" dirty="0">
                <a:solidFill>
                  <a:srgbClr val="8FA3B3"/>
                </a:solidFill>
              </a:rPr>
              <a:t> a </a:t>
            </a:r>
            <a:r>
              <a:rPr lang="en-US" sz="1000" dirty="0" err="1">
                <a:solidFill>
                  <a:srgbClr val="8FA3B3"/>
                </a:solidFill>
              </a:rPr>
              <a:t>ignorar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26480" y="228600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30" name="Shape 28"/>
          <p:cNvSpPr/>
          <p:nvPr/>
        </p:nvSpPr>
        <p:spPr>
          <a:xfrm>
            <a:off x="6126480" y="228600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1" name="Text 29"/>
          <p:cNvSpPr/>
          <p:nvPr/>
        </p:nvSpPr>
        <p:spPr>
          <a:xfrm>
            <a:off x="6126480" y="228600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🧠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693408" y="235915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Temporal Service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693408" y="272491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8FA3B3"/>
                </a:solidFill>
              </a:rPr>
              <a:t>Orquestador</a:t>
            </a:r>
            <a:r>
              <a:rPr lang="en-US" sz="1000" dirty="0">
                <a:solidFill>
                  <a:srgbClr val="8FA3B3"/>
                </a:solidFill>
              </a:rPr>
              <a:t> central: </a:t>
            </a:r>
            <a:r>
              <a:rPr lang="en-US" sz="1000" dirty="0" err="1">
                <a:solidFill>
                  <a:srgbClr val="8FA3B3"/>
                </a:solidFill>
              </a:rPr>
              <a:t>persiste</a:t>
            </a:r>
            <a:r>
              <a:rPr lang="en-US" sz="1000" dirty="0">
                <a:solidFill>
                  <a:srgbClr val="8FA3B3"/>
                </a:solidFill>
              </a:rPr>
              <a:t> y </a:t>
            </a:r>
            <a:r>
              <a:rPr lang="en-US" sz="1000" dirty="0" err="1">
                <a:solidFill>
                  <a:srgbClr val="8FA3B3"/>
                </a:solidFill>
              </a:rPr>
              <a:t>programa</a:t>
            </a:r>
            <a:r>
              <a:rPr lang="en-US" sz="1000" dirty="0">
                <a:solidFill>
                  <a:srgbClr val="8FA3B3"/>
                </a:solidFill>
              </a:rPr>
              <a:t> las </a:t>
            </a:r>
            <a:r>
              <a:rPr lang="en-US" sz="1000" dirty="0" err="1">
                <a:solidFill>
                  <a:srgbClr val="8FA3B3"/>
                </a:solidFill>
              </a:rPr>
              <a:t>tareas</a:t>
            </a:r>
            <a:r>
              <a:rPr lang="en-US" sz="1000" dirty="0">
                <a:solidFill>
                  <a:srgbClr val="8FA3B3"/>
                </a:solidFill>
              </a:rPr>
              <a:t>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74320" y="361188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35" name="Shape 33"/>
          <p:cNvSpPr/>
          <p:nvPr/>
        </p:nvSpPr>
        <p:spPr>
          <a:xfrm>
            <a:off x="274320" y="361188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6" name="Text 34"/>
          <p:cNvSpPr/>
          <p:nvPr/>
        </p:nvSpPr>
        <p:spPr>
          <a:xfrm>
            <a:off x="274320" y="361188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📜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841248" y="368503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Event History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41248" y="405079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Una </a:t>
            </a:r>
            <a:r>
              <a:rPr lang="en-US" sz="1000" dirty="0" err="1">
                <a:solidFill>
                  <a:srgbClr val="8FA3B3"/>
                </a:solidFill>
              </a:rPr>
              <a:t>historia</a:t>
            </a:r>
            <a:r>
              <a:rPr lang="en-US" sz="1000" dirty="0">
                <a:solidFill>
                  <a:srgbClr val="8FA3B3"/>
                </a:solidFill>
              </a:rPr>
              <a:t> </a:t>
            </a:r>
            <a:r>
              <a:rPr lang="en-US" sz="1000" dirty="0" err="1">
                <a:solidFill>
                  <a:srgbClr val="8FA3B3"/>
                </a:solidFill>
              </a:rPr>
              <a:t>inmutable</a:t>
            </a:r>
            <a:r>
              <a:rPr lang="en-US" sz="1000" dirty="0">
                <a:solidFill>
                  <a:srgbClr val="8FA3B3"/>
                </a:solidFill>
              </a:rPr>
              <a:t> que </a:t>
            </a:r>
            <a:r>
              <a:rPr lang="en-US" sz="1000" dirty="0" err="1">
                <a:solidFill>
                  <a:srgbClr val="8FA3B3"/>
                </a:solidFill>
              </a:rPr>
              <a:t>reconstruye</a:t>
            </a:r>
            <a:r>
              <a:rPr lang="en-US" sz="1000" dirty="0">
                <a:solidFill>
                  <a:srgbClr val="8FA3B3"/>
                </a:solidFill>
              </a:rPr>
              <a:t> </a:t>
            </a:r>
            <a:r>
              <a:rPr lang="en-US" sz="1000" dirty="0" err="1">
                <a:solidFill>
                  <a:srgbClr val="8FA3B3"/>
                </a:solidFill>
              </a:rPr>
              <a:t>el</a:t>
            </a:r>
            <a:r>
              <a:rPr lang="en-US" sz="1000" dirty="0">
                <a:solidFill>
                  <a:srgbClr val="8FA3B3"/>
                </a:solidFill>
              </a:rPr>
              <a:t> </a:t>
            </a:r>
            <a:r>
              <a:rPr lang="en-US" sz="1000" dirty="0" err="1">
                <a:solidFill>
                  <a:srgbClr val="8FA3B3"/>
                </a:solidFill>
              </a:rPr>
              <a:t>estado</a:t>
            </a:r>
            <a:r>
              <a:rPr lang="en-US" sz="1000" dirty="0">
                <a:solidFill>
                  <a:srgbClr val="8FA3B3"/>
                </a:solidFill>
              </a:rPr>
              <a:t>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0400" y="361188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40" name="Shape 38"/>
          <p:cNvSpPr/>
          <p:nvPr/>
        </p:nvSpPr>
        <p:spPr>
          <a:xfrm>
            <a:off x="3200400" y="361188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1" name="Text 39"/>
          <p:cNvSpPr/>
          <p:nvPr/>
        </p:nvSpPr>
        <p:spPr>
          <a:xfrm>
            <a:off x="3200400" y="361188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📡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3767328" y="368503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Signal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767328" y="405079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8FA3B3"/>
                </a:solidFill>
              </a:rPr>
              <a:t>Envía</a:t>
            </a:r>
            <a:r>
              <a:rPr lang="en-US" sz="1000" dirty="0">
                <a:solidFill>
                  <a:srgbClr val="8FA3B3"/>
                </a:solidFill>
              </a:rPr>
              <a:t> </a:t>
            </a:r>
            <a:r>
              <a:rPr lang="en-US" sz="1000" dirty="0" err="1">
                <a:solidFill>
                  <a:srgbClr val="8FA3B3"/>
                </a:solidFill>
              </a:rPr>
              <a:t>información</a:t>
            </a:r>
            <a:r>
              <a:rPr lang="en-US" sz="1000" dirty="0">
                <a:solidFill>
                  <a:srgbClr val="8FA3B3"/>
                </a:solidFill>
              </a:rPr>
              <a:t> a un </a:t>
            </a:r>
            <a:r>
              <a:rPr lang="en-US" sz="1000" dirty="0" err="1">
                <a:solidFill>
                  <a:srgbClr val="8FA3B3"/>
                </a:solidFill>
              </a:rPr>
              <a:t>flujo</a:t>
            </a:r>
            <a:r>
              <a:rPr lang="en-US" sz="1000" dirty="0">
                <a:solidFill>
                  <a:srgbClr val="8FA3B3"/>
                </a:solidFill>
              </a:rPr>
              <a:t> de </a:t>
            </a:r>
            <a:r>
              <a:rPr lang="en-US" sz="1000" dirty="0" err="1">
                <a:solidFill>
                  <a:srgbClr val="8FA3B3"/>
                </a:solidFill>
              </a:rPr>
              <a:t>trabajo</a:t>
            </a:r>
            <a:r>
              <a:rPr lang="en-US" sz="1000" dirty="0">
                <a:solidFill>
                  <a:srgbClr val="8FA3B3"/>
                </a:solidFill>
              </a:rPr>
              <a:t> </a:t>
            </a:r>
            <a:r>
              <a:rPr lang="en-US" sz="1000" dirty="0" err="1">
                <a:solidFill>
                  <a:srgbClr val="8FA3B3"/>
                </a:solidFill>
              </a:rPr>
              <a:t>en</a:t>
            </a:r>
            <a:r>
              <a:rPr lang="en-US" sz="1000" dirty="0">
                <a:solidFill>
                  <a:srgbClr val="8FA3B3"/>
                </a:solidFill>
              </a:rPr>
              <a:t> </a:t>
            </a:r>
            <a:r>
              <a:rPr lang="en-US" sz="1000" dirty="0" err="1">
                <a:solidFill>
                  <a:srgbClr val="8FA3B3"/>
                </a:solidFill>
              </a:rPr>
              <a:t>ejecución</a:t>
            </a:r>
            <a:r>
              <a:rPr lang="en-US" sz="1000" dirty="0">
                <a:solidFill>
                  <a:srgbClr val="8FA3B3"/>
                </a:solidFill>
              </a:rPr>
              <a:t> (</a:t>
            </a:r>
            <a:r>
              <a:rPr lang="en-US" sz="1000" dirty="0" err="1">
                <a:solidFill>
                  <a:srgbClr val="8FA3B3"/>
                </a:solidFill>
              </a:rPr>
              <a:t>asíncrono</a:t>
            </a:r>
            <a:r>
              <a:rPr lang="en-US" sz="1000" dirty="0">
                <a:solidFill>
                  <a:srgbClr val="8FA3B3"/>
                </a:solidFill>
              </a:rPr>
              <a:t>).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126480" y="361188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45" name="Shape 43"/>
          <p:cNvSpPr/>
          <p:nvPr/>
        </p:nvSpPr>
        <p:spPr>
          <a:xfrm>
            <a:off x="6126480" y="361188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6" name="Text 44"/>
          <p:cNvSpPr/>
          <p:nvPr/>
        </p:nvSpPr>
        <p:spPr>
          <a:xfrm>
            <a:off x="6126480" y="361188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6693408" y="368503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Query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693408" y="405079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Lee </a:t>
            </a:r>
            <a:r>
              <a:rPr lang="en-US" sz="1000" dirty="0" err="1">
                <a:solidFill>
                  <a:srgbClr val="8FA3B3"/>
                </a:solidFill>
              </a:rPr>
              <a:t>el</a:t>
            </a:r>
            <a:r>
              <a:rPr lang="en-US" sz="1000" dirty="0">
                <a:solidFill>
                  <a:srgbClr val="8FA3B3"/>
                </a:solidFill>
              </a:rPr>
              <a:t> </a:t>
            </a:r>
            <a:r>
              <a:rPr lang="en-US" sz="1000" dirty="0" err="1">
                <a:solidFill>
                  <a:srgbClr val="8FA3B3"/>
                </a:solidFill>
              </a:rPr>
              <a:t>estado</a:t>
            </a:r>
            <a:r>
              <a:rPr lang="en-US" sz="1000" dirty="0">
                <a:solidFill>
                  <a:srgbClr val="8FA3B3"/>
                </a:solidFill>
              </a:rPr>
              <a:t> actual de un </a:t>
            </a:r>
            <a:r>
              <a:rPr lang="en-US" sz="1000" dirty="0" err="1">
                <a:solidFill>
                  <a:srgbClr val="8FA3B3"/>
                </a:solidFill>
              </a:rPr>
              <a:t>flujo</a:t>
            </a:r>
            <a:r>
              <a:rPr lang="en-US" sz="1000" dirty="0">
                <a:solidFill>
                  <a:srgbClr val="8FA3B3"/>
                </a:solidFill>
              </a:rPr>
              <a:t> de </a:t>
            </a:r>
            <a:r>
              <a:rPr lang="en-US" sz="1000" dirty="0" err="1">
                <a:solidFill>
                  <a:srgbClr val="8FA3B3"/>
                </a:solidFill>
              </a:rPr>
              <a:t>trabajo</a:t>
            </a:r>
            <a:r>
              <a:rPr lang="en-US" sz="1000" dirty="0">
                <a:solidFill>
                  <a:srgbClr val="8FA3B3"/>
                </a:solidFill>
              </a:rPr>
              <a:t> (</a:t>
            </a:r>
            <a:r>
              <a:rPr lang="en-US" sz="1000" dirty="0" err="1">
                <a:solidFill>
                  <a:srgbClr val="8FA3B3"/>
                </a:solidFill>
              </a:rPr>
              <a:t>síncrono</a:t>
            </a:r>
            <a:r>
              <a:rPr lang="en-US" sz="1000" dirty="0">
                <a:solidFill>
                  <a:srgbClr val="8FA3B3"/>
                </a:solidFill>
              </a:rPr>
              <a:t>).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06  / </a:t>
            </a:r>
            <a:r>
              <a:rPr lang="en-US" sz="2400" b="1" dirty="0" err="1">
                <a:solidFill>
                  <a:srgbClr val="FFFFFF"/>
                </a:solidFill>
              </a:rPr>
              <a:t>Arquitectura</a:t>
            </a:r>
            <a:r>
              <a:rPr lang="en-US" sz="2400" b="1" dirty="0">
                <a:solidFill>
                  <a:srgbClr val="FFFFFF"/>
                </a:solidFill>
              </a:rPr>
              <a:t> general</a:t>
            </a:r>
            <a:endParaRPr lang="en-US" sz="2400" dirty="0"/>
          </a:p>
        </p:txBody>
      </p:sp>
      <p:sp>
        <p:nvSpPr>
          <p:cNvPr id="28" name="Shape 2">
            <a:extLst>
              <a:ext uri="{FF2B5EF4-FFF2-40B4-BE49-F238E27FC236}">
                <a16:creationId xmlns:a16="http://schemas.microsoft.com/office/drawing/2014/main" id="{19343134-B4A6-55F6-194B-B3E7B92439FB}"/>
              </a:ext>
            </a:extLst>
          </p:cNvPr>
          <p:cNvSpPr/>
          <p:nvPr/>
        </p:nvSpPr>
        <p:spPr>
          <a:xfrm>
            <a:off x="513481" y="1005840"/>
            <a:ext cx="2520000" cy="1440000"/>
          </a:xfrm>
          <a:prstGeom prst="rect">
            <a:avLst/>
          </a:prstGeom>
          <a:solidFill>
            <a:srgbClr val="112236"/>
          </a:solidFill>
          <a:ln w="25400">
            <a:solidFill>
              <a:srgbClr val="2D9CD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9" name="Shape 3">
            <a:extLst>
              <a:ext uri="{FF2B5EF4-FFF2-40B4-BE49-F238E27FC236}">
                <a16:creationId xmlns:a16="http://schemas.microsoft.com/office/drawing/2014/main" id="{9108FFB9-C11E-521D-6BB0-41C842CF3EC9}"/>
              </a:ext>
            </a:extLst>
          </p:cNvPr>
          <p:cNvSpPr/>
          <p:nvPr/>
        </p:nvSpPr>
        <p:spPr>
          <a:xfrm>
            <a:off x="513481" y="1005840"/>
            <a:ext cx="2520000" cy="411480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0" name="Text 4">
            <a:extLst>
              <a:ext uri="{FF2B5EF4-FFF2-40B4-BE49-F238E27FC236}">
                <a16:creationId xmlns:a16="http://schemas.microsoft.com/office/drawing/2014/main" id="{1B23EEE6-1C03-A9D6-512F-D0A104757B0A}"/>
              </a:ext>
            </a:extLst>
          </p:cNvPr>
          <p:cNvSpPr/>
          <p:nvPr/>
        </p:nvSpPr>
        <p:spPr>
          <a:xfrm>
            <a:off x="513480" y="1005840"/>
            <a:ext cx="246888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Client</a:t>
            </a:r>
            <a:endParaRPr lang="en-US" sz="1300" dirty="0"/>
          </a:p>
        </p:txBody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5A6AFD64-1D12-8FDB-882D-BC7F3F3CFF1A}"/>
              </a:ext>
            </a:extLst>
          </p:cNvPr>
          <p:cNvSpPr/>
          <p:nvPr/>
        </p:nvSpPr>
        <p:spPr>
          <a:xfrm>
            <a:off x="604921" y="1463040"/>
            <a:ext cx="2309597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 err="1">
                <a:solidFill>
                  <a:srgbClr val="8FA3B3"/>
                </a:solidFill>
              </a:rPr>
              <a:t>Inicia</a:t>
            </a:r>
            <a:r>
              <a:rPr lang="en-US" sz="1050" dirty="0">
                <a:solidFill>
                  <a:srgbClr val="8FA3B3"/>
                </a:solidFill>
              </a:rPr>
              <a:t> workflows, </a:t>
            </a:r>
            <a:r>
              <a:rPr lang="en-US" sz="1050" dirty="0" err="1">
                <a:solidFill>
                  <a:srgbClr val="8FA3B3"/>
                </a:solidFill>
              </a:rPr>
              <a:t>envía</a:t>
            </a:r>
            <a:r>
              <a:rPr lang="en-US" sz="1050" dirty="0">
                <a:solidFill>
                  <a:srgbClr val="8FA3B3"/>
                </a:solidFill>
              </a:rPr>
              <a:t> </a:t>
            </a:r>
            <a:r>
              <a:rPr lang="en-US" sz="1050" dirty="0" err="1">
                <a:solidFill>
                  <a:srgbClr val="8FA3B3"/>
                </a:solidFill>
              </a:rPr>
              <a:t>señales</a:t>
            </a:r>
            <a:r>
              <a:rPr lang="en-US" sz="1050" dirty="0">
                <a:solidFill>
                  <a:srgbClr val="8FA3B3"/>
                </a:solidFill>
              </a:rPr>
              <a:t> y </a:t>
            </a:r>
            <a:r>
              <a:rPr lang="en-US" sz="1050" dirty="0" err="1">
                <a:solidFill>
                  <a:srgbClr val="8FA3B3"/>
                </a:solidFill>
              </a:rPr>
              <a:t>ejecuta</a:t>
            </a:r>
            <a:r>
              <a:rPr lang="en-US" sz="1050" dirty="0">
                <a:solidFill>
                  <a:srgbClr val="8FA3B3"/>
                </a:solidFill>
              </a:rPr>
              <a:t> queries</a:t>
            </a:r>
            <a:endParaRPr lang="en-US" sz="1050" dirty="0"/>
          </a:p>
        </p:txBody>
      </p:sp>
      <p:sp>
        <p:nvSpPr>
          <p:cNvPr id="32" name="Shape 6">
            <a:extLst>
              <a:ext uri="{FF2B5EF4-FFF2-40B4-BE49-F238E27FC236}">
                <a16:creationId xmlns:a16="http://schemas.microsoft.com/office/drawing/2014/main" id="{033A41B7-7866-68C7-C034-CB27653E2E01}"/>
              </a:ext>
            </a:extLst>
          </p:cNvPr>
          <p:cNvSpPr/>
          <p:nvPr/>
        </p:nvSpPr>
        <p:spPr>
          <a:xfrm>
            <a:off x="3234806" y="1005840"/>
            <a:ext cx="2520000" cy="1440000"/>
          </a:xfrm>
          <a:prstGeom prst="rect">
            <a:avLst/>
          </a:prstGeom>
          <a:solidFill>
            <a:srgbClr val="112236"/>
          </a:solidFill>
          <a:ln w="254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F6B13CD8-3A3E-3841-D97A-6995024083E2}"/>
              </a:ext>
            </a:extLst>
          </p:cNvPr>
          <p:cNvSpPr/>
          <p:nvPr/>
        </p:nvSpPr>
        <p:spPr>
          <a:xfrm>
            <a:off x="3234806" y="1005840"/>
            <a:ext cx="2520000" cy="41148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4DC0F11D-8D41-48B6-3F44-98C39AD5526D}"/>
              </a:ext>
            </a:extLst>
          </p:cNvPr>
          <p:cNvSpPr/>
          <p:nvPr/>
        </p:nvSpPr>
        <p:spPr>
          <a:xfrm>
            <a:off x="3234805" y="1005840"/>
            <a:ext cx="245122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Temporal Service</a:t>
            </a:r>
            <a:endParaRPr lang="en-US" sz="1300" dirty="0"/>
          </a:p>
        </p:txBody>
      </p:sp>
      <p:sp>
        <p:nvSpPr>
          <p:cNvPr id="35" name="Text 9">
            <a:extLst>
              <a:ext uri="{FF2B5EF4-FFF2-40B4-BE49-F238E27FC236}">
                <a16:creationId xmlns:a16="http://schemas.microsoft.com/office/drawing/2014/main" id="{DDA3515C-FE5C-CF9B-C117-4B551A39293F}"/>
              </a:ext>
            </a:extLst>
          </p:cNvPr>
          <p:cNvSpPr/>
          <p:nvPr/>
        </p:nvSpPr>
        <p:spPr>
          <a:xfrm>
            <a:off x="3326246" y="1463040"/>
            <a:ext cx="23597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 err="1">
                <a:solidFill>
                  <a:srgbClr val="8FA3B3"/>
                </a:solidFill>
              </a:rPr>
              <a:t>Orquestación</a:t>
            </a:r>
            <a:r>
              <a:rPr lang="en-US" sz="1050" dirty="0">
                <a:solidFill>
                  <a:srgbClr val="8FA3B3"/>
                </a:solidFill>
              </a:rPr>
              <a:t> central: </a:t>
            </a:r>
            <a:r>
              <a:rPr lang="en-US" sz="1050" dirty="0" err="1">
                <a:solidFill>
                  <a:srgbClr val="8FA3B3"/>
                </a:solidFill>
              </a:rPr>
              <a:t>persistencia</a:t>
            </a:r>
            <a:r>
              <a:rPr lang="en-US" sz="1050" dirty="0">
                <a:solidFill>
                  <a:srgbClr val="8FA3B3"/>
                </a:solidFill>
              </a:rPr>
              <a:t> </a:t>
            </a:r>
            <a:r>
              <a:rPr lang="en-US" sz="1050" dirty="0" err="1">
                <a:solidFill>
                  <a:srgbClr val="8FA3B3"/>
                </a:solidFill>
              </a:rPr>
              <a:t>histórica</a:t>
            </a:r>
            <a:r>
              <a:rPr lang="en-US" sz="1050" dirty="0">
                <a:solidFill>
                  <a:srgbClr val="8FA3B3"/>
                </a:solidFill>
              </a:rPr>
              <a:t> y agenda de </a:t>
            </a:r>
            <a:r>
              <a:rPr lang="en-US" sz="1050" dirty="0" err="1">
                <a:solidFill>
                  <a:srgbClr val="8FA3B3"/>
                </a:solidFill>
              </a:rPr>
              <a:t>tareas</a:t>
            </a:r>
            <a:r>
              <a:rPr lang="en-US" sz="1050" dirty="0">
                <a:solidFill>
                  <a:srgbClr val="8FA3B3"/>
                </a:solidFill>
              </a:rPr>
              <a:t>.</a:t>
            </a:r>
            <a:endParaRPr lang="en-US" sz="1050" dirty="0"/>
          </a:p>
        </p:txBody>
      </p:sp>
      <p:sp>
        <p:nvSpPr>
          <p:cNvPr id="36" name="Shape 10">
            <a:extLst>
              <a:ext uri="{FF2B5EF4-FFF2-40B4-BE49-F238E27FC236}">
                <a16:creationId xmlns:a16="http://schemas.microsoft.com/office/drawing/2014/main" id="{417E4831-F382-94B7-540C-DDAFD178A2BA}"/>
              </a:ext>
            </a:extLst>
          </p:cNvPr>
          <p:cNvSpPr/>
          <p:nvPr/>
        </p:nvSpPr>
        <p:spPr>
          <a:xfrm>
            <a:off x="5938302" y="1007097"/>
            <a:ext cx="2520000" cy="1440000"/>
          </a:xfrm>
          <a:prstGeom prst="rect">
            <a:avLst/>
          </a:prstGeom>
          <a:solidFill>
            <a:srgbClr val="112236"/>
          </a:solidFill>
          <a:ln w="254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37" name="Shape 11">
            <a:extLst>
              <a:ext uri="{FF2B5EF4-FFF2-40B4-BE49-F238E27FC236}">
                <a16:creationId xmlns:a16="http://schemas.microsoft.com/office/drawing/2014/main" id="{68EF1BD2-E6E0-957D-F2B5-06769CD0F68D}"/>
              </a:ext>
            </a:extLst>
          </p:cNvPr>
          <p:cNvSpPr/>
          <p:nvPr/>
        </p:nvSpPr>
        <p:spPr>
          <a:xfrm>
            <a:off x="5938302" y="1007097"/>
            <a:ext cx="2520000" cy="41148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8" name="Text 12">
            <a:extLst>
              <a:ext uri="{FF2B5EF4-FFF2-40B4-BE49-F238E27FC236}">
                <a16:creationId xmlns:a16="http://schemas.microsoft.com/office/drawing/2014/main" id="{42ADB97C-137F-44F5-1C9A-42DEE5B6BC2B}"/>
              </a:ext>
            </a:extLst>
          </p:cNvPr>
          <p:cNvSpPr/>
          <p:nvPr/>
        </p:nvSpPr>
        <p:spPr>
          <a:xfrm>
            <a:off x="5952474" y="1007097"/>
            <a:ext cx="25058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Task Queues</a:t>
            </a:r>
            <a:endParaRPr lang="en-US" sz="1300" dirty="0"/>
          </a:p>
        </p:txBody>
      </p:sp>
      <p:sp>
        <p:nvSpPr>
          <p:cNvPr id="39" name="Text 13">
            <a:extLst>
              <a:ext uri="{FF2B5EF4-FFF2-40B4-BE49-F238E27FC236}">
                <a16:creationId xmlns:a16="http://schemas.microsoft.com/office/drawing/2014/main" id="{A1A83C7A-4FB4-35A2-F36C-857A1A9C661C}"/>
              </a:ext>
            </a:extLst>
          </p:cNvPr>
          <p:cNvSpPr/>
          <p:nvPr/>
        </p:nvSpPr>
        <p:spPr>
          <a:xfrm>
            <a:off x="6029742" y="1464297"/>
            <a:ext cx="238017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FA3B3"/>
                </a:solidFill>
              </a:rPr>
              <a:t>Colas </a:t>
            </a:r>
            <a:r>
              <a:rPr lang="en-US" sz="1050" dirty="0" err="1">
                <a:solidFill>
                  <a:srgbClr val="8FA3B3"/>
                </a:solidFill>
              </a:rPr>
              <a:t>lógicas</a:t>
            </a:r>
            <a:r>
              <a:rPr lang="en-US" sz="1050" dirty="0">
                <a:solidFill>
                  <a:srgbClr val="8FA3B3"/>
                </a:solidFill>
              </a:rPr>
              <a:t> que </a:t>
            </a:r>
            <a:r>
              <a:rPr lang="en-US" sz="1050" dirty="0" err="1">
                <a:solidFill>
                  <a:srgbClr val="8FA3B3"/>
                </a:solidFill>
              </a:rPr>
              <a:t>distribuyen</a:t>
            </a:r>
            <a:r>
              <a:rPr lang="en-US" sz="1050" dirty="0">
                <a:solidFill>
                  <a:srgbClr val="8FA3B3"/>
                </a:solidFill>
              </a:rPr>
              <a:t> </a:t>
            </a:r>
            <a:r>
              <a:rPr lang="en-US" sz="1050" dirty="0" err="1">
                <a:solidFill>
                  <a:srgbClr val="8FA3B3"/>
                </a:solidFill>
              </a:rPr>
              <a:t>tareas</a:t>
            </a:r>
            <a:r>
              <a:rPr lang="en-US" sz="1050" dirty="0">
                <a:solidFill>
                  <a:srgbClr val="8FA3B3"/>
                </a:solidFill>
              </a:rPr>
              <a:t> a </a:t>
            </a:r>
            <a:r>
              <a:rPr lang="en-US" sz="1050" dirty="0" err="1">
                <a:solidFill>
                  <a:srgbClr val="8FA3B3"/>
                </a:solidFill>
              </a:rPr>
              <a:t>los</a:t>
            </a:r>
            <a:r>
              <a:rPr lang="en-US" sz="1050" dirty="0">
                <a:solidFill>
                  <a:srgbClr val="8FA3B3"/>
                </a:solidFill>
              </a:rPr>
              <a:t> workers</a:t>
            </a:r>
            <a:endParaRPr lang="en-US" sz="1050" dirty="0"/>
          </a:p>
        </p:txBody>
      </p:sp>
      <p:sp>
        <p:nvSpPr>
          <p:cNvPr id="40" name="Shape 14">
            <a:extLst>
              <a:ext uri="{FF2B5EF4-FFF2-40B4-BE49-F238E27FC236}">
                <a16:creationId xmlns:a16="http://schemas.microsoft.com/office/drawing/2014/main" id="{3CBD51CE-9B01-DF36-A701-CA08A6A096B3}"/>
              </a:ext>
            </a:extLst>
          </p:cNvPr>
          <p:cNvSpPr/>
          <p:nvPr/>
        </p:nvSpPr>
        <p:spPr>
          <a:xfrm>
            <a:off x="5938298" y="2747917"/>
            <a:ext cx="2520000" cy="1440000"/>
          </a:xfrm>
          <a:prstGeom prst="rect">
            <a:avLst/>
          </a:prstGeom>
          <a:solidFill>
            <a:srgbClr val="112236"/>
          </a:solidFill>
          <a:ln w="25400">
            <a:solidFill>
              <a:srgbClr val="B06CC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41" name="Shape 15">
            <a:extLst>
              <a:ext uri="{FF2B5EF4-FFF2-40B4-BE49-F238E27FC236}">
                <a16:creationId xmlns:a16="http://schemas.microsoft.com/office/drawing/2014/main" id="{0DB29310-EE0E-FC1E-D001-3320E6C147FB}"/>
              </a:ext>
            </a:extLst>
          </p:cNvPr>
          <p:cNvSpPr/>
          <p:nvPr/>
        </p:nvSpPr>
        <p:spPr>
          <a:xfrm>
            <a:off x="5938298" y="2747917"/>
            <a:ext cx="2520000" cy="411480"/>
          </a:xfrm>
          <a:prstGeom prst="rect">
            <a:avLst/>
          </a:prstGeom>
          <a:solidFill>
            <a:srgbClr val="B06CC4"/>
          </a:solidFill>
          <a:ln w="12700">
            <a:solidFill>
              <a:srgbClr val="B06CC4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2" name="Text 16">
            <a:extLst>
              <a:ext uri="{FF2B5EF4-FFF2-40B4-BE49-F238E27FC236}">
                <a16:creationId xmlns:a16="http://schemas.microsoft.com/office/drawing/2014/main" id="{CEE3EE06-EE3C-3923-E3C1-C6E82391E20F}"/>
              </a:ext>
            </a:extLst>
          </p:cNvPr>
          <p:cNvSpPr/>
          <p:nvPr/>
        </p:nvSpPr>
        <p:spPr>
          <a:xfrm>
            <a:off x="5938298" y="2747917"/>
            <a:ext cx="252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Workers</a:t>
            </a:r>
            <a:endParaRPr lang="en-US" sz="1300" dirty="0"/>
          </a:p>
        </p:txBody>
      </p:sp>
      <p:sp>
        <p:nvSpPr>
          <p:cNvPr id="43" name="Text 17">
            <a:extLst>
              <a:ext uri="{FF2B5EF4-FFF2-40B4-BE49-F238E27FC236}">
                <a16:creationId xmlns:a16="http://schemas.microsoft.com/office/drawing/2014/main" id="{1E1CB1CE-DD1C-153A-7F80-EA8F0C1CA94F}"/>
              </a:ext>
            </a:extLst>
          </p:cNvPr>
          <p:cNvSpPr/>
          <p:nvPr/>
        </p:nvSpPr>
        <p:spPr>
          <a:xfrm>
            <a:off x="6029738" y="3205117"/>
            <a:ext cx="23801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 err="1">
                <a:solidFill>
                  <a:srgbClr val="8FA3B3"/>
                </a:solidFill>
              </a:rPr>
              <a:t>Ejecutan</a:t>
            </a:r>
            <a:r>
              <a:rPr lang="en-US" sz="1050" dirty="0">
                <a:solidFill>
                  <a:srgbClr val="8FA3B3"/>
                </a:solidFill>
              </a:rPr>
              <a:t> Código de workflows y activities</a:t>
            </a:r>
            <a:endParaRPr lang="en-US" sz="1050" dirty="0"/>
          </a:p>
        </p:txBody>
      </p:sp>
      <p:sp>
        <p:nvSpPr>
          <p:cNvPr id="44" name="Shape 18">
            <a:extLst>
              <a:ext uri="{FF2B5EF4-FFF2-40B4-BE49-F238E27FC236}">
                <a16:creationId xmlns:a16="http://schemas.microsoft.com/office/drawing/2014/main" id="{1CC6A62A-5EB4-DB98-CA2A-03515C6E91C6}"/>
              </a:ext>
            </a:extLst>
          </p:cNvPr>
          <p:cNvSpPr/>
          <p:nvPr/>
        </p:nvSpPr>
        <p:spPr>
          <a:xfrm>
            <a:off x="3234805" y="3550738"/>
            <a:ext cx="2520000" cy="1440000"/>
          </a:xfrm>
          <a:prstGeom prst="rect">
            <a:avLst/>
          </a:prstGeom>
          <a:solidFill>
            <a:srgbClr val="112236"/>
          </a:solidFill>
          <a:ln w="2540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45" name="Shape 19">
            <a:extLst>
              <a:ext uri="{FF2B5EF4-FFF2-40B4-BE49-F238E27FC236}">
                <a16:creationId xmlns:a16="http://schemas.microsoft.com/office/drawing/2014/main" id="{878DD617-F93E-5BD3-21C5-EE2D9FB5EC22}"/>
              </a:ext>
            </a:extLst>
          </p:cNvPr>
          <p:cNvSpPr/>
          <p:nvPr/>
        </p:nvSpPr>
        <p:spPr>
          <a:xfrm>
            <a:off x="3234805" y="3550738"/>
            <a:ext cx="2520000" cy="4114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6" name="Text 20">
            <a:extLst>
              <a:ext uri="{FF2B5EF4-FFF2-40B4-BE49-F238E27FC236}">
                <a16:creationId xmlns:a16="http://schemas.microsoft.com/office/drawing/2014/main" id="{8F71ECED-4D25-0549-A443-65A0A30A6C3E}"/>
              </a:ext>
            </a:extLst>
          </p:cNvPr>
          <p:cNvSpPr/>
          <p:nvPr/>
        </p:nvSpPr>
        <p:spPr>
          <a:xfrm>
            <a:off x="3234805" y="3550738"/>
            <a:ext cx="252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Database</a:t>
            </a:r>
            <a:endParaRPr lang="en-US" sz="1300" dirty="0"/>
          </a:p>
        </p:txBody>
      </p:sp>
      <p:sp>
        <p:nvSpPr>
          <p:cNvPr id="47" name="Text 21">
            <a:extLst>
              <a:ext uri="{FF2B5EF4-FFF2-40B4-BE49-F238E27FC236}">
                <a16:creationId xmlns:a16="http://schemas.microsoft.com/office/drawing/2014/main" id="{499236D7-0C66-9445-337F-7BD9A5142ADA}"/>
              </a:ext>
            </a:extLst>
          </p:cNvPr>
          <p:cNvSpPr/>
          <p:nvPr/>
        </p:nvSpPr>
        <p:spPr>
          <a:xfrm>
            <a:off x="3326245" y="4007938"/>
            <a:ext cx="2344329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 err="1">
                <a:solidFill>
                  <a:srgbClr val="8FA3B3"/>
                </a:solidFill>
              </a:rPr>
              <a:t>Almacena</a:t>
            </a:r>
            <a:r>
              <a:rPr lang="en-US" sz="1050" dirty="0">
                <a:solidFill>
                  <a:srgbClr val="8FA3B3"/>
                </a:solidFill>
              </a:rPr>
              <a:t> </a:t>
            </a:r>
            <a:r>
              <a:rPr lang="en-US" sz="1050" dirty="0" err="1">
                <a:solidFill>
                  <a:srgbClr val="8FA3B3"/>
                </a:solidFill>
              </a:rPr>
              <a:t>el</a:t>
            </a:r>
            <a:r>
              <a:rPr lang="en-US" sz="1050" dirty="0">
                <a:solidFill>
                  <a:srgbClr val="8FA3B3"/>
                </a:solidFill>
              </a:rPr>
              <a:t> </a:t>
            </a:r>
            <a:r>
              <a:rPr lang="en-US" sz="1050" dirty="0" err="1">
                <a:solidFill>
                  <a:srgbClr val="8FA3B3"/>
                </a:solidFill>
              </a:rPr>
              <a:t>historial</a:t>
            </a:r>
            <a:r>
              <a:rPr lang="en-US" sz="1050" dirty="0">
                <a:solidFill>
                  <a:srgbClr val="8FA3B3"/>
                </a:solidFill>
              </a:rPr>
              <a:t> de </a:t>
            </a:r>
            <a:r>
              <a:rPr lang="en-US" sz="1050" dirty="0" err="1">
                <a:solidFill>
                  <a:srgbClr val="8FA3B3"/>
                </a:solidFill>
              </a:rPr>
              <a:t>eventos</a:t>
            </a:r>
            <a:r>
              <a:rPr lang="en-US" sz="1050" dirty="0">
                <a:solidFill>
                  <a:srgbClr val="8FA3B3"/>
                </a:solidFill>
              </a:rPr>
              <a:t> (PostgreSQL/MySQL/Cassandra)</a:t>
            </a:r>
            <a:endParaRPr lang="en-US" sz="1050" dirty="0"/>
          </a:p>
        </p:txBody>
      </p:sp>
      <p:cxnSp>
        <p:nvCxnSpPr>
          <p:cNvPr id="48" name="Conexão Reta Unidirecional 47">
            <a:extLst>
              <a:ext uri="{FF2B5EF4-FFF2-40B4-BE49-F238E27FC236}">
                <a16:creationId xmlns:a16="http://schemas.microsoft.com/office/drawing/2014/main" id="{DB9BB559-FF8B-B0BD-2A2E-43DA67C4294B}"/>
              </a:ext>
            </a:extLst>
          </p:cNvPr>
          <p:cNvCxnSpPr>
            <a:cxnSpLocks/>
            <a:stCxn id="32" idx="2"/>
            <a:endCxn id="45" idx="0"/>
          </p:cNvCxnSpPr>
          <p:nvPr/>
        </p:nvCxnSpPr>
        <p:spPr>
          <a:xfrm flipH="1">
            <a:off x="4494805" y="2445840"/>
            <a:ext cx="1" cy="110489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exão Reta Unidirecional 48">
            <a:extLst>
              <a:ext uri="{FF2B5EF4-FFF2-40B4-BE49-F238E27FC236}">
                <a16:creationId xmlns:a16="http://schemas.microsoft.com/office/drawing/2014/main" id="{EB9BCE63-3505-4B66-4963-76A0DE25C581}"/>
              </a:ext>
            </a:extLst>
          </p:cNvPr>
          <p:cNvCxnSpPr>
            <a:cxnSpLocks/>
            <a:stCxn id="28" idx="3"/>
            <a:endCxn id="32" idx="1"/>
          </p:cNvCxnSpPr>
          <p:nvPr/>
        </p:nvCxnSpPr>
        <p:spPr>
          <a:xfrm>
            <a:off x="3033481" y="1725840"/>
            <a:ext cx="20132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exão Reta Unidirecional 49">
            <a:extLst>
              <a:ext uri="{FF2B5EF4-FFF2-40B4-BE49-F238E27FC236}">
                <a16:creationId xmlns:a16="http://schemas.microsoft.com/office/drawing/2014/main" id="{1BEE7A42-70BB-D7FD-722E-EE0A9D1E35F2}"/>
              </a:ext>
            </a:extLst>
          </p:cNvPr>
          <p:cNvCxnSpPr>
            <a:cxnSpLocks/>
            <a:stCxn id="32" idx="3"/>
            <a:endCxn id="36" idx="1"/>
          </p:cNvCxnSpPr>
          <p:nvPr/>
        </p:nvCxnSpPr>
        <p:spPr>
          <a:xfrm>
            <a:off x="5754806" y="1725840"/>
            <a:ext cx="183496" cy="12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xão Reta Unidirecional 50">
            <a:extLst>
              <a:ext uri="{FF2B5EF4-FFF2-40B4-BE49-F238E27FC236}">
                <a16:creationId xmlns:a16="http://schemas.microsoft.com/office/drawing/2014/main" id="{CFC75E01-465A-FCAA-4C72-2FC1A4078516}"/>
              </a:ext>
            </a:extLst>
          </p:cNvPr>
          <p:cNvCxnSpPr>
            <a:cxnSpLocks/>
            <a:stCxn id="36" idx="2"/>
            <a:endCxn id="41" idx="0"/>
          </p:cNvCxnSpPr>
          <p:nvPr/>
        </p:nvCxnSpPr>
        <p:spPr>
          <a:xfrm flipH="1">
            <a:off x="7198298" y="2447097"/>
            <a:ext cx="4" cy="30082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07  /  Fluxo de Execução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2743200" cy="1325880"/>
          </a:xfrm>
          <a:prstGeom prst="rect">
            <a:avLst/>
          </a:prstGeom>
          <a:solidFill>
            <a:srgbClr val="112236"/>
          </a:solidFill>
          <a:ln w="19050">
            <a:solidFill>
              <a:srgbClr val="2D9CD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502920" cy="502920"/>
          </a:xfrm>
          <a:prstGeom prst="ellipse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1078992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FFFFFF"/>
                </a:solidFill>
              </a:rPr>
              <a:t>Cliente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inicia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el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flujo</a:t>
            </a:r>
            <a:r>
              <a:rPr lang="en-US" sz="1200" dirty="0">
                <a:solidFill>
                  <a:srgbClr val="FFFFFF"/>
                </a:solidFill>
              </a:rPr>
              <a:t> de </a:t>
            </a:r>
            <a:r>
              <a:rPr lang="en-US" sz="1200" dirty="0" err="1">
                <a:solidFill>
                  <a:srgbClr val="FFFFFF"/>
                </a:solidFill>
              </a:rPr>
              <a:t>trabajo</a:t>
            </a:r>
            <a:r>
              <a:rPr lang="en-US" sz="1200" dirty="0">
                <a:solidFill>
                  <a:srgbClr val="FFFFFF"/>
                </a:solidFill>
              </a:rPr>
              <a:t>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1005840"/>
            <a:ext cx="2743200" cy="1325880"/>
          </a:xfrm>
          <a:prstGeom prst="rect">
            <a:avLst/>
          </a:prstGeom>
          <a:solidFill>
            <a:srgbClr val="112236"/>
          </a:solidFill>
          <a:ln w="1905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0" name="Shape 8"/>
          <p:cNvSpPr/>
          <p:nvPr/>
        </p:nvSpPr>
        <p:spPr>
          <a:xfrm>
            <a:off x="3291840" y="1097280"/>
            <a:ext cx="502920" cy="502920"/>
          </a:xfrm>
          <a:prstGeom prst="ellipse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1" name="Text 9"/>
          <p:cNvSpPr/>
          <p:nvPr/>
        </p:nvSpPr>
        <p:spPr>
          <a:xfrm>
            <a:off x="329184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886200" y="1078992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Temporal Service </a:t>
            </a:r>
            <a:r>
              <a:rPr lang="en-US" sz="1200" dirty="0" err="1">
                <a:solidFill>
                  <a:srgbClr val="FFFFFF"/>
                </a:solidFill>
              </a:rPr>
              <a:t>registra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el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evento</a:t>
            </a:r>
            <a:r>
              <a:rPr lang="en-US" sz="1200" dirty="0">
                <a:solidFill>
                  <a:srgbClr val="FFFFFF"/>
                </a:solidFill>
              </a:rPr>
              <a:t>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26480" y="1005840"/>
            <a:ext cx="2743200" cy="1325880"/>
          </a:xfrm>
          <a:prstGeom prst="rect">
            <a:avLst/>
          </a:prstGeom>
          <a:solidFill>
            <a:srgbClr val="112236"/>
          </a:solidFill>
          <a:ln w="19050">
            <a:solidFill>
              <a:srgbClr val="9B59B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5" name="Shape 13"/>
          <p:cNvSpPr/>
          <p:nvPr/>
        </p:nvSpPr>
        <p:spPr>
          <a:xfrm>
            <a:off x="6217920" y="1097280"/>
            <a:ext cx="502920" cy="502920"/>
          </a:xfrm>
          <a:prstGeom prst="ellipse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6" name="Text 14"/>
          <p:cNvSpPr/>
          <p:nvPr/>
        </p:nvSpPr>
        <p:spPr>
          <a:xfrm>
            <a:off x="621792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12280" y="1078992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Las </a:t>
            </a:r>
            <a:r>
              <a:rPr lang="en-US" sz="1200" dirty="0" err="1">
                <a:solidFill>
                  <a:srgbClr val="FFFFFF"/>
                </a:solidFill>
              </a:rPr>
              <a:t>tareas</a:t>
            </a:r>
            <a:r>
              <a:rPr lang="en-US" sz="1200" dirty="0">
                <a:solidFill>
                  <a:srgbClr val="FFFFFF"/>
                </a:solidFill>
              </a:rPr>
              <a:t> se </a:t>
            </a:r>
            <a:r>
              <a:rPr lang="en-US" sz="1200" dirty="0" err="1">
                <a:solidFill>
                  <a:srgbClr val="FFFFFF"/>
                </a:solidFill>
              </a:rPr>
              <a:t>programan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en</a:t>
            </a:r>
            <a:r>
              <a:rPr lang="en-US" sz="1200" dirty="0">
                <a:solidFill>
                  <a:srgbClr val="FFFFFF"/>
                </a:solidFill>
              </a:rPr>
              <a:t> Task Queue.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2651760"/>
            <a:ext cx="2743200" cy="1325880"/>
          </a:xfrm>
          <a:prstGeom prst="rect">
            <a:avLst/>
          </a:prstGeom>
          <a:solidFill>
            <a:srgbClr val="112236"/>
          </a:solidFill>
          <a:ln w="1905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9" name="Shape 17"/>
          <p:cNvSpPr/>
          <p:nvPr/>
        </p:nvSpPr>
        <p:spPr>
          <a:xfrm>
            <a:off x="365760" y="2743200"/>
            <a:ext cx="502920" cy="50292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0" name="Text 18"/>
          <p:cNvSpPr/>
          <p:nvPr/>
        </p:nvSpPr>
        <p:spPr>
          <a:xfrm>
            <a:off x="36576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60120" y="2724912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Worker consume y </a:t>
            </a:r>
            <a:r>
              <a:rPr lang="en-US" sz="1200" dirty="0" err="1">
                <a:solidFill>
                  <a:srgbClr val="FFFFFF"/>
                </a:solidFill>
              </a:rPr>
              <a:t>ejecuta</a:t>
            </a:r>
            <a:r>
              <a:rPr lang="en-US" sz="1200" dirty="0">
                <a:solidFill>
                  <a:srgbClr val="FFFFFF"/>
                </a:solidFill>
              </a:rPr>
              <a:t> la </a:t>
            </a:r>
            <a:r>
              <a:rPr lang="en-US" sz="1200" dirty="0" err="1">
                <a:solidFill>
                  <a:srgbClr val="FFFFFF"/>
                </a:solidFill>
              </a:rPr>
              <a:t>tarea</a:t>
            </a:r>
            <a:r>
              <a:rPr lang="en-US" sz="1200" dirty="0">
                <a:solidFill>
                  <a:srgbClr val="FFFFFF"/>
                </a:solidFill>
              </a:rPr>
              <a:t>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00400" y="2651760"/>
            <a:ext cx="2743200" cy="1325880"/>
          </a:xfrm>
          <a:prstGeom prst="rect">
            <a:avLst/>
          </a:prstGeom>
          <a:solidFill>
            <a:srgbClr val="112236"/>
          </a:solidFill>
          <a:ln w="1905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4" name="Shape 22"/>
          <p:cNvSpPr/>
          <p:nvPr/>
        </p:nvSpPr>
        <p:spPr>
          <a:xfrm>
            <a:off x="3291840" y="2743200"/>
            <a:ext cx="502920" cy="50292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5" name="Text 23"/>
          <p:cNvSpPr/>
          <p:nvPr/>
        </p:nvSpPr>
        <p:spPr>
          <a:xfrm>
            <a:off x="329184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886200" y="2724912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Activity </a:t>
            </a:r>
            <a:r>
              <a:rPr lang="en-US" sz="1200" dirty="0" err="1">
                <a:solidFill>
                  <a:srgbClr val="FFFFFF"/>
                </a:solidFill>
              </a:rPr>
              <a:t>realiza</a:t>
            </a:r>
            <a:r>
              <a:rPr lang="en-US" sz="1200" dirty="0">
                <a:solidFill>
                  <a:srgbClr val="FFFFFF"/>
                </a:solidFill>
              </a:rPr>
              <a:t> la </a:t>
            </a:r>
            <a:r>
              <a:rPr lang="en-US" sz="1200" dirty="0" err="1">
                <a:solidFill>
                  <a:srgbClr val="FFFFFF"/>
                </a:solidFill>
              </a:rPr>
              <a:t>operación</a:t>
            </a:r>
            <a:r>
              <a:rPr lang="en-US" sz="1200" dirty="0">
                <a:solidFill>
                  <a:srgbClr val="FFFFFF"/>
                </a:solidFill>
              </a:rPr>
              <a:t> externa.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126480" y="2651760"/>
            <a:ext cx="2743200" cy="1325880"/>
          </a:xfrm>
          <a:prstGeom prst="rect">
            <a:avLst/>
          </a:prstGeom>
          <a:solidFill>
            <a:srgbClr val="112236"/>
          </a:solidFill>
          <a:ln w="1905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9" name="Shape 27"/>
          <p:cNvSpPr/>
          <p:nvPr/>
        </p:nvSpPr>
        <p:spPr>
          <a:xfrm>
            <a:off x="6217920" y="2743200"/>
            <a:ext cx="502920" cy="50292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0" name="Text 28"/>
          <p:cNvSpPr/>
          <p:nvPr/>
        </p:nvSpPr>
        <p:spPr>
          <a:xfrm>
            <a:off x="621792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6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812280" y="2724912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Se </a:t>
            </a:r>
            <a:r>
              <a:rPr lang="en-US" sz="1200" dirty="0" err="1">
                <a:solidFill>
                  <a:srgbClr val="FFFFFF"/>
                </a:solidFill>
              </a:rPr>
              <a:t>devuelve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el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resultado</a:t>
            </a:r>
            <a:r>
              <a:rPr lang="en-US" sz="1200" dirty="0">
                <a:solidFill>
                  <a:srgbClr val="FFFFFF"/>
                </a:solidFill>
              </a:rPr>
              <a:t> y se </a:t>
            </a:r>
            <a:r>
              <a:rPr lang="en-US" sz="1200" dirty="0" err="1">
                <a:solidFill>
                  <a:srgbClr val="FFFFFF"/>
                </a:solidFill>
              </a:rPr>
              <a:t>actualiza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el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historial</a:t>
            </a:r>
            <a:r>
              <a:rPr lang="en-US" sz="1200" dirty="0">
                <a:solidFill>
                  <a:srgbClr val="FFFFFF"/>
                </a:solidFill>
              </a:rPr>
              <a:t>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74320" y="4434840"/>
            <a:ext cx="8595360" cy="4572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3" name="Text 31"/>
          <p:cNvSpPr/>
          <p:nvPr/>
        </p:nvSpPr>
        <p:spPr>
          <a:xfrm>
            <a:off x="457200" y="4434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</a:rPr>
              <a:t>🔄  En </a:t>
            </a:r>
            <a:r>
              <a:rPr lang="en-US" sz="1100" i="1" dirty="0" err="1">
                <a:solidFill>
                  <a:srgbClr val="FFFFFF"/>
                </a:solidFill>
              </a:rPr>
              <a:t>caso</a:t>
            </a:r>
            <a:r>
              <a:rPr lang="en-US" sz="1100" i="1" dirty="0">
                <a:solidFill>
                  <a:srgbClr val="FFFFFF"/>
                </a:solidFill>
              </a:rPr>
              <a:t> de </a:t>
            </a:r>
            <a:r>
              <a:rPr lang="en-US" sz="1100" i="1" dirty="0" err="1">
                <a:solidFill>
                  <a:srgbClr val="FFFFFF"/>
                </a:solidFill>
              </a:rPr>
              <a:t>fallo</a:t>
            </a:r>
            <a:r>
              <a:rPr lang="en-US" sz="1100" i="1" dirty="0">
                <a:solidFill>
                  <a:srgbClr val="FFFFFF"/>
                </a:solidFill>
              </a:rPr>
              <a:t>: Temporal </a:t>
            </a:r>
            <a:r>
              <a:rPr lang="en-US" sz="1100" i="1" dirty="0" err="1">
                <a:solidFill>
                  <a:srgbClr val="FFFFFF"/>
                </a:solidFill>
              </a:rPr>
              <a:t>aplica</a:t>
            </a:r>
            <a:r>
              <a:rPr lang="en-US" sz="1100" i="1" dirty="0">
                <a:solidFill>
                  <a:srgbClr val="FFFFFF"/>
                </a:solidFill>
              </a:rPr>
              <a:t> las </a:t>
            </a:r>
            <a:r>
              <a:rPr lang="en-US" sz="1100" i="1" dirty="0" err="1">
                <a:solidFill>
                  <a:srgbClr val="FFFFFF"/>
                </a:solidFill>
              </a:rPr>
              <a:t>políticas</a:t>
            </a:r>
            <a:r>
              <a:rPr lang="en-US" sz="1100" i="1" dirty="0">
                <a:solidFill>
                  <a:srgbClr val="FFFFFF"/>
                </a:solidFill>
              </a:rPr>
              <a:t> de </a:t>
            </a:r>
            <a:r>
              <a:rPr lang="en-US" sz="1100" i="1" dirty="0" err="1">
                <a:solidFill>
                  <a:srgbClr val="FFFFFF"/>
                </a:solidFill>
              </a:rPr>
              <a:t>reintento</a:t>
            </a:r>
            <a:r>
              <a:rPr lang="en-US" sz="1100" i="1" dirty="0">
                <a:solidFill>
                  <a:srgbClr val="FFFFFF"/>
                </a:solidFill>
              </a:rPr>
              <a:t> y </a:t>
            </a:r>
            <a:r>
              <a:rPr lang="en-US" sz="1100" i="1" dirty="0" err="1">
                <a:solidFill>
                  <a:srgbClr val="FFFFFF"/>
                </a:solidFill>
              </a:rPr>
              <a:t>reanuda</a:t>
            </a:r>
            <a:r>
              <a:rPr lang="en-US" sz="1100" i="1" dirty="0">
                <a:solidFill>
                  <a:srgbClr val="FFFFFF"/>
                </a:solidFill>
              </a:rPr>
              <a:t> la </a:t>
            </a:r>
            <a:r>
              <a:rPr lang="en-US" sz="1100" i="1" dirty="0" err="1">
                <a:solidFill>
                  <a:srgbClr val="FFFFFF"/>
                </a:solidFill>
              </a:rPr>
              <a:t>ejecución</a:t>
            </a:r>
            <a:r>
              <a:rPr lang="en-US" sz="1100" i="1" dirty="0">
                <a:solidFill>
                  <a:srgbClr val="FFFFFF"/>
                </a:solidFill>
              </a:rPr>
              <a:t> </a:t>
            </a:r>
            <a:r>
              <a:rPr lang="en-US" sz="1100" i="1" dirty="0" err="1">
                <a:solidFill>
                  <a:srgbClr val="FFFFFF"/>
                </a:solidFill>
              </a:rPr>
              <a:t>en</a:t>
            </a:r>
            <a:r>
              <a:rPr lang="en-US" sz="1100" i="1" dirty="0">
                <a:solidFill>
                  <a:srgbClr val="FFFFFF"/>
                </a:solidFill>
              </a:rPr>
              <a:t> </a:t>
            </a:r>
            <a:r>
              <a:rPr lang="en-US" sz="1100" i="1" dirty="0" err="1">
                <a:solidFill>
                  <a:srgbClr val="FFFFFF"/>
                </a:solidFill>
              </a:rPr>
              <a:t>función</a:t>
            </a:r>
            <a:r>
              <a:rPr lang="en-US" sz="1100" i="1" dirty="0">
                <a:solidFill>
                  <a:srgbClr val="FFFFFF"/>
                </a:solidFill>
              </a:rPr>
              <a:t> del </a:t>
            </a:r>
            <a:r>
              <a:rPr lang="en-US" sz="1100" i="1" dirty="0" err="1">
                <a:solidFill>
                  <a:srgbClr val="FFFFFF"/>
                </a:solidFill>
              </a:rPr>
              <a:t>historial</a:t>
            </a:r>
            <a:r>
              <a:rPr lang="en-US" sz="1100" i="1" dirty="0">
                <a:solidFill>
                  <a:srgbClr val="FFFFFF"/>
                </a:solidFill>
              </a:rPr>
              <a:t> de </a:t>
            </a:r>
            <a:r>
              <a:rPr lang="en-US" sz="1100" i="1" dirty="0" err="1">
                <a:solidFill>
                  <a:srgbClr val="FFFFFF"/>
                </a:solidFill>
              </a:rPr>
              <a:t>eventos</a:t>
            </a:r>
            <a:r>
              <a:rPr lang="en-US" sz="1100" i="1" dirty="0">
                <a:solidFill>
                  <a:srgbClr val="FFFFFF"/>
                </a:solidFill>
              </a:rPr>
              <a:t>.</a:t>
            </a:r>
            <a:endParaRPr lang="en-US" sz="1100" dirty="0"/>
          </a:p>
        </p:txBody>
      </p:sp>
      <p:cxnSp>
        <p:nvCxnSpPr>
          <p:cNvPr id="34" name="Conexão Reta Unidirecional 33">
            <a:extLst>
              <a:ext uri="{FF2B5EF4-FFF2-40B4-BE49-F238E27FC236}">
                <a16:creationId xmlns:a16="http://schemas.microsoft.com/office/drawing/2014/main" id="{06BC731E-5FA7-9DE4-0099-4DDF5EC35A24}"/>
              </a:ext>
            </a:extLst>
          </p:cNvPr>
          <p:cNvCxnSpPr>
            <a:cxnSpLocks/>
          </p:cNvCxnSpPr>
          <p:nvPr/>
        </p:nvCxnSpPr>
        <p:spPr>
          <a:xfrm>
            <a:off x="3017520" y="1668780"/>
            <a:ext cx="18288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exão Reta Unidirecional 34">
            <a:extLst>
              <a:ext uri="{FF2B5EF4-FFF2-40B4-BE49-F238E27FC236}">
                <a16:creationId xmlns:a16="http://schemas.microsoft.com/office/drawing/2014/main" id="{5ADA2D49-254B-8274-AABC-40F9046D3AC7}"/>
              </a:ext>
            </a:extLst>
          </p:cNvPr>
          <p:cNvCxnSpPr>
            <a:cxnSpLocks/>
          </p:cNvCxnSpPr>
          <p:nvPr/>
        </p:nvCxnSpPr>
        <p:spPr>
          <a:xfrm>
            <a:off x="5943600" y="1668780"/>
            <a:ext cx="18288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exão Reta Unidirecional 35">
            <a:extLst>
              <a:ext uri="{FF2B5EF4-FFF2-40B4-BE49-F238E27FC236}">
                <a16:creationId xmlns:a16="http://schemas.microsoft.com/office/drawing/2014/main" id="{B8D804C8-CA41-F327-9B64-FC25871AA272}"/>
              </a:ext>
            </a:extLst>
          </p:cNvPr>
          <p:cNvCxnSpPr>
            <a:cxnSpLocks/>
          </p:cNvCxnSpPr>
          <p:nvPr/>
        </p:nvCxnSpPr>
        <p:spPr>
          <a:xfrm>
            <a:off x="3017520" y="3314700"/>
            <a:ext cx="18288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exão Reta Unidirecional 36">
            <a:extLst>
              <a:ext uri="{FF2B5EF4-FFF2-40B4-BE49-F238E27FC236}">
                <a16:creationId xmlns:a16="http://schemas.microsoft.com/office/drawing/2014/main" id="{073E7D96-C155-470F-114A-C83D50DC5996}"/>
              </a:ext>
            </a:extLst>
          </p:cNvPr>
          <p:cNvCxnSpPr>
            <a:cxnSpLocks/>
          </p:cNvCxnSpPr>
          <p:nvPr/>
        </p:nvCxnSpPr>
        <p:spPr>
          <a:xfrm flipV="1">
            <a:off x="5943600" y="3310944"/>
            <a:ext cx="182880" cy="375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 dirty="0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08  / </a:t>
            </a:r>
            <a:r>
              <a:rPr lang="en-US" sz="2400" b="1" dirty="0" err="1">
                <a:solidFill>
                  <a:srgbClr val="FFFFFF"/>
                </a:solidFill>
              </a:rPr>
              <a:t>Conclusión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8412480" cy="1005840"/>
          </a:xfrm>
          <a:prstGeom prst="rect">
            <a:avLst/>
          </a:prstGeom>
          <a:solidFill>
            <a:srgbClr val="112236"/>
          </a:solidFill>
          <a:ln w="254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</a:rPr>
              <a:t>Temporal IO no es solo </a:t>
            </a:r>
            <a:r>
              <a:rPr lang="en-US" sz="1300" i="1" dirty="0" err="1">
                <a:solidFill>
                  <a:srgbClr val="FFFFFF"/>
                </a:solidFill>
              </a:rPr>
              <a:t>una</a:t>
            </a:r>
            <a:r>
              <a:rPr lang="en-US" sz="1300" i="1" dirty="0">
                <a:solidFill>
                  <a:srgbClr val="FFFFFF"/>
                </a:solidFill>
              </a:rPr>
              <a:t> </a:t>
            </a:r>
            <a:r>
              <a:rPr lang="en-US" sz="1300" i="1" dirty="0" err="1">
                <a:solidFill>
                  <a:srgbClr val="FFFFFF"/>
                </a:solidFill>
              </a:rPr>
              <a:t>herramienta</a:t>
            </a:r>
            <a:r>
              <a:rPr lang="en-US" sz="1300" i="1" dirty="0">
                <a:solidFill>
                  <a:srgbClr val="FFFFFF"/>
                </a:solidFill>
              </a:rPr>
              <a:t> de </a:t>
            </a:r>
            <a:r>
              <a:rPr lang="en-US" sz="1300" i="1" dirty="0" err="1">
                <a:solidFill>
                  <a:srgbClr val="FFFFFF"/>
                </a:solidFill>
              </a:rPr>
              <a:t>orquestación</a:t>
            </a:r>
            <a:r>
              <a:rPr lang="en-US" sz="1300" i="1" dirty="0">
                <a:solidFill>
                  <a:srgbClr val="FFFFFF"/>
                </a:solidFill>
              </a:rPr>
              <a:t>, </a:t>
            </a:r>
            <a:r>
              <a:rPr lang="en-US" sz="1300" i="1" dirty="0" err="1">
                <a:solidFill>
                  <a:srgbClr val="FFFFFF"/>
                </a:solidFill>
              </a:rPr>
              <a:t>sino</a:t>
            </a:r>
            <a:r>
              <a:rPr lang="en-US" sz="1300" i="1" dirty="0">
                <a:solidFill>
                  <a:srgbClr val="FFFFFF"/>
                </a:solidFill>
              </a:rPr>
              <a:t> </a:t>
            </a:r>
            <a:r>
              <a:rPr lang="en-US" sz="1300" i="1" dirty="0" err="1">
                <a:solidFill>
                  <a:srgbClr val="FFFFFF"/>
                </a:solidFill>
              </a:rPr>
              <a:t>una</a:t>
            </a:r>
            <a:r>
              <a:rPr lang="en-US" sz="1300" i="1" dirty="0">
                <a:solidFill>
                  <a:srgbClr val="FFFFFF"/>
                </a:solidFill>
              </a:rPr>
              <a:t> </a:t>
            </a:r>
            <a:r>
              <a:rPr lang="en-US" sz="1300" i="1" dirty="0" err="1">
                <a:solidFill>
                  <a:srgbClr val="FFFFFF"/>
                </a:solidFill>
              </a:rPr>
              <a:t>plataforma</a:t>
            </a:r>
            <a:r>
              <a:rPr lang="en-US" sz="1300" i="1" dirty="0">
                <a:solidFill>
                  <a:srgbClr val="FFFFFF"/>
                </a:solidFill>
              </a:rPr>
              <a:t> </a:t>
            </a:r>
            <a:r>
              <a:rPr lang="en-US" sz="1300" i="1" dirty="0" err="1">
                <a:solidFill>
                  <a:srgbClr val="FFFFFF"/>
                </a:solidFill>
              </a:rPr>
              <a:t>completa</a:t>
            </a:r>
            <a:r>
              <a:rPr lang="en-US" sz="1300" i="1" dirty="0">
                <a:solidFill>
                  <a:srgbClr val="FFFFFF"/>
                </a:solidFill>
              </a:rPr>
              <a:t> para </a:t>
            </a:r>
            <a:r>
              <a:rPr lang="en-US" sz="1300" i="1" dirty="0" err="1">
                <a:solidFill>
                  <a:srgbClr val="FFFFFF"/>
                </a:solidFill>
              </a:rPr>
              <a:t>crear</a:t>
            </a:r>
            <a:r>
              <a:rPr lang="en-US" sz="1300" i="1" dirty="0">
                <a:solidFill>
                  <a:srgbClr val="FFFFFF"/>
                </a:solidFill>
              </a:rPr>
              <a:t> </a:t>
            </a:r>
            <a:r>
              <a:rPr lang="en-US" sz="1300" i="1" dirty="0" err="1">
                <a:solidFill>
                  <a:srgbClr val="FFFFFF"/>
                </a:solidFill>
              </a:rPr>
              <a:t>aplicaciones</a:t>
            </a:r>
            <a:r>
              <a:rPr lang="en-US" sz="1300" i="1" dirty="0">
                <a:solidFill>
                  <a:srgbClr val="FFFFFF"/>
                </a:solidFill>
              </a:rPr>
              <a:t> </a:t>
            </a:r>
            <a:r>
              <a:rPr lang="en-US" sz="1300" i="1" dirty="0" err="1">
                <a:solidFill>
                  <a:srgbClr val="FFFFFF"/>
                </a:solidFill>
              </a:rPr>
              <a:t>distribuidas</a:t>
            </a:r>
            <a:r>
              <a:rPr lang="en-US" sz="1300" i="1" dirty="0">
                <a:solidFill>
                  <a:srgbClr val="FFFFFF"/>
                </a:solidFill>
              </a:rPr>
              <a:t> </a:t>
            </a:r>
            <a:r>
              <a:rPr lang="en-US" sz="1300" i="1" dirty="0" err="1">
                <a:solidFill>
                  <a:srgbClr val="FFFFFF"/>
                </a:solidFill>
              </a:rPr>
              <a:t>resilientes</a:t>
            </a:r>
            <a:r>
              <a:rPr lang="en-US" sz="1300" i="1" dirty="0">
                <a:solidFill>
                  <a:srgbClr val="FFFFFF"/>
                </a:solidFill>
              </a:rPr>
              <a:t>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2148840"/>
            <a:ext cx="3977640" cy="2651760"/>
          </a:xfrm>
          <a:prstGeom prst="rect">
            <a:avLst/>
          </a:prstGeom>
          <a:solidFill>
            <a:srgbClr val="112236"/>
          </a:solidFill>
          <a:ln w="127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7" name="Shape 5"/>
          <p:cNvSpPr/>
          <p:nvPr/>
        </p:nvSpPr>
        <p:spPr>
          <a:xfrm>
            <a:off x="365760" y="2148840"/>
            <a:ext cx="3977640" cy="4572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8" name="Text 6"/>
          <p:cNvSpPr/>
          <p:nvPr/>
        </p:nvSpPr>
        <p:spPr>
          <a:xfrm>
            <a:off x="365760" y="214884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✅ </a:t>
            </a:r>
            <a:r>
              <a:rPr lang="en-US" sz="1300" b="1" dirty="0" err="1">
                <a:solidFill>
                  <a:srgbClr val="0D1B2A"/>
                </a:solidFill>
              </a:rPr>
              <a:t>Utilizar</a:t>
            </a:r>
            <a:r>
              <a:rPr lang="en-US" sz="1300" b="1" dirty="0">
                <a:solidFill>
                  <a:srgbClr val="0D1B2A"/>
                </a:solidFill>
              </a:rPr>
              <a:t> </a:t>
            </a:r>
            <a:r>
              <a:rPr lang="en-US" sz="1300" b="1" dirty="0" err="1">
                <a:solidFill>
                  <a:srgbClr val="0D1B2A"/>
                </a:solidFill>
              </a:rPr>
              <a:t>cuando</a:t>
            </a:r>
            <a:r>
              <a:rPr lang="en-US" sz="1300" b="1" dirty="0">
                <a:solidFill>
                  <a:srgbClr val="0D1B2A"/>
                </a:solidFill>
              </a:rPr>
              <a:t>…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69748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</a:t>
            </a:r>
            <a:r>
              <a:rPr lang="en-US" sz="1100" dirty="0" err="1">
                <a:solidFill>
                  <a:srgbClr val="FFFFFF"/>
                </a:solidFill>
              </a:rPr>
              <a:t>Múltiples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integraciones</a:t>
            </a:r>
            <a:r>
              <a:rPr lang="en-US" sz="1100" dirty="0">
                <a:solidFill>
                  <a:srgbClr val="FFFFFF"/>
                </a:solidFill>
              </a:rPr>
              <a:t> entre </a:t>
            </a:r>
            <a:r>
              <a:rPr lang="en-US" sz="1100" dirty="0" err="1">
                <a:solidFill>
                  <a:srgbClr val="FFFFFF"/>
                </a:solidFill>
              </a:rPr>
              <a:t>servicios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320040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</a:t>
            </a:r>
            <a:r>
              <a:rPr lang="en-US" sz="1100" dirty="0" err="1">
                <a:solidFill>
                  <a:srgbClr val="FFFFFF"/>
                </a:solidFill>
              </a:rPr>
              <a:t>Dependencia</a:t>
            </a:r>
            <a:r>
              <a:rPr lang="en-US" sz="1100" dirty="0">
                <a:solidFill>
                  <a:srgbClr val="FFFFFF"/>
                </a:solidFill>
              </a:rPr>
              <a:t> de </a:t>
            </a:r>
            <a:r>
              <a:rPr lang="en-US" sz="1100" dirty="0" err="1">
                <a:solidFill>
                  <a:srgbClr val="FFFFFF"/>
                </a:solidFill>
              </a:rPr>
              <a:t>sistemas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externos</a:t>
            </a:r>
            <a:r>
              <a:rPr lang="en-US" sz="1100" dirty="0">
                <a:solidFill>
                  <a:srgbClr val="FFFFFF"/>
                </a:solidFill>
              </a:rPr>
              <a:t> que </a:t>
            </a:r>
            <a:r>
              <a:rPr lang="en-US" sz="1100" dirty="0" err="1">
                <a:solidFill>
                  <a:srgbClr val="FFFFFF"/>
                </a:solidFill>
              </a:rPr>
              <a:t>están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sujetos</a:t>
            </a:r>
            <a:r>
              <a:rPr lang="en-US" sz="1100" dirty="0">
                <a:solidFill>
                  <a:srgbClr val="FFFFFF"/>
                </a:solidFill>
              </a:rPr>
              <a:t> a </a:t>
            </a:r>
            <a:r>
              <a:rPr lang="en-US" sz="1100" dirty="0" err="1">
                <a:solidFill>
                  <a:srgbClr val="FFFFFF"/>
                </a:solidFill>
              </a:rPr>
              <a:t>fallos</a:t>
            </a:r>
            <a:r>
              <a:rPr lang="en-US" sz="1100" dirty="0">
                <a:solidFill>
                  <a:srgbClr val="FFFFFF"/>
                </a:solidFill>
              </a:rPr>
              <a:t>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370332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</a:t>
            </a:r>
            <a:r>
              <a:rPr lang="en-US" sz="1100" dirty="0" err="1">
                <a:solidFill>
                  <a:srgbClr val="FFFFFF"/>
                </a:solidFill>
              </a:rPr>
              <a:t>Procesos</a:t>
            </a:r>
            <a:r>
              <a:rPr lang="en-US" sz="1100" dirty="0">
                <a:solidFill>
                  <a:srgbClr val="FFFFFF"/>
                </a:solidFill>
              </a:rPr>
              <a:t> largos o </a:t>
            </a:r>
            <a:r>
              <a:rPr lang="en-US" sz="1100" dirty="0" err="1">
                <a:solidFill>
                  <a:srgbClr val="FFFFFF"/>
                </a:solidFill>
              </a:rPr>
              <a:t>asíncronos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420624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</a:t>
            </a:r>
            <a:r>
              <a:rPr lang="en-US" sz="1100" dirty="0" err="1">
                <a:solidFill>
                  <a:srgbClr val="FFFFFF"/>
                </a:solidFill>
              </a:rPr>
              <a:t>Necesita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trazabilidad</a:t>
            </a:r>
            <a:r>
              <a:rPr lang="en-US" sz="1100" dirty="0">
                <a:solidFill>
                  <a:srgbClr val="FFFFFF"/>
                </a:solidFill>
              </a:rPr>
              <a:t> y un </a:t>
            </a:r>
            <a:r>
              <a:rPr lang="en-US" sz="1100" dirty="0" err="1">
                <a:solidFill>
                  <a:srgbClr val="FFFFFF"/>
                </a:solidFill>
              </a:rPr>
              <a:t>reprocesamiento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fiable</a:t>
            </a:r>
            <a:r>
              <a:rPr lang="en-US" sz="1100" dirty="0">
                <a:solidFill>
                  <a:srgbClr val="FFFFFF"/>
                </a:solidFill>
              </a:rPr>
              <a:t>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800600" y="2148840"/>
            <a:ext cx="3977640" cy="2651760"/>
          </a:xfrm>
          <a:prstGeom prst="rect">
            <a:avLst/>
          </a:prstGeom>
          <a:solidFill>
            <a:srgbClr val="112236"/>
          </a:solidFill>
          <a:ln w="12700">
            <a:solidFill>
              <a:srgbClr val="CC44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4" name="Shape 12"/>
          <p:cNvSpPr/>
          <p:nvPr/>
        </p:nvSpPr>
        <p:spPr>
          <a:xfrm>
            <a:off x="4800600" y="2148840"/>
            <a:ext cx="3977640" cy="457200"/>
          </a:xfrm>
          <a:prstGeom prst="rect">
            <a:avLst/>
          </a:prstGeom>
          <a:solidFill>
            <a:srgbClr val="CC4444"/>
          </a:solidFill>
          <a:ln w="12700">
            <a:solidFill>
              <a:srgbClr val="CC4444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5" name="Text 13"/>
          <p:cNvSpPr/>
          <p:nvPr/>
        </p:nvSpPr>
        <p:spPr>
          <a:xfrm>
            <a:off x="4800600" y="214884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⚠️ </a:t>
            </a:r>
            <a:r>
              <a:rPr lang="en-US" sz="1300" b="1" dirty="0" err="1">
                <a:solidFill>
                  <a:srgbClr val="FFFFFF"/>
                </a:solidFill>
              </a:rPr>
              <a:t>Reconsidera</a:t>
            </a:r>
            <a:r>
              <a:rPr lang="en-US" sz="1300" b="1" dirty="0">
                <a:solidFill>
                  <a:srgbClr val="FFFFFF"/>
                </a:solidFill>
              </a:rPr>
              <a:t> </a:t>
            </a:r>
            <a:r>
              <a:rPr lang="en-US" sz="1300" b="1" dirty="0" err="1">
                <a:solidFill>
                  <a:srgbClr val="FFFFFF"/>
                </a:solidFill>
              </a:rPr>
              <a:t>cuando</a:t>
            </a:r>
            <a:r>
              <a:rPr lang="en-US" sz="1300" b="1" dirty="0">
                <a:solidFill>
                  <a:srgbClr val="FFFFFF"/>
                </a:solidFill>
              </a:rPr>
              <a:t>…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83480" y="269748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</a:t>
            </a:r>
            <a:r>
              <a:rPr lang="en-US" sz="1100" dirty="0" err="1">
                <a:solidFill>
                  <a:srgbClr val="FFFFFF"/>
                </a:solidFill>
              </a:rPr>
              <a:t>Requiere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facilidad</a:t>
            </a:r>
            <a:r>
              <a:rPr lang="en-US" sz="1100" dirty="0">
                <a:solidFill>
                  <a:srgbClr val="FFFFFF"/>
                </a:solidFill>
              </a:rPr>
              <a:t> de </a:t>
            </a:r>
            <a:r>
              <a:rPr lang="en-US" sz="1100" dirty="0" err="1">
                <a:solidFill>
                  <a:srgbClr val="FFFFFF"/>
                </a:solidFill>
              </a:rPr>
              <a:t>transporte</a:t>
            </a:r>
            <a:r>
              <a:rPr lang="en-US" sz="1100" dirty="0">
                <a:solidFill>
                  <a:srgbClr val="FFFFFF"/>
                </a:solidFill>
              </a:rPr>
              <a:t> y </a:t>
            </a:r>
            <a:r>
              <a:rPr lang="en-US" sz="1100" dirty="0" err="1">
                <a:solidFill>
                  <a:srgbClr val="FFFFFF"/>
                </a:solidFill>
              </a:rPr>
              <a:t>reprocesamiento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fiable</a:t>
            </a:r>
            <a:r>
              <a:rPr lang="en-US" sz="1100" dirty="0">
                <a:solidFill>
                  <a:srgbClr val="FFFFFF"/>
                </a:solidFill>
              </a:rPr>
              <a:t>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83480" y="320040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</a:t>
            </a:r>
            <a:r>
              <a:rPr lang="en-US" sz="1100" dirty="0" err="1">
                <a:solidFill>
                  <a:srgbClr val="FFFFFF"/>
                </a:solidFill>
              </a:rPr>
              <a:t>Equipos</a:t>
            </a:r>
            <a:r>
              <a:rPr lang="en-US" sz="1100" dirty="0">
                <a:solidFill>
                  <a:srgbClr val="FFFFFF"/>
                </a:solidFill>
              </a:rPr>
              <a:t> sin </a:t>
            </a:r>
            <a:r>
              <a:rPr lang="en-US" sz="1100" dirty="0" err="1">
                <a:solidFill>
                  <a:srgbClr val="FFFFFF"/>
                </a:solidFill>
              </a:rPr>
              <a:t>tiempo</a:t>
            </a:r>
            <a:r>
              <a:rPr lang="en-US" sz="1100" dirty="0">
                <a:solidFill>
                  <a:srgbClr val="FFFFFF"/>
                </a:solidFill>
              </a:rPr>
              <a:t> para </a:t>
            </a:r>
            <a:r>
              <a:rPr lang="en-US" sz="1100" dirty="0" err="1">
                <a:solidFill>
                  <a:srgbClr val="FFFFFF"/>
                </a:solidFill>
              </a:rPr>
              <a:t>una</a:t>
            </a:r>
            <a:r>
              <a:rPr lang="en-US" sz="1100" dirty="0">
                <a:solidFill>
                  <a:srgbClr val="FFFFFF"/>
                </a:solidFill>
              </a:rPr>
              <a:t> curva de </a:t>
            </a:r>
            <a:r>
              <a:rPr lang="en-US" sz="1100" dirty="0" err="1">
                <a:solidFill>
                  <a:srgbClr val="FFFFFF"/>
                </a:solidFill>
              </a:rPr>
              <a:t>aprendizaje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83480" y="370332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</a:t>
            </a:r>
            <a:r>
              <a:rPr lang="en-US" sz="1100" dirty="0" err="1">
                <a:solidFill>
                  <a:srgbClr val="FFFFFF"/>
                </a:solidFill>
              </a:rPr>
              <a:t>Proyectos</a:t>
            </a:r>
            <a:r>
              <a:rPr lang="en-US" sz="1100" dirty="0">
                <a:solidFill>
                  <a:srgbClr val="FFFFFF"/>
                </a:solidFill>
              </a:rPr>
              <a:t> que no </a:t>
            </a:r>
            <a:r>
              <a:rPr lang="en-US" sz="1100" dirty="0" err="1">
                <a:solidFill>
                  <a:srgbClr val="FFFFFF"/>
                </a:solidFill>
              </a:rPr>
              <a:t>requieren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alta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resiliencia</a:t>
            </a:r>
            <a:r>
              <a:rPr lang="en-US" sz="1100" dirty="0">
                <a:solidFill>
                  <a:srgbClr val="FFFFFF"/>
                </a:solidFill>
              </a:rPr>
              <a:t>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2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" name="Shape 2"/>
          <p:cNvSpPr/>
          <p:nvPr/>
        </p:nvSpPr>
        <p:spPr>
          <a:xfrm>
            <a:off x="5943600" y="-914400"/>
            <a:ext cx="4572000" cy="4572000"/>
          </a:xfrm>
          <a:prstGeom prst="ellipse">
            <a:avLst/>
          </a:prstGeom>
          <a:solidFill>
            <a:srgbClr val="1B6CA8">
              <a:alpha val="15000"/>
            </a:srgbClr>
          </a:solidFill>
          <a:ln w="12700">
            <a:solidFill>
              <a:srgbClr val="1B6CA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Gracias!</a:t>
            </a:r>
            <a:endParaRPr lang="en-US" sz="5200" dirty="0">
              <a:solidFill>
                <a:srgbClr val="002060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D9CDB"/>
                </a:solidFill>
              </a:rPr>
              <a:t>Temporal IO  •  Workflows Durables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8229600" cy="0"/>
          </a:xfrm>
          <a:prstGeom prst="line">
            <a:avLst/>
          </a:prstGeom>
          <a:noFill/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8" name="Text 6"/>
          <p:cNvSpPr/>
          <p:nvPr/>
        </p:nvSpPr>
        <p:spPr>
          <a:xfrm>
            <a:off x="457200" y="25146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A"/>
                </a:solidFill>
              </a:rPr>
              <a:t>📚  </a:t>
            </a:r>
            <a:r>
              <a:rPr lang="en-US" sz="1400" b="1" dirty="0" err="1">
                <a:solidFill>
                  <a:srgbClr val="00D4AA"/>
                </a:solidFill>
              </a:rPr>
              <a:t>Referencias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01752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3"/>
                </a:solidFill>
              </a:rPr>
              <a:t>•  temporal.io  —  </a:t>
            </a:r>
            <a:r>
              <a:rPr lang="en-US" sz="1100" dirty="0" err="1">
                <a:solidFill>
                  <a:srgbClr val="8FA3B3"/>
                </a:solidFill>
              </a:rPr>
              <a:t>Documentación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oficial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40156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3"/>
                </a:solidFill>
              </a:rPr>
              <a:t>•  docs.temporal.io/encyclopedia  —  Encyclopedia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785616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3"/>
                </a:solidFill>
              </a:rPr>
              <a:t>•  learn.temporal.io  —  Academia Temporal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4169664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3"/>
                </a:solidFill>
              </a:rPr>
              <a:t>•  youtube.com/@Temporalio  —  </a:t>
            </a:r>
            <a:r>
              <a:rPr lang="en-US" sz="1100" dirty="0" err="1">
                <a:solidFill>
                  <a:srgbClr val="8FA3B3"/>
                </a:solidFill>
              </a:rPr>
              <a:t>Vídeos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oficiales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824</Words>
  <Application>Microsoft Macintosh PowerPoint</Application>
  <PresentationFormat>Apresentação no Ecrã (16:9)</PresentationFormat>
  <Paragraphs>160</Paragraphs>
  <Slides>12</Slides>
  <Notes>12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12</vt:i4>
      </vt:variant>
    </vt:vector>
  </HeadingPairs>
  <TitlesOfParts>
    <vt:vector size="16" baseType="lpstr">
      <vt:lpstr>Arial</vt:lpstr>
      <vt:lpstr>Calibri</vt:lpstr>
      <vt:lpstr>Wingdings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Temporal IO</dc:title>
  <dc:subject>PptxGenJS Presentation</dc:subject>
  <dc:creator>PptxGenJS</dc:creator>
  <cp:lastModifiedBy>Pedro Bruno Viveiros Ferreira</cp:lastModifiedBy>
  <cp:revision>27</cp:revision>
  <cp:lastPrinted>2026-04-09T08:34:09Z</cp:lastPrinted>
  <dcterms:created xsi:type="dcterms:W3CDTF">2026-04-09T07:59:40Z</dcterms:created>
  <dcterms:modified xsi:type="dcterms:W3CDTF">2026-04-17T11:14:30Z</dcterms:modified>
</cp:coreProperties>
</file>