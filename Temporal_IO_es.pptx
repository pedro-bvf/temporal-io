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66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1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34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858000" y="-548640"/>
            <a:ext cx="3657600" cy="36576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PLATAFORMA OPEN-SOURCE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IO</a:t>
            </a:r>
            <a:endParaRPr lang="en-US" sz="60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duraderos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FA3B3"/>
                </a:solidFill>
              </a:rPr>
              <a:t>Presentación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técnica</a:t>
            </a:r>
            <a:r>
              <a:rPr lang="en-US" sz="1100" dirty="0">
                <a:solidFill>
                  <a:srgbClr val="8FA3B3"/>
                </a:solidFill>
              </a:rPr>
              <a:t>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Índice</a:t>
            </a:r>
            <a:endParaRPr lang="en-US" sz="30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5CBE0D5-37D5-65C1-EED0-5C2D08344305}"/>
              </a:ext>
            </a:extLst>
          </p:cNvPr>
          <p:cNvSpPr/>
          <p:nvPr/>
        </p:nvSpPr>
        <p:spPr>
          <a:xfrm>
            <a:off x="457200" y="2057404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669FBD2C-1C25-4DA0-819D-C299F7B9E1E9}"/>
              </a:ext>
            </a:extLst>
          </p:cNvPr>
          <p:cNvSpPr/>
          <p:nvPr/>
        </p:nvSpPr>
        <p:spPr>
          <a:xfrm>
            <a:off x="457200" y="2057404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126D0715-123B-7016-E806-686A310F1FFC}"/>
              </a:ext>
            </a:extLst>
          </p:cNvPr>
          <p:cNvSpPr/>
          <p:nvPr/>
        </p:nvSpPr>
        <p:spPr>
          <a:xfrm>
            <a:off x="457200" y="20574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047130D-F635-95F7-2DFD-9CF141453A6E}"/>
              </a:ext>
            </a:extLst>
          </p:cNvPr>
          <p:cNvSpPr/>
          <p:nvPr/>
        </p:nvSpPr>
        <p:spPr>
          <a:xfrm>
            <a:off x="1051560" y="20574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Que es Temporal IO?</a:t>
            </a:r>
            <a:endParaRPr lang="en-US" sz="130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09AF871C-7CD2-E491-FD62-5483E930796F}"/>
              </a:ext>
            </a:extLst>
          </p:cNvPr>
          <p:cNvSpPr/>
          <p:nvPr/>
        </p:nvSpPr>
        <p:spPr>
          <a:xfrm>
            <a:off x="457200" y="3032409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D39D75CF-E755-12CC-C4AC-FA50B3DF41C7}"/>
              </a:ext>
            </a:extLst>
          </p:cNvPr>
          <p:cNvSpPr/>
          <p:nvPr/>
        </p:nvSpPr>
        <p:spPr>
          <a:xfrm>
            <a:off x="457200" y="3032409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5071DB4E-6726-667E-969C-661B4681B364}"/>
              </a:ext>
            </a:extLst>
          </p:cNvPr>
          <p:cNvSpPr/>
          <p:nvPr/>
        </p:nvSpPr>
        <p:spPr>
          <a:xfrm>
            <a:off x="457200" y="303240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D076EB2D-EA03-BE1E-2F4A-355C2438AAC6}"/>
              </a:ext>
            </a:extLst>
          </p:cNvPr>
          <p:cNvSpPr/>
          <p:nvPr/>
        </p:nvSpPr>
        <p:spPr>
          <a:xfrm>
            <a:off x="1051560" y="3032409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Por que usar Temporal IO?</a:t>
            </a:r>
            <a:endParaRPr lang="en-US" sz="13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CB28BC6-9E8A-0F59-1479-17769BF83BAF}"/>
              </a:ext>
            </a:extLst>
          </p:cNvPr>
          <p:cNvSpPr/>
          <p:nvPr/>
        </p:nvSpPr>
        <p:spPr>
          <a:xfrm>
            <a:off x="457200" y="4024280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F3007C12-9704-B794-31D6-DF25663416B2}"/>
              </a:ext>
            </a:extLst>
          </p:cNvPr>
          <p:cNvSpPr/>
          <p:nvPr/>
        </p:nvSpPr>
        <p:spPr>
          <a:xfrm>
            <a:off x="457200" y="402428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2A1BB4F4-47EB-E796-8295-5C56642DCE40}"/>
              </a:ext>
            </a:extLst>
          </p:cNvPr>
          <p:cNvSpPr/>
          <p:nvPr/>
        </p:nvSpPr>
        <p:spPr>
          <a:xfrm>
            <a:off x="457200" y="4024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04</a:t>
            </a:r>
            <a:endParaRPr lang="en-US" sz="13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C6B84352-9ABE-52A3-3B96-EB4C19A35E89}"/>
              </a:ext>
            </a:extLst>
          </p:cNvPr>
          <p:cNvSpPr/>
          <p:nvPr/>
        </p:nvSpPr>
        <p:spPr>
          <a:xfrm>
            <a:off x="1051560" y="40242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Ventajas</a:t>
            </a:r>
            <a:r>
              <a:rPr lang="en-US" sz="1300" dirty="0">
                <a:solidFill>
                  <a:srgbClr val="FFFFFF"/>
                </a:solidFill>
              </a:rPr>
              <a:t> y </a:t>
            </a:r>
            <a:r>
              <a:rPr lang="en-US" sz="1300" dirty="0" err="1">
                <a:solidFill>
                  <a:srgbClr val="FFFFFF"/>
                </a:solidFill>
              </a:rPr>
              <a:t>Desventajas</a:t>
            </a:r>
            <a:endParaRPr lang="en-US" sz="13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030C2BC0-71D5-1539-A32E-F0AEC19978AC}"/>
              </a:ext>
            </a:extLst>
          </p:cNvPr>
          <p:cNvSpPr/>
          <p:nvPr/>
        </p:nvSpPr>
        <p:spPr>
          <a:xfrm>
            <a:off x="4827909" y="1109556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CCD9776D-8B90-A92B-63F3-E30FF9EC035E}"/>
              </a:ext>
            </a:extLst>
          </p:cNvPr>
          <p:cNvSpPr/>
          <p:nvPr/>
        </p:nvSpPr>
        <p:spPr>
          <a:xfrm>
            <a:off x="4827909" y="1109556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378EA426-A85C-A8CB-3B47-124D8A322329}"/>
              </a:ext>
            </a:extLst>
          </p:cNvPr>
          <p:cNvSpPr/>
          <p:nvPr/>
        </p:nvSpPr>
        <p:spPr>
          <a:xfrm>
            <a:off x="4827909" y="110955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05</a:t>
            </a:r>
            <a:endParaRPr lang="en-US" sz="13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6F93D3CD-DF04-7E54-5428-5DE3B62FA62D}"/>
              </a:ext>
            </a:extLst>
          </p:cNvPr>
          <p:cNvSpPr/>
          <p:nvPr/>
        </p:nvSpPr>
        <p:spPr>
          <a:xfrm>
            <a:off x="5422269" y="110955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Conceptos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principales</a:t>
            </a:r>
            <a:endParaRPr lang="en-US" sz="130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1829AEF9-412E-A245-B7AA-34BCCBEA3E32}"/>
              </a:ext>
            </a:extLst>
          </p:cNvPr>
          <p:cNvSpPr/>
          <p:nvPr/>
        </p:nvSpPr>
        <p:spPr>
          <a:xfrm>
            <a:off x="4827909" y="2057404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A2705A9D-7F68-CBFB-E052-4269CBDC6C88}"/>
              </a:ext>
            </a:extLst>
          </p:cNvPr>
          <p:cNvSpPr/>
          <p:nvPr/>
        </p:nvSpPr>
        <p:spPr>
          <a:xfrm>
            <a:off x="4827909" y="2057404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6021C24C-5F04-D720-7408-4F2C1562C531}"/>
              </a:ext>
            </a:extLst>
          </p:cNvPr>
          <p:cNvSpPr/>
          <p:nvPr/>
        </p:nvSpPr>
        <p:spPr>
          <a:xfrm>
            <a:off x="4827909" y="20574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06</a:t>
            </a:r>
            <a:endParaRPr lang="en-US" sz="13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F24361E4-E911-1ED1-E316-129B57614FF8}"/>
              </a:ext>
            </a:extLst>
          </p:cNvPr>
          <p:cNvSpPr/>
          <p:nvPr/>
        </p:nvSpPr>
        <p:spPr>
          <a:xfrm>
            <a:off x="5422269" y="20574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Arquitectura</a:t>
            </a:r>
            <a:r>
              <a:rPr lang="en-US" sz="1300" dirty="0">
                <a:solidFill>
                  <a:srgbClr val="FFFFFF"/>
                </a:solidFill>
              </a:rPr>
              <a:t> General</a:t>
            </a:r>
            <a:endParaRPr lang="en-US" sz="130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8D28D6F0-EFDC-E664-A186-D1A5173E1B76}"/>
              </a:ext>
            </a:extLst>
          </p:cNvPr>
          <p:cNvSpPr/>
          <p:nvPr/>
        </p:nvSpPr>
        <p:spPr>
          <a:xfrm>
            <a:off x="4827909" y="4024280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7B635ADC-FEE0-B500-7AE4-FD0E08514288}"/>
              </a:ext>
            </a:extLst>
          </p:cNvPr>
          <p:cNvSpPr/>
          <p:nvPr/>
        </p:nvSpPr>
        <p:spPr>
          <a:xfrm>
            <a:off x="4827909" y="402428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CCA247E0-6616-55EC-45BF-88AD57C14D38}"/>
              </a:ext>
            </a:extLst>
          </p:cNvPr>
          <p:cNvSpPr/>
          <p:nvPr/>
        </p:nvSpPr>
        <p:spPr>
          <a:xfrm>
            <a:off x="4827909" y="4024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08</a:t>
            </a:r>
            <a:endParaRPr lang="en-US" sz="1300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6FE51697-02E0-5D0B-80EF-91352481EAF8}"/>
              </a:ext>
            </a:extLst>
          </p:cNvPr>
          <p:cNvSpPr/>
          <p:nvPr/>
        </p:nvSpPr>
        <p:spPr>
          <a:xfrm>
            <a:off x="5422269" y="40242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Conclusión</a:t>
            </a:r>
            <a:endParaRPr lang="en-US" sz="1300" dirty="0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44CD7DD7-E699-E88F-AA89-C0652D75B1F1}"/>
              </a:ext>
            </a:extLst>
          </p:cNvPr>
          <p:cNvSpPr/>
          <p:nvPr/>
        </p:nvSpPr>
        <p:spPr>
          <a:xfrm>
            <a:off x="457200" y="1109556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6988D20E-F6EF-979E-2E14-F3E9C1F964F4}"/>
              </a:ext>
            </a:extLst>
          </p:cNvPr>
          <p:cNvSpPr/>
          <p:nvPr/>
        </p:nvSpPr>
        <p:spPr>
          <a:xfrm>
            <a:off x="457200" y="1109556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5EB00533-9653-8E07-F14F-22C36C1DDA61}"/>
              </a:ext>
            </a:extLst>
          </p:cNvPr>
          <p:cNvSpPr/>
          <p:nvPr/>
        </p:nvSpPr>
        <p:spPr>
          <a:xfrm>
            <a:off x="457200" y="110955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58263B8A-E003-8650-0B46-989205DEFA6E}"/>
              </a:ext>
            </a:extLst>
          </p:cNvPr>
          <p:cNvSpPr/>
          <p:nvPr/>
        </p:nvSpPr>
        <p:spPr>
          <a:xfrm>
            <a:off x="1051560" y="110955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</a:rPr>
              <a:t>Problema</a:t>
            </a:r>
            <a:r>
              <a:rPr lang="en-US" sz="1400" dirty="0">
                <a:solidFill>
                  <a:srgbClr val="FFFFFF"/>
                </a:solidFill>
              </a:rPr>
              <a:t> real </a:t>
            </a:r>
            <a:r>
              <a:rPr lang="en-US" sz="1400" dirty="0" err="1">
                <a:solidFill>
                  <a:srgbClr val="FFFFFF"/>
                </a:solidFill>
              </a:rPr>
              <a:t>en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microservicios</a:t>
            </a:r>
            <a:endParaRPr lang="en-US" sz="1300" dirty="0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79CB49B1-E6D3-9179-EFE8-681D65007FAC}"/>
              </a:ext>
            </a:extLst>
          </p:cNvPr>
          <p:cNvSpPr/>
          <p:nvPr/>
        </p:nvSpPr>
        <p:spPr>
          <a:xfrm>
            <a:off x="4827909" y="3040842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18A42155-1F12-8E2F-D7E3-65FFE5086CC6}"/>
              </a:ext>
            </a:extLst>
          </p:cNvPr>
          <p:cNvSpPr/>
          <p:nvPr/>
        </p:nvSpPr>
        <p:spPr>
          <a:xfrm>
            <a:off x="4827909" y="3040842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DCB8041F-C709-2450-3172-D924EE1FC9B7}"/>
              </a:ext>
            </a:extLst>
          </p:cNvPr>
          <p:cNvSpPr/>
          <p:nvPr/>
        </p:nvSpPr>
        <p:spPr>
          <a:xfrm>
            <a:off x="4827909" y="304084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07</a:t>
            </a:r>
            <a:endParaRPr lang="en-US" sz="13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405F20EA-B11E-B0AB-F09B-65C5973322E6}"/>
              </a:ext>
            </a:extLst>
          </p:cNvPr>
          <p:cNvSpPr/>
          <p:nvPr/>
        </p:nvSpPr>
        <p:spPr>
          <a:xfrm>
            <a:off x="5422269" y="304084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Flujo</a:t>
            </a:r>
            <a:r>
              <a:rPr lang="en-US" sz="1300" dirty="0">
                <a:solidFill>
                  <a:srgbClr val="FFFFFF"/>
                </a:solidFill>
              </a:rPr>
              <a:t> de </a:t>
            </a:r>
            <a:r>
              <a:rPr lang="en-US" sz="1300" dirty="0" err="1">
                <a:solidFill>
                  <a:srgbClr val="FFFFFF"/>
                </a:solidFill>
              </a:rPr>
              <a:t>Ejecución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3">
            <a:extLst>
              <a:ext uri="{FF2B5EF4-FFF2-40B4-BE49-F238E27FC236}">
                <a16:creationId xmlns:a16="http://schemas.microsoft.com/office/drawing/2014/main" id="{55CD4805-F19C-31F2-A9D5-965B2ACEE397}"/>
              </a:ext>
            </a:extLst>
          </p:cNvPr>
          <p:cNvSpPr/>
          <p:nvPr/>
        </p:nvSpPr>
        <p:spPr>
          <a:xfrm>
            <a:off x="296342" y="1029778"/>
            <a:ext cx="3818458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/ </a:t>
            </a:r>
            <a:r>
              <a:rPr lang="en-US" sz="2400" b="1" dirty="0" err="1">
                <a:solidFill>
                  <a:srgbClr val="FFFFFF"/>
                </a:solidFill>
              </a:rPr>
              <a:t>Problema</a:t>
            </a:r>
            <a:r>
              <a:rPr lang="en-US" sz="2400" b="1" dirty="0">
                <a:solidFill>
                  <a:srgbClr val="FFFFFF"/>
                </a:solidFill>
              </a:rPr>
              <a:t> real </a:t>
            </a:r>
            <a:r>
              <a:rPr lang="en-US" sz="2400" b="1" dirty="0" err="1">
                <a:solidFill>
                  <a:srgbClr val="FFFFFF"/>
                </a:solidFill>
              </a:rPr>
              <a:t>en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microservicios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6342" y="1488239"/>
            <a:ext cx="3818458" cy="1132223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3C112B80-1565-C23F-AECD-9BD6AE8FE229}"/>
              </a:ext>
            </a:extLst>
          </p:cNvPr>
          <p:cNvSpPr/>
          <p:nvPr/>
        </p:nvSpPr>
        <p:spPr>
          <a:xfrm>
            <a:off x="457200" y="1595604"/>
            <a:ext cx="3254644" cy="834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 err="1">
                <a:solidFill>
                  <a:srgbClr val="FFFFFF"/>
                </a:solidFill>
              </a:rPr>
              <a:t>Procesamiento</a:t>
            </a:r>
            <a:r>
              <a:rPr lang="en-US" sz="1400" i="1" dirty="0">
                <a:solidFill>
                  <a:srgbClr val="FFFFFF"/>
                </a:solidFill>
              </a:rPr>
              <a:t> de </a:t>
            </a:r>
            <a:r>
              <a:rPr lang="en-US" sz="1400" i="1" dirty="0" err="1">
                <a:solidFill>
                  <a:srgbClr val="FFFFFF"/>
                </a:solidFill>
              </a:rPr>
              <a:t>pedidos</a:t>
            </a:r>
            <a:endParaRPr lang="en-US" sz="1400" i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i="1" dirty="0" err="1">
                <a:solidFill>
                  <a:srgbClr val="FFFFFF"/>
                </a:solidFill>
              </a:rPr>
              <a:t>Reservar</a:t>
            </a:r>
            <a:r>
              <a:rPr lang="en-US" sz="1400" i="1" dirty="0">
                <a:solidFill>
                  <a:srgbClr val="FFFFFF"/>
                </a:solidFill>
              </a:rPr>
              <a:t> Stock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i="1" dirty="0">
                <a:solidFill>
                  <a:srgbClr val="FFFFFF"/>
                </a:solidFill>
              </a:rPr>
              <a:t>Pago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i="1" dirty="0" err="1">
                <a:solidFill>
                  <a:srgbClr val="FFFFFF"/>
                </a:solidFill>
              </a:rPr>
              <a:t>Enviar</a:t>
            </a:r>
            <a:r>
              <a:rPr lang="en-US" sz="1400" i="1" dirty="0">
                <a:solidFill>
                  <a:srgbClr val="FFFFFF"/>
                </a:solidFill>
              </a:rPr>
              <a:t> Email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C8F8221-E248-C7C3-45F7-02D102595CD8}"/>
              </a:ext>
            </a:extLst>
          </p:cNvPr>
          <p:cNvSpPr txBox="1"/>
          <p:nvPr/>
        </p:nvSpPr>
        <p:spPr>
          <a:xfrm>
            <a:off x="463857" y="1089101"/>
            <a:ext cx="3410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Caso de </a:t>
            </a:r>
            <a:r>
              <a:rPr lang="en-US" sz="1400" b="1" dirty="0" err="1">
                <a:solidFill>
                  <a:srgbClr val="0D1B2A"/>
                </a:solidFill>
              </a:rPr>
              <a:t>Uso</a:t>
            </a:r>
            <a:endParaRPr lang="pt-PT" sz="140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B2BB3BE-4FA4-AD70-F6B3-8482D5B8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159" y="1029778"/>
            <a:ext cx="4347835" cy="37570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/ </a:t>
            </a:r>
            <a:r>
              <a:rPr lang="en-US" sz="2400" b="1" dirty="0" err="1">
                <a:solidFill>
                  <a:srgbClr val="FFFFFF"/>
                </a:solidFill>
              </a:rPr>
              <a:t>Qué</a:t>
            </a:r>
            <a:r>
              <a:rPr lang="en-US" sz="2400" b="1" dirty="0">
                <a:solidFill>
                  <a:srgbClr val="FFFFFF"/>
                </a:solidFill>
              </a:rPr>
              <a:t> es Temporal IO?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024251"/>
            <a:ext cx="8046720" cy="644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Temporal es </a:t>
            </a:r>
            <a:r>
              <a:rPr lang="en-US" sz="1400" i="1" dirty="0" err="1">
                <a:solidFill>
                  <a:srgbClr val="FFFFFF"/>
                </a:solidFill>
              </a:rPr>
              <a:t>una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plataforma</a:t>
            </a:r>
            <a:r>
              <a:rPr lang="en-US" sz="1400" i="1" dirty="0">
                <a:solidFill>
                  <a:srgbClr val="FFFFFF"/>
                </a:solidFill>
              </a:rPr>
              <a:t> de </a:t>
            </a:r>
            <a:r>
              <a:rPr lang="en-US" sz="1400" i="1" dirty="0" err="1">
                <a:solidFill>
                  <a:srgbClr val="FFFFFF"/>
                </a:solidFill>
              </a:rPr>
              <a:t>código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abierto</a:t>
            </a:r>
            <a:r>
              <a:rPr lang="en-US" sz="1400" i="1" dirty="0">
                <a:solidFill>
                  <a:srgbClr val="FFFFFF"/>
                </a:solidFill>
              </a:rPr>
              <a:t> para </a:t>
            </a:r>
            <a:r>
              <a:rPr lang="en-US" sz="1400" i="1" dirty="0" err="1">
                <a:solidFill>
                  <a:srgbClr val="FFFFFF"/>
                </a:solidFill>
              </a:rPr>
              <a:t>implementar</a:t>
            </a:r>
            <a:r>
              <a:rPr lang="en-US" sz="1400" i="1" dirty="0">
                <a:solidFill>
                  <a:srgbClr val="FFFFFF"/>
                </a:solidFill>
              </a:rPr>
              <a:t> de forma </a:t>
            </a:r>
            <a:r>
              <a:rPr lang="en-US" sz="1400" i="1" dirty="0" err="1">
                <a:solidFill>
                  <a:srgbClr val="FFFFFF"/>
                </a:solidFill>
              </a:rPr>
              <a:t>fiable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sistemas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distribuidos</a:t>
            </a:r>
            <a:r>
              <a:rPr lang="en-US" sz="1400" i="1" dirty="0">
                <a:solidFill>
                  <a:srgbClr val="FFFFFF"/>
                </a:solidFill>
              </a:rPr>
              <a:t> de </a:t>
            </a:r>
            <a:r>
              <a:rPr lang="en-US" sz="1400" i="1" dirty="0" err="1">
                <a:solidFill>
                  <a:srgbClr val="FFFFFF"/>
                </a:solidFill>
              </a:rPr>
              <a:t>larga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duración</a:t>
            </a:r>
            <a:r>
              <a:rPr lang="en-US" sz="1400" i="1" dirty="0">
                <a:solidFill>
                  <a:srgbClr val="FFFFFF"/>
                </a:solidFill>
              </a:rPr>
              <a:t>, </a:t>
            </a:r>
            <a:r>
              <a:rPr lang="en-US" sz="1400" i="1" dirty="0" err="1">
                <a:solidFill>
                  <a:srgbClr val="FFFFFF"/>
                </a:solidFill>
              </a:rPr>
              <a:t>donde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el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propio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sistema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gestiona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toda</a:t>
            </a:r>
            <a:r>
              <a:rPr lang="en-US" sz="1400" i="1" dirty="0">
                <a:solidFill>
                  <a:srgbClr val="FFFFFF"/>
                </a:solidFill>
              </a:rPr>
              <a:t> la </a:t>
            </a:r>
            <a:r>
              <a:rPr lang="en-US" sz="1400" i="1" dirty="0" err="1">
                <a:solidFill>
                  <a:srgbClr val="FFFFFF"/>
                </a:solidFill>
              </a:rPr>
              <a:t>complejidad</a:t>
            </a:r>
            <a:r>
              <a:rPr lang="en-US" sz="1400" i="1" dirty="0">
                <a:solidFill>
                  <a:srgbClr val="FFFFFF"/>
                </a:solidFill>
              </a:rPr>
              <a:t> del </a:t>
            </a:r>
            <a:r>
              <a:rPr lang="en-US" sz="1400" i="1" dirty="0" err="1">
                <a:solidFill>
                  <a:srgbClr val="FFFFFF"/>
                </a:solidFill>
              </a:rPr>
              <a:t>estado</a:t>
            </a:r>
            <a:r>
              <a:rPr lang="en-US" sz="1400" i="1" dirty="0">
                <a:solidFill>
                  <a:srgbClr val="FFFFFF"/>
                </a:solidFill>
              </a:rPr>
              <a:t>, </a:t>
            </a:r>
            <a:r>
              <a:rPr lang="en-US" sz="1400" i="1" dirty="0" err="1">
                <a:solidFill>
                  <a:srgbClr val="FFFFFF"/>
                </a:solidFill>
              </a:rPr>
              <a:t>los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fallos</a:t>
            </a:r>
            <a:r>
              <a:rPr lang="en-US" sz="1400" i="1" dirty="0">
                <a:solidFill>
                  <a:srgbClr val="FFFFFF"/>
                </a:solidFill>
              </a:rPr>
              <a:t>, </a:t>
            </a:r>
            <a:r>
              <a:rPr lang="en-US" sz="1400" i="1" dirty="0" err="1">
                <a:solidFill>
                  <a:srgbClr val="FFFFFF"/>
                </a:solidFill>
              </a:rPr>
              <a:t>los</a:t>
            </a:r>
            <a:r>
              <a:rPr lang="en-US" sz="1400" i="1" dirty="0">
                <a:solidFill>
                  <a:srgbClr val="FFFFFF"/>
                </a:solidFill>
              </a:rPr>
              <a:t> </a:t>
            </a:r>
            <a:r>
              <a:rPr lang="en-US" sz="1400" i="1" dirty="0" err="1">
                <a:solidFill>
                  <a:srgbClr val="FFFFFF"/>
                </a:solidFill>
              </a:rPr>
              <a:t>reintentos</a:t>
            </a:r>
            <a:r>
              <a:rPr lang="en-US" sz="1400" i="1" dirty="0">
                <a:solidFill>
                  <a:srgbClr val="FFFFFF"/>
                </a:solidFill>
              </a:rPr>
              <a:t> y la </a:t>
            </a:r>
            <a:r>
              <a:rPr lang="en-US" sz="1400" i="1" dirty="0" err="1">
                <a:solidFill>
                  <a:srgbClr val="FFFFFF"/>
                </a:solidFill>
              </a:rPr>
              <a:t>continuidad</a:t>
            </a:r>
            <a:r>
              <a:rPr lang="en-US" sz="1400" i="1" dirty="0">
                <a:solidFill>
                  <a:srgbClr val="FFF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92348"/>
            <a:ext cx="2651760" cy="21488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365760" y="20837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5867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0D4AA"/>
                </a:solidFill>
              </a:rPr>
              <a:t>Durabilidad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981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FA3B3"/>
                </a:solidFill>
              </a:rPr>
              <a:t>Flujos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persistentes</a:t>
            </a:r>
            <a:r>
              <a:rPr lang="en-US" sz="1100" dirty="0">
                <a:solidFill>
                  <a:srgbClr val="8FA3B3"/>
                </a:solidFill>
              </a:rPr>
              <a:t> que se </a:t>
            </a:r>
            <a:r>
              <a:rPr lang="en-US" sz="1100" dirty="0" err="1">
                <a:solidFill>
                  <a:srgbClr val="8FA3B3"/>
                </a:solidFill>
              </a:rPr>
              <a:t>reanudan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automáticamente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después</a:t>
            </a:r>
            <a:r>
              <a:rPr lang="en-US" sz="1100" dirty="0">
                <a:solidFill>
                  <a:srgbClr val="8FA3B3"/>
                </a:solidFill>
              </a:rPr>
              <a:t> de </a:t>
            </a:r>
            <a:r>
              <a:rPr lang="en-US" sz="1100" dirty="0" err="1">
                <a:solidFill>
                  <a:srgbClr val="8FA3B3"/>
                </a:solidFill>
              </a:rPr>
              <a:t>fallos</a:t>
            </a:r>
            <a:r>
              <a:rPr lang="en-US" sz="1100" dirty="0">
                <a:solidFill>
                  <a:srgbClr val="8FA3B3"/>
                </a:solidFill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92348"/>
            <a:ext cx="2651760" cy="21488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200400" y="20837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25867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0D4AA"/>
                </a:solidFill>
              </a:rPr>
              <a:t>Intentos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9981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FA3B3"/>
                </a:solidFill>
              </a:rPr>
              <a:t>Reintento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automático</a:t>
            </a:r>
            <a:r>
              <a:rPr lang="en-US" sz="1100" dirty="0">
                <a:solidFill>
                  <a:srgbClr val="8FA3B3"/>
                </a:solidFill>
              </a:rPr>
              <a:t> sin </a:t>
            </a:r>
            <a:r>
              <a:rPr lang="en-US" sz="1100" dirty="0" err="1">
                <a:solidFill>
                  <a:srgbClr val="8FA3B3"/>
                </a:solidFill>
              </a:rPr>
              <a:t>perder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el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estado</a:t>
            </a:r>
            <a:r>
              <a:rPr lang="en-US" sz="1100" dirty="0">
                <a:solidFill>
                  <a:srgbClr val="8FA3B3"/>
                </a:solidFill>
              </a:rPr>
              <a:t> de </a:t>
            </a:r>
            <a:r>
              <a:rPr lang="en-US" sz="1100" dirty="0" err="1">
                <a:solidFill>
                  <a:srgbClr val="8FA3B3"/>
                </a:solidFill>
              </a:rPr>
              <a:t>ejecución</a:t>
            </a:r>
            <a:r>
              <a:rPr lang="en-US" sz="1100" dirty="0">
                <a:solidFill>
                  <a:srgbClr val="8FA3B3"/>
                </a:solidFill>
              </a:rPr>
              <a:t>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92348"/>
            <a:ext cx="2651760" cy="21488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035040" y="20837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25867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0D4AA"/>
                </a:solidFill>
              </a:rPr>
              <a:t>Repartido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9981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FA3B3"/>
                </a:solidFill>
              </a:rPr>
              <a:t>Admite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procesos</a:t>
            </a:r>
            <a:r>
              <a:rPr lang="en-US" sz="1100" dirty="0">
                <a:solidFill>
                  <a:srgbClr val="8FA3B3"/>
                </a:solidFill>
              </a:rPr>
              <a:t> de </a:t>
            </a:r>
            <a:r>
              <a:rPr lang="en-US" sz="1100" dirty="0" err="1">
                <a:solidFill>
                  <a:srgbClr val="8FA3B3"/>
                </a:solidFill>
              </a:rPr>
              <a:t>larga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duración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en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sistemas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distribuidos</a:t>
            </a:r>
            <a:r>
              <a:rPr lang="en-US" sz="1100" dirty="0">
                <a:solidFill>
                  <a:srgbClr val="8FA3B3"/>
                </a:solidFill>
              </a:rPr>
              <a:t>.</a:t>
            </a:r>
            <a:endParaRPr lang="en-US" sz="1100" dirty="0"/>
          </a:p>
        </p:txBody>
      </p:sp>
      <p:sp>
        <p:nvSpPr>
          <p:cNvPr id="18" name="Shape 30">
            <a:extLst>
              <a:ext uri="{FF2B5EF4-FFF2-40B4-BE49-F238E27FC236}">
                <a16:creationId xmlns:a16="http://schemas.microsoft.com/office/drawing/2014/main" id="{55B29707-CB69-26E4-4E80-C74193C5C92C}"/>
              </a:ext>
            </a:extLst>
          </p:cNvPr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BDC48AF0-C0E4-6BDB-34D3-C220A5536D45}"/>
              </a:ext>
            </a:extLst>
          </p:cNvPr>
          <p:cNvSpPr/>
          <p:nvPr/>
        </p:nvSpPr>
        <p:spPr>
          <a:xfrm>
            <a:off x="365760" y="4434841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resilientes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manualmente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/ Por </a:t>
            </a:r>
            <a:r>
              <a:rPr lang="en-US" sz="2400" b="1" dirty="0" err="1">
                <a:solidFill>
                  <a:srgbClr val="FFFFFF"/>
                </a:solidFill>
              </a:rPr>
              <a:t>qué</a:t>
            </a:r>
            <a:r>
              <a:rPr lang="en-US" sz="2400" b="1" dirty="0">
                <a:solidFill>
                  <a:srgbClr val="FFFFFF"/>
                </a:solidFill>
              </a:rPr>
              <a:t> usar Temporal IO?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112236"/>
          </a:solidFill>
          <a:ln w="12700">
            <a:solidFill>
              <a:srgbClr val="CC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❌  Sin Temporal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</a:t>
            </a:r>
            <a:r>
              <a:rPr lang="en-US" sz="1200" dirty="0" err="1">
                <a:solidFill>
                  <a:srgbClr val="8FA3B3"/>
                </a:solidFill>
              </a:rPr>
              <a:t>Guardar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manualmente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el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estado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en</a:t>
            </a:r>
            <a:r>
              <a:rPr lang="en-US" sz="1200" dirty="0">
                <a:solidFill>
                  <a:srgbClr val="8FA3B3"/>
                </a:solidFill>
              </a:rPr>
              <a:t> la base de </a:t>
            </a:r>
            <a:r>
              <a:rPr lang="en-US" sz="1200" dirty="0" err="1">
                <a:solidFill>
                  <a:srgbClr val="8FA3B3"/>
                </a:solidFill>
              </a:rPr>
              <a:t>datos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</a:t>
            </a:r>
            <a:r>
              <a:rPr lang="en-US" sz="1200" dirty="0" err="1">
                <a:solidFill>
                  <a:srgbClr val="8FA3B3"/>
                </a:solidFill>
              </a:rPr>
              <a:t>Repita</a:t>
            </a:r>
            <a:r>
              <a:rPr lang="en-US" sz="1200" dirty="0">
                <a:solidFill>
                  <a:srgbClr val="8FA3B3"/>
                </a:solidFill>
              </a:rPr>
              <a:t> la </a:t>
            </a:r>
            <a:r>
              <a:rPr lang="en-US" sz="1200" dirty="0" err="1">
                <a:solidFill>
                  <a:srgbClr val="8FA3B3"/>
                </a:solidFill>
              </a:rPr>
              <a:t>lógica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desde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donde</a:t>
            </a:r>
            <a:r>
              <a:rPr lang="en-US" sz="1200" dirty="0">
                <a:solidFill>
                  <a:srgbClr val="8FA3B3"/>
                </a:solidFill>
              </a:rPr>
              <a:t> se </a:t>
            </a:r>
            <a:r>
              <a:rPr lang="en-US" sz="1200" dirty="0" err="1">
                <a:solidFill>
                  <a:srgbClr val="8FA3B3"/>
                </a:solidFill>
              </a:rPr>
              <a:t>interrumpió</a:t>
            </a:r>
            <a:r>
              <a:rPr lang="en-US" sz="1200" dirty="0">
                <a:solidFill>
                  <a:srgbClr val="8FA3B3"/>
                </a:solidFill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</a:t>
            </a:r>
            <a:r>
              <a:rPr lang="en-US" sz="1200" dirty="0" err="1">
                <a:solidFill>
                  <a:srgbClr val="8FA3B3"/>
                </a:solidFill>
              </a:rPr>
              <a:t>Tratar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duplicaciones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</a:t>
            </a:r>
            <a:r>
              <a:rPr lang="en-US" sz="1200" dirty="0" err="1">
                <a:solidFill>
                  <a:srgbClr val="8FA3B3"/>
                </a:solidFill>
              </a:rPr>
              <a:t>Corregir</a:t>
            </a:r>
            <a:r>
              <a:rPr lang="en-US" sz="1200" dirty="0">
                <a:solidFill>
                  <a:srgbClr val="8FA3B3"/>
                </a:solidFill>
              </a:rPr>
              <a:t> </a:t>
            </a:r>
            <a:r>
              <a:rPr lang="en-US" sz="1200" dirty="0" err="1">
                <a:solidFill>
                  <a:srgbClr val="8FA3B3"/>
                </a:solidFill>
              </a:rPr>
              <a:t>fallos</a:t>
            </a:r>
            <a:r>
              <a:rPr lang="en-US" sz="1200" dirty="0">
                <a:solidFill>
                  <a:srgbClr val="8FA3B3"/>
                </a:solidFill>
              </a:rPr>
              <a:t> de 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</a:t>
            </a:r>
            <a:r>
              <a:rPr lang="en-US" sz="1200" dirty="0" err="1">
                <a:solidFill>
                  <a:srgbClr val="8FA3B3"/>
                </a:solidFill>
              </a:rPr>
              <a:t>Realizar</a:t>
            </a:r>
            <a:r>
              <a:rPr lang="en-US" sz="1200" dirty="0">
                <a:solidFill>
                  <a:srgbClr val="8FA3B3"/>
                </a:solidFill>
              </a:rPr>
              <a:t> la </a:t>
            </a:r>
            <a:r>
              <a:rPr lang="en-US" sz="1200" dirty="0" err="1">
                <a:solidFill>
                  <a:srgbClr val="8FA3B3"/>
                </a:solidFill>
              </a:rPr>
              <a:t>reconciliación</a:t>
            </a:r>
            <a:r>
              <a:rPr lang="en-US" sz="1200" dirty="0">
                <a:solidFill>
                  <a:srgbClr val="8FA3B3"/>
                </a:solidFill>
              </a:rPr>
              <a:t> de </a:t>
            </a:r>
            <a:r>
              <a:rPr lang="en-US" sz="1200" dirty="0" err="1">
                <a:solidFill>
                  <a:srgbClr val="8FA3B3"/>
                </a:solidFill>
              </a:rPr>
              <a:t>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6B"/>
                </a:solidFill>
              </a:rPr>
              <a:t>Código </a:t>
            </a:r>
            <a:r>
              <a:rPr lang="en-US" sz="1100" i="1" dirty="0" err="1">
                <a:solidFill>
                  <a:srgbClr val="FF6B6B"/>
                </a:solidFill>
              </a:rPr>
              <a:t>repetitivo</a:t>
            </a:r>
            <a:r>
              <a:rPr lang="en-US" sz="1100" i="1" dirty="0">
                <a:solidFill>
                  <a:srgbClr val="FF6B6B"/>
                </a:solidFill>
              </a:rPr>
              <a:t>, </a:t>
            </a:r>
            <a:r>
              <a:rPr lang="en-US" sz="1100" i="1" dirty="0" err="1">
                <a:solidFill>
                  <a:srgbClr val="FF6B6B"/>
                </a:solidFill>
              </a:rPr>
              <a:t>difícil</a:t>
            </a:r>
            <a:r>
              <a:rPr lang="en-US" sz="1100" i="1" dirty="0">
                <a:solidFill>
                  <a:srgbClr val="FF6B6B"/>
                </a:solidFill>
              </a:rPr>
              <a:t> de </a:t>
            </a:r>
            <a:r>
              <a:rPr lang="en-US" sz="1100" i="1" dirty="0" err="1">
                <a:solidFill>
                  <a:srgbClr val="FF6B6B"/>
                </a:solidFill>
              </a:rPr>
              <a:t>probar</a:t>
            </a:r>
            <a:r>
              <a:rPr lang="en-US" sz="1100" i="1" dirty="0">
                <a:solidFill>
                  <a:srgbClr val="FF6B6B"/>
                </a:solidFill>
              </a:rPr>
              <a:t> y </a:t>
            </a:r>
            <a:r>
              <a:rPr lang="en-US" sz="1100" i="1" dirty="0" err="1">
                <a:solidFill>
                  <a:srgbClr val="FF6B6B"/>
                </a:solidFill>
              </a:rPr>
              <a:t>propenso</a:t>
            </a:r>
            <a:r>
              <a:rPr lang="en-US" sz="1100" i="1" dirty="0">
                <a:solidFill>
                  <a:srgbClr val="FF6B6B"/>
                </a:solidFill>
              </a:rPr>
              <a:t> a bugs.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931920" cy="3749040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98348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✅  Con Temporal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Estado </a:t>
            </a:r>
            <a:r>
              <a:rPr lang="en-US" sz="1200" dirty="0" err="1">
                <a:solidFill>
                  <a:srgbClr val="FFFFFF"/>
                </a:solidFill>
              </a:rPr>
              <a:t>reconstruido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automáticamente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</a:t>
            </a:r>
            <a:r>
              <a:rPr lang="en-US" sz="1200" dirty="0" err="1">
                <a:solidFill>
                  <a:srgbClr val="FFFFFF"/>
                </a:solidFill>
              </a:rPr>
              <a:t>Reanudando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donde</a:t>
            </a:r>
            <a:r>
              <a:rPr lang="en-US" sz="1200" dirty="0">
                <a:solidFill>
                  <a:srgbClr val="FFFFFF"/>
                </a:solidFill>
              </a:rPr>
              <a:t> se </a:t>
            </a:r>
            <a:r>
              <a:rPr lang="en-US" sz="1200" dirty="0" err="1">
                <a:solidFill>
                  <a:srgbClr val="FFFFFF"/>
                </a:solidFill>
              </a:rPr>
              <a:t>interrumpió</a:t>
            </a:r>
            <a:r>
              <a:rPr lang="en-US" sz="1200" dirty="0">
                <a:solidFill>
                  <a:srgbClr val="FFFFFF"/>
                </a:solidFill>
              </a:rPr>
              <a:t> (</a:t>
            </a:r>
            <a:r>
              <a:rPr lang="en-US" sz="1200" dirty="0" err="1">
                <a:solidFill>
                  <a:srgbClr val="FFFFFF"/>
                </a:solidFill>
              </a:rPr>
              <a:t>segundos</a:t>
            </a:r>
            <a:r>
              <a:rPr lang="en-US" sz="1200" dirty="0">
                <a:solidFill>
                  <a:srgbClr val="FFFFFF"/>
                </a:solidFill>
              </a:rPr>
              <a:t>, días, meses)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</a:t>
            </a:r>
            <a:r>
              <a:rPr lang="en-US" sz="1200" dirty="0" err="1">
                <a:solidFill>
                  <a:srgbClr val="FFFFFF"/>
                </a:solidFill>
              </a:rPr>
              <a:t>Reintento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automático</a:t>
            </a:r>
            <a:r>
              <a:rPr lang="en-US" sz="1200" dirty="0">
                <a:solidFill>
                  <a:srgbClr val="FFFFFF"/>
                </a:solidFill>
              </a:rPr>
              <a:t> sin </a:t>
            </a:r>
            <a:r>
              <a:rPr lang="en-US" sz="1200" dirty="0" err="1">
                <a:solidFill>
                  <a:srgbClr val="FFFFFF"/>
                </a:solidFill>
              </a:rPr>
              <a:t>código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adicional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</a:t>
            </a:r>
            <a:r>
              <a:rPr lang="en-US" sz="1200" dirty="0" err="1">
                <a:solidFill>
                  <a:srgbClr val="FFFFFF"/>
                </a:solidFill>
              </a:rPr>
              <a:t>Tolerante</a:t>
            </a:r>
            <a:r>
              <a:rPr lang="en-US" sz="1200" dirty="0">
                <a:solidFill>
                  <a:srgbClr val="FFFFFF"/>
                </a:solidFill>
              </a:rPr>
              <a:t> a </a:t>
            </a:r>
            <a:r>
              <a:rPr lang="en-US" sz="1200" dirty="0" err="1">
                <a:solidFill>
                  <a:srgbClr val="FFFFFF"/>
                </a:solidFill>
              </a:rPr>
              <a:t>fallos</a:t>
            </a:r>
            <a:r>
              <a:rPr lang="en-US" sz="1200" dirty="0">
                <a:solidFill>
                  <a:srgbClr val="FFFFFF"/>
                </a:solidFill>
              </a:rPr>
              <a:t> y </a:t>
            </a:r>
            <a:r>
              <a:rPr lang="en-US" sz="1200" dirty="0" err="1">
                <a:solidFill>
                  <a:srgbClr val="FFFFFF"/>
                </a:solidFill>
              </a:rPr>
              <a:t>reinicios</a:t>
            </a:r>
            <a:r>
              <a:rPr lang="en-US" sz="1200" dirty="0">
                <a:solidFill>
                  <a:srgbClr val="FFFFFF"/>
                </a:solidFill>
              </a:rPr>
              <a:t> de la red.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</a:t>
            </a:r>
            <a:r>
              <a:rPr lang="en-US" sz="1200" dirty="0" err="1">
                <a:solidFill>
                  <a:srgbClr val="FFFFFF"/>
                </a:solidFill>
              </a:rPr>
              <a:t>Historial</a:t>
            </a:r>
            <a:r>
              <a:rPr lang="en-US" sz="1200" dirty="0">
                <a:solidFill>
                  <a:srgbClr val="FFFFFF"/>
                </a:solidFill>
              </a:rPr>
              <a:t> de </a:t>
            </a:r>
            <a:r>
              <a:rPr lang="en-US" sz="1200" dirty="0" err="1">
                <a:solidFill>
                  <a:srgbClr val="FFFFFF"/>
                </a:solidFill>
              </a:rPr>
              <a:t>eventos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completo</a:t>
            </a:r>
            <a:r>
              <a:rPr lang="en-US" sz="1200" dirty="0">
                <a:solidFill>
                  <a:srgbClr val="FFFFFF"/>
                </a:solidFill>
              </a:rPr>
              <a:t> y auditable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00D4AA"/>
                </a:solidFill>
              </a:rPr>
              <a:t>Ejecución</a:t>
            </a:r>
            <a:r>
              <a:rPr lang="en-US" sz="1100" i="1" dirty="0">
                <a:solidFill>
                  <a:srgbClr val="00D4AA"/>
                </a:solidFill>
              </a:rPr>
              <a:t> a </a:t>
            </a:r>
            <a:r>
              <a:rPr lang="en-US" sz="1100" i="1" dirty="0" err="1">
                <a:solidFill>
                  <a:srgbClr val="00D4AA"/>
                </a:solidFill>
              </a:rPr>
              <a:t>prueba</a:t>
            </a:r>
            <a:r>
              <a:rPr lang="en-US" sz="1100" i="1" dirty="0">
                <a:solidFill>
                  <a:srgbClr val="00D4AA"/>
                </a:solidFill>
              </a:rPr>
              <a:t> de </a:t>
            </a:r>
            <a:r>
              <a:rPr lang="en-US" sz="1100" i="1" dirty="0" err="1">
                <a:solidFill>
                  <a:srgbClr val="00D4AA"/>
                </a:solidFill>
              </a:rPr>
              <a:t>fallos</a:t>
            </a:r>
            <a:r>
              <a:rPr lang="en-US" sz="1100" i="1" dirty="0">
                <a:solidFill>
                  <a:srgbClr val="00D4AA"/>
                </a:solidFill>
              </a:rPr>
              <a:t>, sin </a:t>
            </a:r>
            <a:r>
              <a:rPr lang="en-US" sz="1100" i="1" dirty="0" err="1">
                <a:solidFill>
                  <a:srgbClr val="00D4AA"/>
                </a:solidFill>
              </a:rPr>
              <a:t>lógica</a:t>
            </a:r>
            <a:r>
              <a:rPr lang="en-US" sz="1100" i="1" dirty="0">
                <a:solidFill>
                  <a:srgbClr val="00D4AA"/>
                </a:solidFill>
              </a:rPr>
              <a:t> de </a:t>
            </a:r>
            <a:r>
              <a:rPr lang="en-US" sz="1100" i="1" dirty="0" err="1">
                <a:solidFill>
                  <a:srgbClr val="00D4AA"/>
                </a:solidFill>
              </a:rPr>
              <a:t>recuperación</a:t>
            </a:r>
            <a:r>
              <a:rPr lang="en-US" sz="1100" i="1" dirty="0">
                <a:solidFill>
                  <a:srgbClr val="00D4AA"/>
                </a:solidFill>
              </a:rPr>
              <a:t> manual.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286000"/>
            <a:ext cx="640080" cy="64008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251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/ </a:t>
            </a:r>
            <a:r>
              <a:rPr lang="en-US" sz="2400" b="1" dirty="0" err="1">
                <a:solidFill>
                  <a:srgbClr val="FFFFFF"/>
                </a:solidFill>
              </a:rPr>
              <a:t>Ventajas</a:t>
            </a:r>
            <a:r>
              <a:rPr lang="en-US" sz="2400" b="1" dirty="0">
                <a:solidFill>
                  <a:srgbClr val="FFFFFF"/>
                </a:solidFill>
              </a:rPr>
              <a:t> y </a:t>
            </a:r>
            <a:r>
              <a:rPr lang="en-US" sz="2400" b="1" dirty="0" err="1">
                <a:solidFill>
                  <a:srgbClr val="FFFFFF"/>
                </a:solidFill>
              </a:rPr>
              <a:t>Desventajas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✅  </a:t>
            </a:r>
            <a:r>
              <a:rPr lang="en-US" sz="1500" b="1" dirty="0" err="1">
                <a:solidFill>
                  <a:srgbClr val="0D1B2A"/>
                </a:solidFill>
              </a:rPr>
              <a:t>Ventajas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 err="1">
                <a:solidFill>
                  <a:srgbClr val="FFFFFF"/>
                </a:solidFill>
              </a:rPr>
              <a:t>Reintentos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automáticos</a:t>
            </a:r>
            <a:r>
              <a:rPr lang="en-US" sz="1300" dirty="0">
                <a:solidFill>
                  <a:srgbClr val="FFFFFF"/>
                </a:solidFill>
              </a:rPr>
              <a:t> sin </a:t>
            </a:r>
            <a:r>
              <a:rPr lang="en-US" sz="1300" dirty="0" err="1">
                <a:solidFill>
                  <a:srgbClr val="FFFFFF"/>
                </a:solidFill>
              </a:rPr>
              <a:t>pérdida</a:t>
            </a:r>
            <a:r>
              <a:rPr lang="en-US" sz="1300" dirty="0">
                <a:solidFill>
                  <a:srgbClr val="FFFFFF"/>
                </a:solidFill>
              </a:rPr>
              <a:t> de </a:t>
            </a:r>
            <a:r>
              <a:rPr lang="en-US" sz="1300" dirty="0" err="1">
                <a:solidFill>
                  <a:srgbClr val="FFFFFF"/>
                </a:solidFill>
              </a:rPr>
              <a:t>estado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Estado </a:t>
            </a:r>
            <a:r>
              <a:rPr lang="en-US" sz="1300" dirty="0" err="1">
                <a:solidFill>
                  <a:srgbClr val="FFFFFF"/>
                </a:solidFill>
              </a:rPr>
              <a:t>reconstruido</a:t>
            </a:r>
            <a:r>
              <a:rPr lang="en-US" sz="1300" dirty="0">
                <a:solidFill>
                  <a:srgbClr val="FFFFFF"/>
                </a:solidFill>
              </a:rPr>
              <a:t> a </a:t>
            </a:r>
            <a:r>
              <a:rPr lang="en-US" sz="1300" dirty="0" err="1">
                <a:solidFill>
                  <a:srgbClr val="FFFFFF"/>
                </a:solidFill>
              </a:rPr>
              <a:t>partir</a:t>
            </a:r>
            <a:r>
              <a:rPr lang="en-US" sz="1300" dirty="0">
                <a:solidFill>
                  <a:srgbClr val="FFFFFF"/>
                </a:solidFill>
              </a:rPr>
              <a:t> de </a:t>
            </a:r>
            <a:r>
              <a:rPr lang="en-US" sz="1300" dirty="0" err="1">
                <a:solidFill>
                  <a:srgbClr val="FFFFFF"/>
                </a:solidFill>
              </a:rPr>
              <a:t>acontecimientos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históricos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 err="1">
                <a:solidFill>
                  <a:srgbClr val="FFFFFF"/>
                </a:solidFill>
              </a:rPr>
              <a:t>Excelente</a:t>
            </a:r>
            <a:r>
              <a:rPr lang="en-US" sz="1300" dirty="0">
                <a:solidFill>
                  <a:srgbClr val="FFFFFF"/>
                </a:solidFill>
              </a:rPr>
              <a:t> para </a:t>
            </a:r>
            <a:r>
              <a:rPr lang="en-US" sz="1300" dirty="0" err="1">
                <a:solidFill>
                  <a:srgbClr val="FFFFFF"/>
                </a:solidFill>
              </a:rPr>
              <a:t>procesos</a:t>
            </a:r>
            <a:r>
              <a:rPr lang="en-US" sz="1300" dirty="0">
                <a:solidFill>
                  <a:srgbClr val="FFFFFF"/>
                </a:solidFill>
              </a:rPr>
              <a:t> largos y </a:t>
            </a:r>
            <a:r>
              <a:rPr lang="en-US" sz="1300" dirty="0" err="1">
                <a:solidFill>
                  <a:srgbClr val="FFFFFF"/>
                </a:solidFill>
              </a:rPr>
              <a:t>asíncronos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 err="1">
                <a:solidFill>
                  <a:srgbClr val="FFFFFF"/>
                </a:solidFill>
              </a:rPr>
              <a:t>Integración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nativa</a:t>
            </a:r>
            <a:r>
              <a:rPr lang="en-US" sz="1300" dirty="0">
                <a:solidFill>
                  <a:srgbClr val="FFFFFF"/>
                </a:solidFill>
              </a:rPr>
              <a:t> con Java, Go, TypeScript y Python.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112236"/>
          </a:solidFill>
          <a:ln w="12700">
            <a:solidFill>
              <a:srgbClr val="CC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⚠️  </a:t>
            </a:r>
            <a:r>
              <a:rPr lang="en-US" sz="1500" b="1" dirty="0" err="1">
                <a:solidFill>
                  <a:srgbClr val="FFFFFF"/>
                </a:solidFill>
              </a:rPr>
              <a:t>Desventajas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✗  </a:t>
            </a:r>
            <a:r>
              <a:rPr lang="en-US" sz="1300" dirty="0">
                <a:solidFill>
                  <a:srgbClr val="FFFFFF"/>
                </a:solidFill>
              </a:rPr>
              <a:t>Curva de </a:t>
            </a:r>
            <a:r>
              <a:rPr lang="en-US" sz="1300" dirty="0" err="1">
                <a:solidFill>
                  <a:srgbClr val="FFFFFF"/>
                </a:solidFill>
              </a:rPr>
              <a:t>aprendizaje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inicial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avanzado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✗  </a:t>
            </a:r>
            <a:r>
              <a:rPr lang="en-US" sz="1300" dirty="0" err="1">
                <a:solidFill>
                  <a:srgbClr val="FFFFFF"/>
                </a:solidFill>
              </a:rPr>
              <a:t>Requiere</a:t>
            </a:r>
            <a:r>
              <a:rPr lang="en-US" sz="1300" dirty="0">
                <a:solidFill>
                  <a:srgbClr val="FFFFFF"/>
                </a:solidFill>
              </a:rPr>
              <a:t> infraestrutura adicional (Temporal Service + DB)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✗  </a:t>
            </a:r>
            <a:r>
              <a:rPr lang="en-US" sz="1300" dirty="0" err="1">
                <a:solidFill>
                  <a:srgbClr val="FFFFFF"/>
                </a:solidFill>
              </a:rPr>
              <a:t>Esto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puede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resultar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excesivo</a:t>
            </a:r>
            <a:r>
              <a:rPr lang="en-US" sz="1300" dirty="0">
                <a:solidFill>
                  <a:srgbClr val="FFFFFF"/>
                </a:solidFill>
              </a:rPr>
              <a:t> para </a:t>
            </a:r>
            <a:r>
              <a:rPr lang="en-US" sz="1300" dirty="0" err="1">
                <a:solidFill>
                  <a:srgbClr val="FFFFFF"/>
                </a:solidFill>
              </a:rPr>
              <a:t>sistemas</a:t>
            </a:r>
            <a:r>
              <a:rPr lang="en-US" sz="1300" dirty="0">
                <a:solidFill>
                  <a:srgbClr val="FFFFFF"/>
                </a:solidFill>
              </a:rPr>
              <a:t> simples o </a:t>
            </a:r>
            <a:r>
              <a:rPr lang="en-US" sz="1300" dirty="0" err="1">
                <a:solidFill>
                  <a:srgbClr val="FFFFFF"/>
                </a:solidFill>
              </a:rPr>
              <a:t>flujos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cortos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/ </a:t>
            </a:r>
            <a:r>
              <a:rPr lang="en-US" sz="2400" b="1" dirty="0" err="1">
                <a:solidFill>
                  <a:srgbClr val="FFFFFF"/>
                </a:solidFill>
              </a:rPr>
              <a:t>Conceptos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principales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033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39903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FA3B3"/>
                </a:solidFill>
              </a:rPr>
              <a:t>Proceso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duradero</a:t>
            </a:r>
            <a:r>
              <a:rPr lang="en-US" sz="1000" dirty="0">
                <a:solidFill>
                  <a:srgbClr val="8FA3B3"/>
                </a:solidFill>
              </a:rPr>
              <a:t> con </a:t>
            </a:r>
            <a:r>
              <a:rPr lang="en-US" sz="1000" dirty="0" err="1">
                <a:solidFill>
                  <a:srgbClr val="8FA3B3"/>
                </a:solidFill>
              </a:rPr>
              <a:t>ejecución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determinista</a:t>
            </a:r>
            <a:r>
              <a:rPr lang="en-US" sz="1000" dirty="0">
                <a:solidFill>
                  <a:srgbClr val="8FA3B3"/>
                </a:solidFill>
              </a:rPr>
              <a:t>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20040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1033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Activity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67328" y="139903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Unidad de </a:t>
            </a:r>
            <a:r>
              <a:rPr lang="en-US" sz="1000" dirty="0" err="1">
                <a:solidFill>
                  <a:srgbClr val="8FA3B3"/>
                </a:solidFill>
              </a:rPr>
              <a:t>trabajo</a:t>
            </a:r>
            <a:r>
              <a:rPr lang="en-US" sz="1000" dirty="0">
                <a:solidFill>
                  <a:srgbClr val="8FA3B3"/>
                </a:solidFill>
              </a:rPr>
              <a:t> externa (HTTP, DB, email…)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12648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93408" y="1033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Worker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93408" y="139903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Un </a:t>
            </a:r>
            <a:r>
              <a:rPr lang="en-US" sz="1000" dirty="0" err="1">
                <a:solidFill>
                  <a:srgbClr val="8FA3B3"/>
                </a:solidFill>
              </a:rPr>
              <a:t>proceso</a:t>
            </a:r>
            <a:r>
              <a:rPr lang="en-US" sz="1000" dirty="0">
                <a:solidFill>
                  <a:srgbClr val="8FA3B3"/>
                </a:solidFill>
              </a:rPr>
              <a:t> que </a:t>
            </a:r>
            <a:r>
              <a:rPr lang="en-US" sz="1000" dirty="0" err="1">
                <a:solidFill>
                  <a:srgbClr val="8FA3B3"/>
                </a:solidFill>
              </a:rPr>
              <a:t>ejecuta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flujos</a:t>
            </a:r>
            <a:r>
              <a:rPr lang="en-US" sz="1000" dirty="0">
                <a:solidFill>
                  <a:srgbClr val="8FA3B3"/>
                </a:solidFill>
              </a:rPr>
              <a:t> de </a:t>
            </a:r>
            <a:r>
              <a:rPr lang="en-US" sz="1000" dirty="0" err="1">
                <a:solidFill>
                  <a:srgbClr val="8FA3B3"/>
                </a:solidFill>
              </a:rPr>
              <a:t>trabajo</a:t>
            </a:r>
            <a:r>
              <a:rPr lang="en-US" sz="1000" dirty="0">
                <a:solidFill>
                  <a:srgbClr val="8FA3B3"/>
                </a:solidFill>
              </a:rPr>
              <a:t> y </a:t>
            </a:r>
            <a:r>
              <a:rPr lang="en-US" sz="1000" dirty="0" err="1">
                <a:solidFill>
                  <a:srgbClr val="8FA3B3"/>
                </a:solidFill>
              </a:rPr>
              <a:t>actividades</a:t>
            </a:r>
            <a:r>
              <a:rPr lang="en-US" sz="1000" dirty="0">
                <a:solidFill>
                  <a:srgbClr val="8FA3B3"/>
                </a:solidFill>
              </a:rPr>
              <a:t>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23591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Task Queue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72491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Cola que </a:t>
            </a:r>
            <a:r>
              <a:rPr lang="en-US" sz="1000" dirty="0" err="1">
                <a:solidFill>
                  <a:srgbClr val="8FA3B3"/>
                </a:solidFill>
              </a:rPr>
              <a:t>conecta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el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servicio</a:t>
            </a:r>
            <a:r>
              <a:rPr lang="en-US" sz="1000" dirty="0">
                <a:solidFill>
                  <a:srgbClr val="8FA3B3"/>
                </a:solidFill>
              </a:rPr>
              <a:t> central con </a:t>
            </a:r>
            <a:r>
              <a:rPr lang="en-US" sz="1000" dirty="0" err="1">
                <a:solidFill>
                  <a:srgbClr val="8FA3B3"/>
                </a:solidFill>
              </a:rPr>
              <a:t>los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trabajadores</a:t>
            </a:r>
            <a:r>
              <a:rPr lang="en-US" sz="1000" dirty="0">
                <a:solidFill>
                  <a:srgbClr val="8FA3B3"/>
                </a:solidFill>
              </a:rPr>
              <a:t>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3200400" y="228600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320040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67328" y="23591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Retry Policy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67328" y="272491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Define </a:t>
            </a:r>
            <a:r>
              <a:rPr lang="en-US" sz="1000" dirty="0" err="1">
                <a:solidFill>
                  <a:srgbClr val="8FA3B3"/>
                </a:solidFill>
              </a:rPr>
              <a:t>tentativas</a:t>
            </a:r>
            <a:r>
              <a:rPr lang="en-US" sz="1000" dirty="0">
                <a:solidFill>
                  <a:srgbClr val="8FA3B3"/>
                </a:solidFill>
              </a:rPr>
              <a:t>, </a:t>
            </a:r>
            <a:r>
              <a:rPr lang="en-US" sz="1000" dirty="0" err="1">
                <a:solidFill>
                  <a:srgbClr val="8FA3B3"/>
                </a:solidFill>
              </a:rPr>
              <a:t>intervalos</a:t>
            </a:r>
            <a:r>
              <a:rPr lang="en-US" sz="1000" dirty="0">
                <a:solidFill>
                  <a:srgbClr val="8FA3B3"/>
                </a:solidFill>
              </a:rPr>
              <a:t> e </a:t>
            </a:r>
            <a:r>
              <a:rPr lang="en-US" sz="1000" dirty="0" err="1">
                <a:solidFill>
                  <a:srgbClr val="8FA3B3"/>
                </a:solidFill>
              </a:rPr>
              <a:t>erros</a:t>
            </a:r>
            <a:r>
              <a:rPr lang="en-US" sz="1000" dirty="0">
                <a:solidFill>
                  <a:srgbClr val="8FA3B3"/>
                </a:solidFill>
              </a:rPr>
              <a:t> a </a:t>
            </a:r>
            <a:r>
              <a:rPr lang="en-US" sz="1000" dirty="0" err="1">
                <a:solidFill>
                  <a:srgbClr val="8FA3B3"/>
                </a:solidFill>
              </a:rPr>
              <a:t>ignorar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28600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6126480" y="228600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612648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93408" y="23591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Temporal Service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93408" y="272491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FA3B3"/>
                </a:solidFill>
              </a:rPr>
              <a:t>Orquestador</a:t>
            </a:r>
            <a:r>
              <a:rPr lang="en-US" sz="1000" dirty="0">
                <a:solidFill>
                  <a:srgbClr val="8FA3B3"/>
                </a:solidFill>
              </a:rPr>
              <a:t> central: </a:t>
            </a:r>
            <a:r>
              <a:rPr lang="en-US" sz="1000" dirty="0" err="1">
                <a:solidFill>
                  <a:srgbClr val="8FA3B3"/>
                </a:solidFill>
              </a:rPr>
              <a:t>persiste</a:t>
            </a:r>
            <a:r>
              <a:rPr lang="en-US" sz="1000" dirty="0">
                <a:solidFill>
                  <a:srgbClr val="8FA3B3"/>
                </a:solidFill>
              </a:rPr>
              <a:t> y </a:t>
            </a:r>
            <a:r>
              <a:rPr lang="en-US" sz="1000" dirty="0" err="1">
                <a:solidFill>
                  <a:srgbClr val="8FA3B3"/>
                </a:solidFill>
              </a:rPr>
              <a:t>programa</a:t>
            </a:r>
            <a:r>
              <a:rPr lang="en-US" sz="1000" dirty="0">
                <a:solidFill>
                  <a:srgbClr val="8FA3B3"/>
                </a:solidFill>
              </a:rPr>
              <a:t> las </a:t>
            </a:r>
            <a:r>
              <a:rPr lang="en-US" sz="1000" dirty="0" err="1">
                <a:solidFill>
                  <a:srgbClr val="8FA3B3"/>
                </a:solidFill>
              </a:rPr>
              <a:t>tareas</a:t>
            </a:r>
            <a:r>
              <a:rPr lang="en-US" sz="1000" dirty="0">
                <a:solidFill>
                  <a:srgbClr val="8FA3B3"/>
                </a:solidFill>
              </a:rPr>
              <a:t>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1188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5" name="Shape 33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41248" y="368503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Event History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" y="405079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Una </a:t>
            </a:r>
            <a:r>
              <a:rPr lang="en-US" sz="1000" dirty="0" err="1">
                <a:solidFill>
                  <a:srgbClr val="8FA3B3"/>
                </a:solidFill>
              </a:rPr>
              <a:t>historia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inmutable</a:t>
            </a:r>
            <a:r>
              <a:rPr lang="en-US" sz="1000" dirty="0">
                <a:solidFill>
                  <a:srgbClr val="8FA3B3"/>
                </a:solidFill>
              </a:rPr>
              <a:t> que </a:t>
            </a:r>
            <a:r>
              <a:rPr lang="en-US" sz="1000" dirty="0" err="1">
                <a:solidFill>
                  <a:srgbClr val="8FA3B3"/>
                </a:solidFill>
              </a:rPr>
              <a:t>reconstruye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el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estado</a:t>
            </a:r>
            <a:r>
              <a:rPr lang="en-US" sz="1000" dirty="0">
                <a:solidFill>
                  <a:srgbClr val="8FA3B3"/>
                </a:solidFill>
              </a:rPr>
              <a:t>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61188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0" name="Shape 38"/>
          <p:cNvSpPr/>
          <p:nvPr/>
        </p:nvSpPr>
        <p:spPr>
          <a:xfrm>
            <a:off x="3200400" y="361188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1" name="Text 39"/>
          <p:cNvSpPr/>
          <p:nvPr/>
        </p:nvSpPr>
        <p:spPr>
          <a:xfrm>
            <a:off x="320040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67328" y="368503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Signal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67328" y="405079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FA3B3"/>
                </a:solidFill>
              </a:rPr>
              <a:t>Envía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información</a:t>
            </a:r>
            <a:r>
              <a:rPr lang="en-US" sz="1000" dirty="0">
                <a:solidFill>
                  <a:srgbClr val="8FA3B3"/>
                </a:solidFill>
              </a:rPr>
              <a:t> a un </a:t>
            </a:r>
            <a:r>
              <a:rPr lang="en-US" sz="1000" dirty="0" err="1">
                <a:solidFill>
                  <a:srgbClr val="8FA3B3"/>
                </a:solidFill>
              </a:rPr>
              <a:t>flujo</a:t>
            </a:r>
            <a:r>
              <a:rPr lang="en-US" sz="1000" dirty="0">
                <a:solidFill>
                  <a:srgbClr val="8FA3B3"/>
                </a:solidFill>
              </a:rPr>
              <a:t> de </a:t>
            </a:r>
            <a:r>
              <a:rPr lang="en-US" sz="1000" dirty="0" err="1">
                <a:solidFill>
                  <a:srgbClr val="8FA3B3"/>
                </a:solidFill>
              </a:rPr>
              <a:t>trabajo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en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ejecución</a:t>
            </a:r>
            <a:r>
              <a:rPr lang="en-US" sz="1000" dirty="0">
                <a:solidFill>
                  <a:srgbClr val="8FA3B3"/>
                </a:solidFill>
              </a:rPr>
              <a:t> (</a:t>
            </a:r>
            <a:r>
              <a:rPr lang="en-US" sz="1000" dirty="0" err="1">
                <a:solidFill>
                  <a:srgbClr val="8FA3B3"/>
                </a:solidFill>
              </a:rPr>
              <a:t>asíncrono</a:t>
            </a:r>
            <a:r>
              <a:rPr lang="en-US" sz="1000" dirty="0">
                <a:solidFill>
                  <a:srgbClr val="8FA3B3"/>
                </a:solidFill>
              </a:rPr>
              <a:t>).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61188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5" name="Shape 43"/>
          <p:cNvSpPr/>
          <p:nvPr/>
        </p:nvSpPr>
        <p:spPr>
          <a:xfrm>
            <a:off x="6126480" y="361188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612648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693408" y="368503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Query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93408" y="405079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Lee </a:t>
            </a:r>
            <a:r>
              <a:rPr lang="en-US" sz="1000" dirty="0" err="1">
                <a:solidFill>
                  <a:srgbClr val="8FA3B3"/>
                </a:solidFill>
              </a:rPr>
              <a:t>el</a:t>
            </a:r>
            <a:r>
              <a:rPr lang="en-US" sz="1000" dirty="0">
                <a:solidFill>
                  <a:srgbClr val="8FA3B3"/>
                </a:solidFill>
              </a:rPr>
              <a:t> </a:t>
            </a:r>
            <a:r>
              <a:rPr lang="en-US" sz="1000" dirty="0" err="1">
                <a:solidFill>
                  <a:srgbClr val="8FA3B3"/>
                </a:solidFill>
              </a:rPr>
              <a:t>estado</a:t>
            </a:r>
            <a:r>
              <a:rPr lang="en-US" sz="1000" dirty="0">
                <a:solidFill>
                  <a:srgbClr val="8FA3B3"/>
                </a:solidFill>
              </a:rPr>
              <a:t> actual de un </a:t>
            </a:r>
            <a:r>
              <a:rPr lang="en-US" sz="1000" dirty="0" err="1">
                <a:solidFill>
                  <a:srgbClr val="8FA3B3"/>
                </a:solidFill>
              </a:rPr>
              <a:t>flujo</a:t>
            </a:r>
            <a:r>
              <a:rPr lang="en-US" sz="1000" dirty="0">
                <a:solidFill>
                  <a:srgbClr val="8FA3B3"/>
                </a:solidFill>
              </a:rPr>
              <a:t> de </a:t>
            </a:r>
            <a:r>
              <a:rPr lang="en-US" sz="1000" dirty="0" err="1">
                <a:solidFill>
                  <a:srgbClr val="8FA3B3"/>
                </a:solidFill>
              </a:rPr>
              <a:t>trabajo</a:t>
            </a:r>
            <a:r>
              <a:rPr lang="en-US" sz="1000" dirty="0">
                <a:solidFill>
                  <a:srgbClr val="8FA3B3"/>
                </a:solidFill>
              </a:rPr>
              <a:t> (</a:t>
            </a:r>
            <a:r>
              <a:rPr lang="en-US" sz="1000" dirty="0" err="1">
                <a:solidFill>
                  <a:srgbClr val="8FA3B3"/>
                </a:solidFill>
              </a:rPr>
              <a:t>síncrono</a:t>
            </a:r>
            <a:r>
              <a:rPr lang="en-US" sz="1000" dirty="0">
                <a:solidFill>
                  <a:srgbClr val="8FA3B3"/>
                </a:solidFill>
              </a:rPr>
              <a:t>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/ </a:t>
            </a:r>
            <a:r>
              <a:rPr lang="en-US" sz="2400" b="1" dirty="0" err="1">
                <a:solidFill>
                  <a:srgbClr val="FFFFFF"/>
                </a:solidFill>
              </a:rPr>
              <a:t>Arquitectura</a:t>
            </a:r>
            <a:r>
              <a:rPr lang="en-US" sz="2400" b="1" dirty="0">
                <a:solidFill>
                  <a:srgbClr val="FFFFFF"/>
                </a:solidFill>
              </a:rPr>
              <a:t> general</a:t>
            </a:r>
            <a:endParaRPr lang="en-US" sz="24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19343134-B4A6-55F6-194B-B3E7B92439FB}"/>
              </a:ext>
            </a:extLst>
          </p:cNvPr>
          <p:cNvSpPr/>
          <p:nvPr/>
        </p:nvSpPr>
        <p:spPr>
          <a:xfrm>
            <a:off x="513481" y="1005840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2D9C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9108FFB9-C11E-521D-6BB0-41C842CF3EC9}"/>
              </a:ext>
            </a:extLst>
          </p:cNvPr>
          <p:cNvSpPr/>
          <p:nvPr/>
        </p:nvSpPr>
        <p:spPr>
          <a:xfrm>
            <a:off x="513481" y="1005840"/>
            <a:ext cx="2520000" cy="4114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1B23EEE6-1C03-A9D6-512F-D0A104757B0A}"/>
              </a:ext>
            </a:extLst>
          </p:cNvPr>
          <p:cNvSpPr/>
          <p:nvPr/>
        </p:nvSpPr>
        <p:spPr>
          <a:xfrm>
            <a:off x="513480" y="1005840"/>
            <a:ext cx="2468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</a:t>
            </a:r>
            <a:endParaRPr lang="en-US" sz="13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5A6AFD64-1D12-8FDB-882D-BC7F3F3CFF1A}"/>
              </a:ext>
            </a:extLst>
          </p:cNvPr>
          <p:cNvSpPr/>
          <p:nvPr/>
        </p:nvSpPr>
        <p:spPr>
          <a:xfrm>
            <a:off x="604921" y="1463040"/>
            <a:ext cx="230959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 err="1">
                <a:solidFill>
                  <a:srgbClr val="8FA3B3"/>
                </a:solidFill>
              </a:rPr>
              <a:t>Inicia</a:t>
            </a:r>
            <a:r>
              <a:rPr lang="en-US" sz="1050" dirty="0">
                <a:solidFill>
                  <a:srgbClr val="8FA3B3"/>
                </a:solidFill>
              </a:rPr>
              <a:t> workflows, </a:t>
            </a:r>
            <a:r>
              <a:rPr lang="en-US" sz="1050" dirty="0" err="1">
                <a:solidFill>
                  <a:srgbClr val="8FA3B3"/>
                </a:solidFill>
              </a:rPr>
              <a:t>envía</a:t>
            </a:r>
            <a:r>
              <a:rPr lang="en-US" sz="1050" dirty="0">
                <a:solidFill>
                  <a:srgbClr val="8FA3B3"/>
                </a:solidFill>
              </a:rPr>
              <a:t> </a:t>
            </a:r>
            <a:r>
              <a:rPr lang="en-US" sz="1050" dirty="0" err="1">
                <a:solidFill>
                  <a:srgbClr val="8FA3B3"/>
                </a:solidFill>
              </a:rPr>
              <a:t>señales</a:t>
            </a:r>
            <a:r>
              <a:rPr lang="en-US" sz="1050" dirty="0">
                <a:solidFill>
                  <a:srgbClr val="8FA3B3"/>
                </a:solidFill>
              </a:rPr>
              <a:t> y </a:t>
            </a:r>
            <a:r>
              <a:rPr lang="en-US" sz="1050" dirty="0" err="1">
                <a:solidFill>
                  <a:srgbClr val="8FA3B3"/>
                </a:solidFill>
              </a:rPr>
              <a:t>ejecuta</a:t>
            </a:r>
            <a:r>
              <a:rPr lang="en-US" sz="1050" dirty="0">
                <a:solidFill>
                  <a:srgbClr val="8FA3B3"/>
                </a:solidFill>
              </a:rPr>
              <a:t> queries</a:t>
            </a:r>
            <a:endParaRPr lang="en-US" sz="105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033A41B7-7866-68C7-C034-CB27653E2E01}"/>
              </a:ext>
            </a:extLst>
          </p:cNvPr>
          <p:cNvSpPr/>
          <p:nvPr/>
        </p:nvSpPr>
        <p:spPr>
          <a:xfrm>
            <a:off x="3234806" y="1005840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F6B13CD8-3A3E-3841-D97A-6995024083E2}"/>
              </a:ext>
            </a:extLst>
          </p:cNvPr>
          <p:cNvSpPr/>
          <p:nvPr/>
        </p:nvSpPr>
        <p:spPr>
          <a:xfrm>
            <a:off x="3234806" y="1005840"/>
            <a:ext cx="252000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4DC0F11D-8D41-48B6-3F44-98C39AD5526D}"/>
              </a:ext>
            </a:extLst>
          </p:cNvPr>
          <p:cNvSpPr/>
          <p:nvPr/>
        </p:nvSpPr>
        <p:spPr>
          <a:xfrm>
            <a:off x="3234805" y="1005840"/>
            <a:ext cx="24512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Temporal Service</a:t>
            </a:r>
            <a:endParaRPr lang="en-US" sz="13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DDA3515C-FE5C-CF9B-C117-4B551A39293F}"/>
              </a:ext>
            </a:extLst>
          </p:cNvPr>
          <p:cNvSpPr/>
          <p:nvPr/>
        </p:nvSpPr>
        <p:spPr>
          <a:xfrm>
            <a:off x="3326246" y="1463040"/>
            <a:ext cx="23597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 err="1">
                <a:solidFill>
                  <a:srgbClr val="8FA3B3"/>
                </a:solidFill>
              </a:rPr>
              <a:t>Orquestación</a:t>
            </a:r>
            <a:r>
              <a:rPr lang="en-US" sz="1050" dirty="0">
                <a:solidFill>
                  <a:srgbClr val="8FA3B3"/>
                </a:solidFill>
              </a:rPr>
              <a:t> central: </a:t>
            </a:r>
            <a:r>
              <a:rPr lang="en-US" sz="1050" dirty="0" err="1">
                <a:solidFill>
                  <a:srgbClr val="8FA3B3"/>
                </a:solidFill>
              </a:rPr>
              <a:t>persistencia</a:t>
            </a:r>
            <a:r>
              <a:rPr lang="en-US" sz="1050" dirty="0">
                <a:solidFill>
                  <a:srgbClr val="8FA3B3"/>
                </a:solidFill>
              </a:rPr>
              <a:t> </a:t>
            </a:r>
            <a:r>
              <a:rPr lang="en-US" sz="1050" dirty="0" err="1">
                <a:solidFill>
                  <a:srgbClr val="8FA3B3"/>
                </a:solidFill>
              </a:rPr>
              <a:t>histórica</a:t>
            </a:r>
            <a:r>
              <a:rPr lang="en-US" sz="1050" dirty="0">
                <a:solidFill>
                  <a:srgbClr val="8FA3B3"/>
                </a:solidFill>
              </a:rPr>
              <a:t> y agenda de </a:t>
            </a:r>
            <a:r>
              <a:rPr lang="en-US" sz="1050" dirty="0" err="1">
                <a:solidFill>
                  <a:srgbClr val="8FA3B3"/>
                </a:solidFill>
              </a:rPr>
              <a:t>tareas</a:t>
            </a:r>
            <a:r>
              <a:rPr lang="en-US" sz="1050" dirty="0">
                <a:solidFill>
                  <a:srgbClr val="8FA3B3"/>
                </a:solidFill>
              </a:rPr>
              <a:t>.</a:t>
            </a:r>
            <a:endParaRPr lang="en-US" sz="105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417E4831-F382-94B7-540C-DDAFD178A2BA}"/>
              </a:ext>
            </a:extLst>
          </p:cNvPr>
          <p:cNvSpPr/>
          <p:nvPr/>
        </p:nvSpPr>
        <p:spPr>
          <a:xfrm>
            <a:off x="5938302" y="1007097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68EF1BD2-E6E0-957D-F2B5-06769CD0F68D}"/>
              </a:ext>
            </a:extLst>
          </p:cNvPr>
          <p:cNvSpPr/>
          <p:nvPr/>
        </p:nvSpPr>
        <p:spPr>
          <a:xfrm>
            <a:off x="5938302" y="1007097"/>
            <a:ext cx="25200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42ADB97C-137F-44F5-1C9A-42DEE5B6BC2B}"/>
              </a:ext>
            </a:extLst>
          </p:cNvPr>
          <p:cNvSpPr/>
          <p:nvPr/>
        </p:nvSpPr>
        <p:spPr>
          <a:xfrm>
            <a:off x="5952474" y="1007097"/>
            <a:ext cx="25058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Queues</a:t>
            </a:r>
            <a:endParaRPr lang="en-US" sz="13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A1A83C7A-4FB4-35A2-F36C-857A1A9C661C}"/>
              </a:ext>
            </a:extLst>
          </p:cNvPr>
          <p:cNvSpPr/>
          <p:nvPr/>
        </p:nvSpPr>
        <p:spPr>
          <a:xfrm>
            <a:off x="6029742" y="1464297"/>
            <a:ext cx="23801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B3"/>
                </a:solidFill>
              </a:rPr>
              <a:t>Colas </a:t>
            </a:r>
            <a:r>
              <a:rPr lang="en-US" sz="1050" dirty="0" err="1">
                <a:solidFill>
                  <a:srgbClr val="8FA3B3"/>
                </a:solidFill>
              </a:rPr>
              <a:t>lógicas</a:t>
            </a:r>
            <a:r>
              <a:rPr lang="en-US" sz="1050" dirty="0">
                <a:solidFill>
                  <a:srgbClr val="8FA3B3"/>
                </a:solidFill>
              </a:rPr>
              <a:t> que </a:t>
            </a:r>
            <a:r>
              <a:rPr lang="en-US" sz="1050" dirty="0" err="1">
                <a:solidFill>
                  <a:srgbClr val="8FA3B3"/>
                </a:solidFill>
              </a:rPr>
              <a:t>distribuyen</a:t>
            </a:r>
            <a:r>
              <a:rPr lang="en-US" sz="1050" dirty="0">
                <a:solidFill>
                  <a:srgbClr val="8FA3B3"/>
                </a:solidFill>
              </a:rPr>
              <a:t> </a:t>
            </a:r>
            <a:r>
              <a:rPr lang="en-US" sz="1050" dirty="0" err="1">
                <a:solidFill>
                  <a:srgbClr val="8FA3B3"/>
                </a:solidFill>
              </a:rPr>
              <a:t>tareas</a:t>
            </a:r>
            <a:r>
              <a:rPr lang="en-US" sz="1050" dirty="0">
                <a:solidFill>
                  <a:srgbClr val="8FA3B3"/>
                </a:solidFill>
              </a:rPr>
              <a:t> a </a:t>
            </a:r>
            <a:r>
              <a:rPr lang="en-US" sz="1050" dirty="0" err="1">
                <a:solidFill>
                  <a:srgbClr val="8FA3B3"/>
                </a:solidFill>
              </a:rPr>
              <a:t>los</a:t>
            </a:r>
            <a:r>
              <a:rPr lang="en-US" sz="1050" dirty="0">
                <a:solidFill>
                  <a:srgbClr val="8FA3B3"/>
                </a:solidFill>
              </a:rPr>
              <a:t> workers</a:t>
            </a:r>
            <a:endParaRPr lang="en-US" sz="105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3CBD51CE-9B01-DF36-A701-CA08A6A096B3}"/>
              </a:ext>
            </a:extLst>
          </p:cNvPr>
          <p:cNvSpPr/>
          <p:nvPr/>
        </p:nvSpPr>
        <p:spPr>
          <a:xfrm>
            <a:off x="5938298" y="2747917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B06C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0DB29310-EE0E-FC1E-D001-3320E6C147FB}"/>
              </a:ext>
            </a:extLst>
          </p:cNvPr>
          <p:cNvSpPr/>
          <p:nvPr/>
        </p:nvSpPr>
        <p:spPr>
          <a:xfrm>
            <a:off x="5938298" y="2747917"/>
            <a:ext cx="2520000" cy="411480"/>
          </a:xfrm>
          <a:prstGeom prst="rect">
            <a:avLst/>
          </a:prstGeom>
          <a:solidFill>
            <a:srgbClr val="B06CC4"/>
          </a:solidFill>
          <a:ln w="12700">
            <a:solidFill>
              <a:srgbClr val="B06CC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CEE3EE06-EE3C-3923-E3C1-C6E82391E20F}"/>
              </a:ext>
            </a:extLst>
          </p:cNvPr>
          <p:cNvSpPr/>
          <p:nvPr/>
        </p:nvSpPr>
        <p:spPr>
          <a:xfrm>
            <a:off x="5938298" y="2747917"/>
            <a:ext cx="252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Workers</a:t>
            </a:r>
            <a:endParaRPr lang="en-US" sz="13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1E1CB1CE-DD1C-153A-7F80-EA8F0C1CA94F}"/>
              </a:ext>
            </a:extLst>
          </p:cNvPr>
          <p:cNvSpPr/>
          <p:nvPr/>
        </p:nvSpPr>
        <p:spPr>
          <a:xfrm>
            <a:off x="6029738" y="3205117"/>
            <a:ext cx="23801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 err="1">
                <a:solidFill>
                  <a:srgbClr val="8FA3B3"/>
                </a:solidFill>
              </a:rPr>
              <a:t>Ejecutan</a:t>
            </a:r>
            <a:r>
              <a:rPr lang="en-US" sz="1050" dirty="0">
                <a:solidFill>
                  <a:srgbClr val="8FA3B3"/>
                </a:solidFill>
              </a:rPr>
              <a:t> Código de workflows y activities</a:t>
            </a:r>
            <a:endParaRPr lang="en-US" sz="105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1CC6A62A-5EB4-DB98-CA2A-03515C6E91C6}"/>
              </a:ext>
            </a:extLst>
          </p:cNvPr>
          <p:cNvSpPr/>
          <p:nvPr/>
        </p:nvSpPr>
        <p:spPr>
          <a:xfrm>
            <a:off x="3234805" y="3550738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878DD617-F93E-5BD3-21C5-EE2D9FB5EC22}"/>
              </a:ext>
            </a:extLst>
          </p:cNvPr>
          <p:cNvSpPr/>
          <p:nvPr/>
        </p:nvSpPr>
        <p:spPr>
          <a:xfrm>
            <a:off x="3234805" y="3550738"/>
            <a:ext cx="25200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8F71ECED-4D25-0549-A443-65A0A30A6C3E}"/>
              </a:ext>
            </a:extLst>
          </p:cNvPr>
          <p:cNvSpPr/>
          <p:nvPr/>
        </p:nvSpPr>
        <p:spPr>
          <a:xfrm>
            <a:off x="3234805" y="3550738"/>
            <a:ext cx="252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499236D7-0C66-9445-337F-7BD9A5142ADA}"/>
              </a:ext>
            </a:extLst>
          </p:cNvPr>
          <p:cNvSpPr/>
          <p:nvPr/>
        </p:nvSpPr>
        <p:spPr>
          <a:xfrm>
            <a:off x="3326245" y="4007938"/>
            <a:ext cx="234432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 err="1">
                <a:solidFill>
                  <a:srgbClr val="8FA3B3"/>
                </a:solidFill>
              </a:rPr>
              <a:t>Almacena</a:t>
            </a:r>
            <a:r>
              <a:rPr lang="en-US" sz="1050" dirty="0">
                <a:solidFill>
                  <a:srgbClr val="8FA3B3"/>
                </a:solidFill>
              </a:rPr>
              <a:t> </a:t>
            </a:r>
            <a:r>
              <a:rPr lang="en-US" sz="1050" dirty="0" err="1">
                <a:solidFill>
                  <a:srgbClr val="8FA3B3"/>
                </a:solidFill>
              </a:rPr>
              <a:t>el</a:t>
            </a:r>
            <a:r>
              <a:rPr lang="en-US" sz="1050" dirty="0">
                <a:solidFill>
                  <a:srgbClr val="8FA3B3"/>
                </a:solidFill>
              </a:rPr>
              <a:t> </a:t>
            </a:r>
            <a:r>
              <a:rPr lang="en-US" sz="1050" dirty="0" err="1">
                <a:solidFill>
                  <a:srgbClr val="8FA3B3"/>
                </a:solidFill>
              </a:rPr>
              <a:t>historial</a:t>
            </a:r>
            <a:r>
              <a:rPr lang="en-US" sz="1050" dirty="0">
                <a:solidFill>
                  <a:srgbClr val="8FA3B3"/>
                </a:solidFill>
              </a:rPr>
              <a:t> de </a:t>
            </a:r>
            <a:r>
              <a:rPr lang="en-US" sz="1050" dirty="0" err="1">
                <a:solidFill>
                  <a:srgbClr val="8FA3B3"/>
                </a:solidFill>
              </a:rPr>
              <a:t>eventos</a:t>
            </a:r>
            <a:r>
              <a:rPr lang="en-US" sz="1050" dirty="0">
                <a:solidFill>
                  <a:srgbClr val="8FA3B3"/>
                </a:solidFill>
              </a:rPr>
              <a:t> (PostgreSQL/MySQL/Cassandra)</a:t>
            </a:r>
            <a:endParaRPr lang="en-US" sz="1050" dirty="0"/>
          </a:p>
        </p:txBody>
      </p:sp>
      <p:cxnSp>
        <p:nvCxnSpPr>
          <p:cNvPr id="48" name="Conexão Reta Unidirecional 47">
            <a:extLst>
              <a:ext uri="{FF2B5EF4-FFF2-40B4-BE49-F238E27FC236}">
                <a16:creationId xmlns:a16="http://schemas.microsoft.com/office/drawing/2014/main" id="{DB9BB559-FF8B-B0BD-2A2E-43DA67C4294B}"/>
              </a:ext>
            </a:extLst>
          </p:cNvPr>
          <p:cNvCxnSpPr>
            <a:cxnSpLocks/>
            <a:stCxn id="32" idx="2"/>
            <a:endCxn id="45" idx="0"/>
          </p:cNvCxnSpPr>
          <p:nvPr/>
        </p:nvCxnSpPr>
        <p:spPr>
          <a:xfrm flipH="1">
            <a:off x="4494805" y="2445840"/>
            <a:ext cx="1" cy="11048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xão Reta Unidirecional 48">
            <a:extLst>
              <a:ext uri="{FF2B5EF4-FFF2-40B4-BE49-F238E27FC236}">
                <a16:creationId xmlns:a16="http://schemas.microsoft.com/office/drawing/2014/main" id="{EB9BCE63-3505-4B66-4963-76A0DE25C581}"/>
              </a:ext>
            </a:extLst>
          </p:cNvPr>
          <p:cNvCxnSpPr>
            <a:cxnSpLocks/>
            <a:stCxn id="28" idx="3"/>
            <a:endCxn id="32" idx="1"/>
          </p:cNvCxnSpPr>
          <p:nvPr/>
        </p:nvCxnSpPr>
        <p:spPr>
          <a:xfrm>
            <a:off x="3033481" y="1725840"/>
            <a:ext cx="2013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xão Reta Unidirecional 49">
            <a:extLst>
              <a:ext uri="{FF2B5EF4-FFF2-40B4-BE49-F238E27FC236}">
                <a16:creationId xmlns:a16="http://schemas.microsoft.com/office/drawing/2014/main" id="{1BEE7A42-70BB-D7FD-722E-EE0A9D1E35F2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>
            <a:off x="5754806" y="1725840"/>
            <a:ext cx="183496" cy="12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xão Reta Unidirecional 50">
            <a:extLst>
              <a:ext uri="{FF2B5EF4-FFF2-40B4-BE49-F238E27FC236}">
                <a16:creationId xmlns:a16="http://schemas.microsoft.com/office/drawing/2014/main" id="{CFC75E01-465A-FCAA-4C72-2FC1A4078516}"/>
              </a:ext>
            </a:extLst>
          </p:cNvPr>
          <p:cNvCxnSpPr>
            <a:cxnSpLocks/>
            <a:stCxn id="36" idx="2"/>
            <a:endCxn id="41" idx="0"/>
          </p:cNvCxnSpPr>
          <p:nvPr/>
        </p:nvCxnSpPr>
        <p:spPr>
          <a:xfrm flipH="1">
            <a:off x="7198298" y="2447097"/>
            <a:ext cx="4" cy="3008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/  Fluxo de Execução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2D9C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50292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</a:rPr>
              <a:t>Cliente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inicia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el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flujo</a:t>
            </a:r>
            <a:r>
              <a:rPr lang="en-US" sz="1200" dirty="0">
                <a:solidFill>
                  <a:srgbClr val="FFFFFF"/>
                </a:solidFill>
              </a:rPr>
              <a:t> de </a:t>
            </a:r>
            <a:r>
              <a:rPr lang="en-US" sz="1200" dirty="0" err="1">
                <a:solidFill>
                  <a:srgbClr val="FFFFFF"/>
                </a:solidFill>
              </a:rPr>
              <a:t>trabajo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502920" cy="50292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2918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07899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Temporal Service </a:t>
            </a:r>
            <a:r>
              <a:rPr lang="en-US" sz="1200" dirty="0" err="1">
                <a:solidFill>
                  <a:srgbClr val="FFFFFF"/>
                </a:solidFill>
              </a:rPr>
              <a:t>registra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el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evento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217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07899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Las </a:t>
            </a:r>
            <a:r>
              <a:rPr lang="en-US" sz="1200" dirty="0" err="1">
                <a:solidFill>
                  <a:srgbClr val="FFFFFF"/>
                </a:solidFill>
              </a:rPr>
              <a:t>tareas</a:t>
            </a:r>
            <a:r>
              <a:rPr lang="en-US" sz="1200" dirty="0">
                <a:solidFill>
                  <a:srgbClr val="FFFFFF"/>
                </a:solidFill>
              </a:rPr>
              <a:t> se </a:t>
            </a:r>
            <a:r>
              <a:rPr lang="en-US" sz="1200" dirty="0" err="1">
                <a:solidFill>
                  <a:srgbClr val="FFFFFF"/>
                </a:solidFill>
              </a:rPr>
              <a:t>programan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en</a:t>
            </a:r>
            <a:r>
              <a:rPr lang="en-US" sz="1200" dirty="0">
                <a:solidFill>
                  <a:srgbClr val="FFFFFF"/>
                </a:solidFill>
              </a:rPr>
              <a:t> Task Queue.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72491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Worker consume y </a:t>
            </a:r>
            <a:r>
              <a:rPr lang="en-US" sz="1200" dirty="0" err="1">
                <a:solidFill>
                  <a:srgbClr val="FFFFFF"/>
                </a:solidFill>
              </a:rPr>
              <a:t>ejecuta</a:t>
            </a:r>
            <a:r>
              <a:rPr lang="en-US" sz="1200" dirty="0">
                <a:solidFill>
                  <a:srgbClr val="FFFFFF"/>
                </a:solidFill>
              </a:rPr>
              <a:t> la </a:t>
            </a:r>
            <a:r>
              <a:rPr lang="en-US" sz="1200" dirty="0" err="1">
                <a:solidFill>
                  <a:srgbClr val="FFFFFF"/>
                </a:solidFill>
              </a:rPr>
              <a:t>tarea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65176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32918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86200" y="272491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Activity </a:t>
            </a:r>
            <a:r>
              <a:rPr lang="en-US" sz="1200" dirty="0" err="1">
                <a:solidFill>
                  <a:srgbClr val="FFFFFF"/>
                </a:solidFill>
              </a:rPr>
              <a:t>realiza</a:t>
            </a:r>
            <a:r>
              <a:rPr lang="en-US" sz="1200" dirty="0">
                <a:solidFill>
                  <a:srgbClr val="FFFFFF"/>
                </a:solidFill>
              </a:rPr>
              <a:t> la </a:t>
            </a:r>
            <a:r>
              <a:rPr lang="en-US" sz="1200" dirty="0" err="1">
                <a:solidFill>
                  <a:srgbClr val="FFFFFF"/>
                </a:solidFill>
              </a:rPr>
              <a:t>operación</a:t>
            </a:r>
            <a:r>
              <a:rPr lang="en-US" sz="1200" dirty="0">
                <a:solidFill>
                  <a:srgbClr val="FFFFFF"/>
                </a:solidFill>
              </a:rPr>
              <a:t> externa.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65176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62179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272491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 </a:t>
            </a:r>
            <a:r>
              <a:rPr lang="en-US" sz="1200" dirty="0" err="1">
                <a:solidFill>
                  <a:srgbClr val="FFFFFF"/>
                </a:solidFill>
              </a:rPr>
              <a:t>devuelve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el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resultado</a:t>
            </a:r>
            <a:r>
              <a:rPr lang="en-US" sz="1200" dirty="0">
                <a:solidFill>
                  <a:srgbClr val="FFFFFF"/>
                </a:solidFill>
              </a:rPr>
              <a:t> y se </a:t>
            </a:r>
            <a:r>
              <a:rPr lang="en-US" sz="1200" dirty="0" err="1">
                <a:solidFill>
                  <a:srgbClr val="FFFFFF"/>
                </a:solidFill>
              </a:rPr>
              <a:t>actualiza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el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historial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🔄  En </a:t>
            </a:r>
            <a:r>
              <a:rPr lang="en-US" sz="1100" i="1" dirty="0" err="1">
                <a:solidFill>
                  <a:srgbClr val="FFFFFF"/>
                </a:solidFill>
              </a:rPr>
              <a:t>caso</a:t>
            </a:r>
            <a:r>
              <a:rPr lang="en-US" sz="1100" i="1" dirty="0">
                <a:solidFill>
                  <a:srgbClr val="FFFFFF"/>
                </a:solidFill>
              </a:rPr>
              <a:t> de </a:t>
            </a:r>
            <a:r>
              <a:rPr lang="en-US" sz="1100" i="1" dirty="0" err="1">
                <a:solidFill>
                  <a:srgbClr val="FFFFFF"/>
                </a:solidFill>
              </a:rPr>
              <a:t>fallo</a:t>
            </a:r>
            <a:r>
              <a:rPr lang="en-US" sz="1100" i="1" dirty="0">
                <a:solidFill>
                  <a:srgbClr val="FFFFFF"/>
                </a:solidFill>
              </a:rPr>
              <a:t>: Temporal </a:t>
            </a:r>
            <a:r>
              <a:rPr lang="en-US" sz="1100" i="1" dirty="0" err="1">
                <a:solidFill>
                  <a:srgbClr val="FFFFFF"/>
                </a:solidFill>
              </a:rPr>
              <a:t>aplica</a:t>
            </a:r>
            <a:r>
              <a:rPr lang="en-US" sz="1100" i="1" dirty="0">
                <a:solidFill>
                  <a:srgbClr val="FFFFFF"/>
                </a:solidFill>
              </a:rPr>
              <a:t> las </a:t>
            </a:r>
            <a:r>
              <a:rPr lang="en-US" sz="1100" i="1" dirty="0" err="1">
                <a:solidFill>
                  <a:srgbClr val="FFFFFF"/>
                </a:solidFill>
              </a:rPr>
              <a:t>políticas</a:t>
            </a:r>
            <a:r>
              <a:rPr lang="en-US" sz="1100" i="1" dirty="0">
                <a:solidFill>
                  <a:srgbClr val="FFFFFF"/>
                </a:solidFill>
              </a:rPr>
              <a:t> de </a:t>
            </a:r>
            <a:r>
              <a:rPr lang="en-US" sz="1100" i="1" dirty="0" err="1">
                <a:solidFill>
                  <a:srgbClr val="FFFFFF"/>
                </a:solidFill>
              </a:rPr>
              <a:t>reintento</a:t>
            </a:r>
            <a:r>
              <a:rPr lang="en-US" sz="1100" i="1" dirty="0">
                <a:solidFill>
                  <a:srgbClr val="FFFFFF"/>
                </a:solidFill>
              </a:rPr>
              <a:t> y </a:t>
            </a:r>
            <a:r>
              <a:rPr lang="en-US" sz="1100" i="1" dirty="0" err="1">
                <a:solidFill>
                  <a:srgbClr val="FFFFFF"/>
                </a:solidFill>
              </a:rPr>
              <a:t>reanuda</a:t>
            </a:r>
            <a:r>
              <a:rPr lang="en-US" sz="1100" i="1" dirty="0">
                <a:solidFill>
                  <a:srgbClr val="FFFFFF"/>
                </a:solidFill>
              </a:rPr>
              <a:t> la </a:t>
            </a:r>
            <a:r>
              <a:rPr lang="en-US" sz="1100" i="1" dirty="0" err="1">
                <a:solidFill>
                  <a:srgbClr val="FFFFFF"/>
                </a:solidFill>
              </a:rPr>
              <a:t>ejecución</a:t>
            </a:r>
            <a:r>
              <a:rPr lang="en-US" sz="1100" i="1" dirty="0">
                <a:solidFill>
                  <a:srgbClr val="FFFFFF"/>
                </a:solidFill>
              </a:rPr>
              <a:t> </a:t>
            </a:r>
            <a:r>
              <a:rPr lang="en-US" sz="1100" i="1" dirty="0" err="1">
                <a:solidFill>
                  <a:srgbClr val="FFFFFF"/>
                </a:solidFill>
              </a:rPr>
              <a:t>en</a:t>
            </a:r>
            <a:r>
              <a:rPr lang="en-US" sz="1100" i="1" dirty="0">
                <a:solidFill>
                  <a:srgbClr val="FFFFFF"/>
                </a:solidFill>
              </a:rPr>
              <a:t> </a:t>
            </a:r>
            <a:r>
              <a:rPr lang="en-US" sz="1100" i="1" dirty="0" err="1">
                <a:solidFill>
                  <a:srgbClr val="FFFFFF"/>
                </a:solidFill>
              </a:rPr>
              <a:t>función</a:t>
            </a:r>
            <a:r>
              <a:rPr lang="en-US" sz="1100" i="1" dirty="0">
                <a:solidFill>
                  <a:srgbClr val="FFFFFF"/>
                </a:solidFill>
              </a:rPr>
              <a:t> del </a:t>
            </a:r>
            <a:r>
              <a:rPr lang="en-US" sz="1100" i="1" dirty="0" err="1">
                <a:solidFill>
                  <a:srgbClr val="FFFFFF"/>
                </a:solidFill>
              </a:rPr>
              <a:t>historial</a:t>
            </a:r>
            <a:r>
              <a:rPr lang="en-US" sz="1100" i="1" dirty="0">
                <a:solidFill>
                  <a:srgbClr val="FFFFFF"/>
                </a:solidFill>
              </a:rPr>
              <a:t> de </a:t>
            </a:r>
            <a:r>
              <a:rPr lang="en-US" sz="1100" i="1" dirty="0" err="1">
                <a:solidFill>
                  <a:srgbClr val="FFFFFF"/>
                </a:solidFill>
              </a:rPr>
              <a:t>eventos</a:t>
            </a:r>
            <a:r>
              <a:rPr lang="en-US" sz="1100" i="1" dirty="0">
                <a:solidFill>
                  <a:srgbClr val="FFFFFF"/>
                </a:solidFill>
              </a:rPr>
              <a:t>.</a:t>
            </a:r>
            <a:endParaRPr lang="en-US" sz="1100" dirty="0"/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06BC731E-5FA7-9DE4-0099-4DDF5EC35A24}"/>
              </a:ext>
            </a:extLst>
          </p:cNvPr>
          <p:cNvCxnSpPr>
            <a:cxnSpLocks/>
          </p:cNvCxnSpPr>
          <p:nvPr/>
        </p:nvCxnSpPr>
        <p:spPr>
          <a:xfrm>
            <a:off x="3017520" y="16687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5ADA2D49-254B-8274-AABC-40F9046D3AC7}"/>
              </a:ext>
            </a:extLst>
          </p:cNvPr>
          <p:cNvCxnSpPr>
            <a:cxnSpLocks/>
          </p:cNvCxnSpPr>
          <p:nvPr/>
        </p:nvCxnSpPr>
        <p:spPr>
          <a:xfrm>
            <a:off x="5943600" y="16687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xão Reta Unidirecional 35">
            <a:extLst>
              <a:ext uri="{FF2B5EF4-FFF2-40B4-BE49-F238E27FC236}">
                <a16:creationId xmlns:a16="http://schemas.microsoft.com/office/drawing/2014/main" id="{B8D804C8-CA41-F327-9B64-FC25871AA272}"/>
              </a:ext>
            </a:extLst>
          </p:cNvPr>
          <p:cNvCxnSpPr>
            <a:cxnSpLocks/>
          </p:cNvCxnSpPr>
          <p:nvPr/>
        </p:nvCxnSpPr>
        <p:spPr>
          <a:xfrm>
            <a:off x="3017520" y="331470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xão Reta Unidirecional 36">
            <a:extLst>
              <a:ext uri="{FF2B5EF4-FFF2-40B4-BE49-F238E27FC236}">
                <a16:creationId xmlns:a16="http://schemas.microsoft.com/office/drawing/2014/main" id="{073E7D96-C155-470F-114A-C83D50DC5996}"/>
              </a:ext>
            </a:extLst>
          </p:cNvPr>
          <p:cNvCxnSpPr>
            <a:cxnSpLocks/>
          </p:cNvCxnSpPr>
          <p:nvPr/>
        </p:nvCxnSpPr>
        <p:spPr>
          <a:xfrm flipV="1">
            <a:off x="5943600" y="3310944"/>
            <a:ext cx="182880" cy="37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  / </a:t>
            </a:r>
            <a:r>
              <a:rPr lang="en-US" sz="2400" b="1" dirty="0" err="1">
                <a:solidFill>
                  <a:srgbClr val="FFFFFF"/>
                </a:solidFill>
              </a:rPr>
              <a:t>Conclusión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Temporal IO no es solo </a:t>
            </a:r>
            <a:r>
              <a:rPr lang="en-US" sz="1300" i="1" dirty="0" err="1">
                <a:solidFill>
                  <a:srgbClr val="FFFFFF"/>
                </a:solidFill>
              </a:rPr>
              <a:t>una</a:t>
            </a:r>
            <a:r>
              <a:rPr lang="en-US" sz="1300" i="1" dirty="0">
                <a:solidFill>
                  <a:srgbClr val="FFFFFF"/>
                </a:solidFill>
              </a:rPr>
              <a:t> </a:t>
            </a:r>
            <a:r>
              <a:rPr lang="en-US" sz="1300" i="1" dirty="0" err="1">
                <a:solidFill>
                  <a:srgbClr val="FFFFFF"/>
                </a:solidFill>
              </a:rPr>
              <a:t>herramienta</a:t>
            </a:r>
            <a:r>
              <a:rPr lang="en-US" sz="1300" i="1" dirty="0">
                <a:solidFill>
                  <a:srgbClr val="FFFFFF"/>
                </a:solidFill>
              </a:rPr>
              <a:t> de </a:t>
            </a:r>
            <a:r>
              <a:rPr lang="en-US" sz="1300" i="1" dirty="0" err="1">
                <a:solidFill>
                  <a:srgbClr val="FFFFFF"/>
                </a:solidFill>
              </a:rPr>
              <a:t>orquestación</a:t>
            </a:r>
            <a:r>
              <a:rPr lang="en-US" sz="1300" i="1" dirty="0">
                <a:solidFill>
                  <a:srgbClr val="FFFFFF"/>
                </a:solidFill>
              </a:rPr>
              <a:t>, </a:t>
            </a:r>
            <a:r>
              <a:rPr lang="en-US" sz="1300" i="1" dirty="0" err="1">
                <a:solidFill>
                  <a:srgbClr val="FFFFFF"/>
                </a:solidFill>
              </a:rPr>
              <a:t>sino</a:t>
            </a:r>
            <a:r>
              <a:rPr lang="en-US" sz="1300" i="1" dirty="0">
                <a:solidFill>
                  <a:srgbClr val="FFFFFF"/>
                </a:solidFill>
              </a:rPr>
              <a:t> </a:t>
            </a:r>
            <a:r>
              <a:rPr lang="en-US" sz="1300" i="1" dirty="0" err="1">
                <a:solidFill>
                  <a:srgbClr val="FFFFFF"/>
                </a:solidFill>
              </a:rPr>
              <a:t>una</a:t>
            </a:r>
            <a:r>
              <a:rPr lang="en-US" sz="1300" i="1" dirty="0">
                <a:solidFill>
                  <a:srgbClr val="FFFFFF"/>
                </a:solidFill>
              </a:rPr>
              <a:t> </a:t>
            </a:r>
            <a:r>
              <a:rPr lang="en-US" sz="1300" i="1" dirty="0" err="1">
                <a:solidFill>
                  <a:srgbClr val="FFFFFF"/>
                </a:solidFill>
              </a:rPr>
              <a:t>plataforma</a:t>
            </a:r>
            <a:r>
              <a:rPr lang="en-US" sz="1300" i="1" dirty="0">
                <a:solidFill>
                  <a:srgbClr val="FFFFFF"/>
                </a:solidFill>
              </a:rPr>
              <a:t> </a:t>
            </a:r>
            <a:r>
              <a:rPr lang="en-US" sz="1300" i="1" dirty="0" err="1">
                <a:solidFill>
                  <a:srgbClr val="FFFFFF"/>
                </a:solidFill>
              </a:rPr>
              <a:t>completa</a:t>
            </a:r>
            <a:r>
              <a:rPr lang="en-US" sz="1300" i="1" dirty="0">
                <a:solidFill>
                  <a:srgbClr val="FFFFFF"/>
                </a:solidFill>
              </a:rPr>
              <a:t> para </a:t>
            </a:r>
            <a:r>
              <a:rPr lang="en-US" sz="1300" i="1" dirty="0" err="1">
                <a:solidFill>
                  <a:srgbClr val="FFFFFF"/>
                </a:solidFill>
              </a:rPr>
              <a:t>crear</a:t>
            </a:r>
            <a:r>
              <a:rPr lang="en-US" sz="1300" i="1" dirty="0">
                <a:solidFill>
                  <a:srgbClr val="FFFFFF"/>
                </a:solidFill>
              </a:rPr>
              <a:t> </a:t>
            </a:r>
            <a:r>
              <a:rPr lang="en-US" sz="1300" i="1" dirty="0" err="1">
                <a:solidFill>
                  <a:srgbClr val="FFFFFF"/>
                </a:solidFill>
              </a:rPr>
              <a:t>aplicaciones</a:t>
            </a:r>
            <a:r>
              <a:rPr lang="en-US" sz="1300" i="1" dirty="0">
                <a:solidFill>
                  <a:srgbClr val="FFFFFF"/>
                </a:solidFill>
              </a:rPr>
              <a:t> </a:t>
            </a:r>
            <a:r>
              <a:rPr lang="en-US" sz="1300" i="1" dirty="0" err="1">
                <a:solidFill>
                  <a:srgbClr val="FFFFFF"/>
                </a:solidFill>
              </a:rPr>
              <a:t>distribuidas</a:t>
            </a:r>
            <a:r>
              <a:rPr lang="en-US" sz="1300" i="1" dirty="0">
                <a:solidFill>
                  <a:srgbClr val="FFFFFF"/>
                </a:solidFill>
              </a:rPr>
              <a:t> </a:t>
            </a:r>
            <a:r>
              <a:rPr lang="en-US" sz="1300" i="1" dirty="0" err="1">
                <a:solidFill>
                  <a:srgbClr val="FFFFFF"/>
                </a:solidFill>
              </a:rPr>
              <a:t>resilientes</a:t>
            </a:r>
            <a:r>
              <a:rPr lang="en-US" sz="1300" i="1" dirty="0">
                <a:solidFill>
                  <a:srgbClr val="FFFFFF"/>
                </a:solidFill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3977640" cy="2651760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397764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✅ </a:t>
            </a:r>
            <a:r>
              <a:rPr lang="en-US" sz="1300" b="1" dirty="0" err="1">
                <a:solidFill>
                  <a:srgbClr val="0D1B2A"/>
                </a:solidFill>
              </a:rPr>
              <a:t>Utilizar</a:t>
            </a:r>
            <a:r>
              <a:rPr lang="en-US" sz="1300" b="1" dirty="0">
                <a:solidFill>
                  <a:srgbClr val="0D1B2A"/>
                </a:solidFill>
              </a:rPr>
              <a:t> </a:t>
            </a:r>
            <a:r>
              <a:rPr lang="en-US" sz="1300" b="1" dirty="0" err="1">
                <a:solidFill>
                  <a:srgbClr val="0D1B2A"/>
                </a:solidFill>
              </a:rPr>
              <a:t>cuando</a:t>
            </a:r>
            <a:r>
              <a:rPr lang="en-US" sz="1300" b="1" dirty="0">
                <a:solidFill>
                  <a:srgbClr val="0D1B2A"/>
                </a:solidFill>
              </a:rPr>
              <a:t>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</a:t>
            </a:r>
            <a:r>
              <a:rPr lang="en-US" sz="1100" dirty="0" err="1">
                <a:solidFill>
                  <a:srgbClr val="FFFFFF"/>
                </a:solidFill>
              </a:rPr>
              <a:t>Múltiples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integraciones</a:t>
            </a:r>
            <a:r>
              <a:rPr lang="en-US" sz="1100" dirty="0">
                <a:solidFill>
                  <a:srgbClr val="FFFFFF"/>
                </a:solidFill>
              </a:rPr>
              <a:t> entre </a:t>
            </a:r>
            <a:r>
              <a:rPr lang="en-US" sz="1100" dirty="0" err="1">
                <a:solidFill>
                  <a:srgbClr val="FFFFFF"/>
                </a:solidFill>
              </a:rPr>
              <a:t>servicios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</a:t>
            </a:r>
            <a:r>
              <a:rPr lang="en-US" sz="1100" dirty="0" err="1">
                <a:solidFill>
                  <a:srgbClr val="FFFFFF"/>
                </a:solidFill>
              </a:rPr>
              <a:t>Dependencia</a:t>
            </a:r>
            <a:r>
              <a:rPr lang="en-US" sz="1100" dirty="0">
                <a:solidFill>
                  <a:srgbClr val="FFFFFF"/>
                </a:solidFill>
              </a:rPr>
              <a:t> de </a:t>
            </a:r>
            <a:r>
              <a:rPr lang="en-US" sz="1100" dirty="0" err="1">
                <a:solidFill>
                  <a:srgbClr val="FFFFFF"/>
                </a:solidFill>
              </a:rPr>
              <a:t>sistemas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externos</a:t>
            </a:r>
            <a:r>
              <a:rPr lang="en-US" sz="1100" dirty="0">
                <a:solidFill>
                  <a:srgbClr val="FFFFFF"/>
                </a:solidFill>
              </a:rPr>
              <a:t> que </a:t>
            </a:r>
            <a:r>
              <a:rPr lang="en-US" sz="1100" dirty="0" err="1">
                <a:solidFill>
                  <a:srgbClr val="FFFFFF"/>
                </a:solidFill>
              </a:rPr>
              <a:t>están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sujetos</a:t>
            </a:r>
            <a:r>
              <a:rPr lang="en-US" sz="1100" dirty="0">
                <a:solidFill>
                  <a:srgbClr val="FFFFFF"/>
                </a:solidFill>
              </a:rPr>
              <a:t> a </a:t>
            </a:r>
            <a:r>
              <a:rPr lang="en-US" sz="1100" dirty="0" err="1">
                <a:solidFill>
                  <a:srgbClr val="FFFFFF"/>
                </a:solidFill>
              </a:rPr>
              <a:t>fallos</a:t>
            </a:r>
            <a:r>
              <a:rPr lang="en-US" sz="1100" dirty="0">
                <a:solidFill>
                  <a:srgbClr val="FFFFFF"/>
                </a:solidFill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</a:t>
            </a:r>
            <a:r>
              <a:rPr lang="en-US" sz="1100" dirty="0" err="1">
                <a:solidFill>
                  <a:srgbClr val="FFFFFF"/>
                </a:solidFill>
              </a:rPr>
              <a:t>Procesos</a:t>
            </a:r>
            <a:r>
              <a:rPr lang="en-US" sz="1100" dirty="0">
                <a:solidFill>
                  <a:srgbClr val="FFFFFF"/>
                </a:solidFill>
              </a:rPr>
              <a:t> largos o </a:t>
            </a:r>
            <a:r>
              <a:rPr lang="en-US" sz="1100" dirty="0" err="1">
                <a:solidFill>
                  <a:srgbClr val="FFFFFF"/>
                </a:solidFill>
              </a:rPr>
              <a:t>asíncronos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</a:t>
            </a:r>
            <a:r>
              <a:rPr lang="en-US" sz="1100" dirty="0" err="1">
                <a:solidFill>
                  <a:srgbClr val="FFFFFF"/>
                </a:solidFill>
              </a:rPr>
              <a:t>Necesita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trazabilidad</a:t>
            </a:r>
            <a:r>
              <a:rPr lang="en-US" sz="1100" dirty="0">
                <a:solidFill>
                  <a:srgbClr val="FFFFFF"/>
                </a:solidFill>
              </a:rPr>
              <a:t> y un </a:t>
            </a:r>
            <a:r>
              <a:rPr lang="en-US" sz="1100" dirty="0" err="1">
                <a:solidFill>
                  <a:srgbClr val="FFFFFF"/>
                </a:solidFill>
              </a:rPr>
              <a:t>reprocesamiento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fiable</a:t>
            </a:r>
            <a:r>
              <a:rPr lang="en-US" sz="1100" dirty="0">
                <a:solidFill>
                  <a:srgbClr val="FFFFFF"/>
                </a:solidFill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148840"/>
            <a:ext cx="3977640" cy="2651760"/>
          </a:xfrm>
          <a:prstGeom prst="rect">
            <a:avLst/>
          </a:prstGeom>
          <a:solidFill>
            <a:srgbClr val="112236"/>
          </a:solidFill>
          <a:ln w="12700">
            <a:solidFill>
              <a:srgbClr val="CC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4800600" y="2148840"/>
            <a:ext cx="3977640" cy="4572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</a:t>
            </a:r>
            <a:r>
              <a:rPr lang="en-US" sz="1300" b="1" dirty="0" err="1">
                <a:solidFill>
                  <a:srgbClr val="FFFFFF"/>
                </a:solidFill>
              </a:rPr>
              <a:t>Reconsidera</a:t>
            </a: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 dirty="0" err="1">
                <a:solidFill>
                  <a:srgbClr val="FFFFFF"/>
                </a:solidFill>
              </a:rPr>
              <a:t>cuando</a:t>
            </a:r>
            <a:r>
              <a:rPr lang="en-US" sz="1300" b="1" dirty="0">
                <a:solidFill>
                  <a:srgbClr val="FFFFFF"/>
                </a:solidFill>
              </a:rPr>
              <a:t>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</a:t>
            </a:r>
            <a:r>
              <a:rPr lang="en-US" sz="1100" dirty="0" err="1">
                <a:solidFill>
                  <a:srgbClr val="FFFFFF"/>
                </a:solidFill>
              </a:rPr>
              <a:t>Requiere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facilidad</a:t>
            </a:r>
            <a:r>
              <a:rPr lang="en-US" sz="1100" dirty="0">
                <a:solidFill>
                  <a:srgbClr val="FFFFFF"/>
                </a:solidFill>
              </a:rPr>
              <a:t> de </a:t>
            </a:r>
            <a:r>
              <a:rPr lang="en-US" sz="1100" dirty="0" err="1">
                <a:solidFill>
                  <a:srgbClr val="FFFFFF"/>
                </a:solidFill>
              </a:rPr>
              <a:t>transporte</a:t>
            </a:r>
            <a:r>
              <a:rPr lang="en-US" sz="1100" dirty="0">
                <a:solidFill>
                  <a:srgbClr val="FFFFFF"/>
                </a:solidFill>
              </a:rPr>
              <a:t> y </a:t>
            </a:r>
            <a:r>
              <a:rPr lang="en-US" sz="1100" dirty="0" err="1">
                <a:solidFill>
                  <a:srgbClr val="FFFFFF"/>
                </a:solidFill>
              </a:rPr>
              <a:t>reprocesamiento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fiable</a:t>
            </a:r>
            <a:r>
              <a:rPr lang="en-US" sz="1100" dirty="0">
                <a:solidFill>
                  <a:srgbClr val="FFFFFF"/>
                </a:solidFill>
              </a:rPr>
              <a:t>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200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</a:t>
            </a:r>
            <a:r>
              <a:rPr lang="en-US" sz="1100" dirty="0" err="1">
                <a:solidFill>
                  <a:srgbClr val="FFFFFF"/>
                </a:solidFill>
              </a:rPr>
              <a:t>Equipos</a:t>
            </a:r>
            <a:r>
              <a:rPr lang="en-US" sz="1100" dirty="0">
                <a:solidFill>
                  <a:srgbClr val="FFFFFF"/>
                </a:solidFill>
              </a:rPr>
              <a:t> sin </a:t>
            </a:r>
            <a:r>
              <a:rPr lang="en-US" sz="1100" dirty="0" err="1">
                <a:solidFill>
                  <a:srgbClr val="FFFFFF"/>
                </a:solidFill>
              </a:rPr>
              <a:t>tiempo</a:t>
            </a:r>
            <a:r>
              <a:rPr lang="en-US" sz="1100" dirty="0">
                <a:solidFill>
                  <a:srgbClr val="FFFFFF"/>
                </a:solidFill>
              </a:rPr>
              <a:t> para </a:t>
            </a:r>
            <a:r>
              <a:rPr lang="en-US" sz="1100" dirty="0" err="1">
                <a:solidFill>
                  <a:srgbClr val="FFFFFF"/>
                </a:solidFill>
              </a:rPr>
              <a:t>una</a:t>
            </a:r>
            <a:r>
              <a:rPr lang="en-US" sz="1100" dirty="0">
                <a:solidFill>
                  <a:srgbClr val="FFFFFF"/>
                </a:solidFill>
              </a:rPr>
              <a:t> curva de </a:t>
            </a:r>
            <a:r>
              <a:rPr lang="en-US" sz="1100" dirty="0" err="1">
                <a:solidFill>
                  <a:srgbClr val="FFFFFF"/>
                </a:solidFill>
              </a:rPr>
              <a:t>aprendizaje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</a:t>
            </a:r>
            <a:r>
              <a:rPr lang="en-US" sz="1100" dirty="0" err="1">
                <a:solidFill>
                  <a:srgbClr val="FFFFFF"/>
                </a:solidFill>
              </a:rPr>
              <a:t>Proyectos</a:t>
            </a:r>
            <a:r>
              <a:rPr lang="en-US" sz="1100" dirty="0">
                <a:solidFill>
                  <a:srgbClr val="FFFFFF"/>
                </a:solidFill>
              </a:rPr>
              <a:t> que no </a:t>
            </a:r>
            <a:r>
              <a:rPr lang="en-US" sz="1100" dirty="0" err="1">
                <a:solidFill>
                  <a:srgbClr val="FFFFFF"/>
                </a:solidFill>
              </a:rPr>
              <a:t>requieren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alta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resiliencia</a:t>
            </a:r>
            <a:r>
              <a:rPr lang="en-US" sz="1100" dirty="0">
                <a:solidFill>
                  <a:srgbClr val="FFFFFF"/>
                </a:solidFill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Gracias!</a:t>
            </a:r>
            <a:endParaRPr lang="en-US" sz="52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9CDB"/>
                </a:solidFill>
              </a:rPr>
              <a:t>Temporal IO  •  Workflows Durables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📚  </a:t>
            </a:r>
            <a:r>
              <a:rPr lang="en-US" sz="1400" b="1" dirty="0" err="1">
                <a:solidFill>
                  <a:srgbClr val="00D4AA"/>
                </a:solidFill>
              </a:rPr>
              <a:t>Referencias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temporal.io  —  </a:t>
            </a:r>
            <a:r>
              <a:rPr lang="en-US" sz="1100" dirty="0" err="1">
                <a:solidFill>
                  <a:srgbClr val="8FA3B3"/>
                </a:solidFill>
              </a:rPr>
              <a:t>Documentación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oficial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docs.temporal.io/encyclopedia  —  Encyclopedia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856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learn.temporal.io  —  Academia Temporal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youtube.com/@Temporalio  —  </a:t>
            </a:r>
            <a:r>
              <a:rPr lang="en-US" sz="1100" dirty="0" err="1">
                <a:solidFill>
                  <a:srgbClr val="8FA3B3"/>
                </a:solidFill>
              </a:rPr>
              <a:t>Vídeos</a:t>
            </a:r>
            <a:r>
              <a:rPr lang="en-US" sz="1100" dirty="0">
                <a:solidFill>
                  <a:srgbClr val="8FA3B3"/>
                </a:solidFill>
              </a:rPr>
              <a:t> </a:t>
            </a:r>
            <a:r>
              <a:rPr lang="en-US" sz="1100" dirty="0" err="1">
                <a:solidFill>
                  <a:srgbClr val="8FA3B3"/>
                </a:solidFill>
              </a:rPr>
              <a:t>oficiales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734</Words>
  <Application>Microsoft Macintosh PowerPoint</Application>
  <PresentationFormat>Apresentação no Ecrã (16:9)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IO</dc:title>
  <dc:subject>PptxGenJS Presentation</dc:subject>
  <dc:creator>PptxGenJS</dc:creator>
  <cp:lastModifiedBy>Pedro Bruno Viveiros Ferreira</cp:lastModifiedBy>
  <cp:revision>24</cp:revision>
  <cp:lastPrinted>2026-04-09T08:34:09Z</cp:lastPrinted>
  <dcterms:created xsi:type="dcterms:W3CDTF">2026-04-09T07:59:40Z</dcterms:created>
  <dcterms:modified xsi:type="dcterms:W3CDTF">2026-04-15T15:21:45Z</dcterms:modified>
</cp:coreProperties>
</file>