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4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7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34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6858000" y="-548640"/>
            <a:ext cx="3657600" cy="3657600"/>
          </a:xfrm>
          <a:prstGeom prst="ellipse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PLATAFORMA OPEN-SOURCE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IO</a:t>
            </a:r>
            <a:endParaRPr lang="en-US" sz="6000" dirty="0">
              <a:solidFill>
                <a:srgbClr val="00206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duraderos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Presentación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técnica</a:t>
            </a:r>
            <a:r>
              <a:rPr lang="en-US" sz="1100" dirty="0">
                <a:solidFill>
                  <a:srgbClr val="8FA3B3"/>
                </a:solidFill>
              </a:rPr>
              <a:t> •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Índice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143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Qué</a:t>
            </a:r>
            <a:r>
              <a:rPr lang="en-US" sz="1300" dirty="0">
                <a:solidFill>
                  <a:srgbClr val="FFFFFF"/>
                </a:solidFill>
              </a:rPr>
              <a:t> es Temporal IO?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286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Por </a:t>
            </a:r>
            <a:r>
              <a:rPr lang="en-US" sz="1300" dirty="0" err="1">
                <a:solidFill>
                  <a:srgbClr val="FFFFFF"/>
                </a:solidFill>
              </a:rPr>
              <a:t>qué</a:t>
            </a:r>
            <a:r>
              <a:rPr lang="en-US" sz="1300" dirty="0">
                <a:solidFill>
                  <a:srgbClr val="FFFFFF"/>
                </a:solidFill>
              </a:rPr>
              <a:t> usar Temporal IO?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429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Ventajas</a:t>
            </a:r>
            <a:r>
              <a:rPr lang="en-US" sz="1300" dirty="0">
                <a:solidFill>
                  <a:srgbClr val="FFFFFF"/>
                </a:solidFill>
              </a:rPr>
              <a:t> y </a:t>
            </a:r>
            <a:r>
              <a:rPr lang="en-US" sz="1300" dirty="0" err="1">
                <a:solidFill>
                  <a:srgbClr val="FFFFFF"/>
                </a:solidFill>
              </a:rPr>
              <a:t>Desventajas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143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4846320" y="1143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846320" y="1143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40680" y="1143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Conceptos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principales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2286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4846320" y="2286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4846320" y="2286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2286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Arquitetura</a:t>
            </a:r>
            <a:r>
              <a:rPr lang="en-US" sz="1300" dirty="0">
                <a:solidFill>
                  <a:srgbClr val="FFFFFF"/>
                </a:solidFill>
              </a:rPr>
              <a:t> General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46320" y="3429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25" name="Shape 23"/>
          <p:cNvSpPr/>
          <p:nvPr/>
        </p:nvSpPr>
        <p:spPr>
          <a:xfrm>
            <a:off x="4846320" y="3429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846320" y="3429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3429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Conclusión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</a:t>
            </a:r>
            <a:r>
              <a:rPr lang="en-US" sz="2400" b="1" dirty="0" err="1">
                <a:solidFill>
                  <a:srgbClr val="FFFFFF"/>
                </a:solidFill>
              </a:rPr>
              <a:t>Qué</a:t>
            </a:r>
            <a:r>
              <a:rPr lang="en-US" sz="2400" b="1" dirty="0">
                <a:solidFill>
                  <a:srgbClr val="FFFFFF"/>
                </a:solidFill>
              </a:rPr>
              <a:t> es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37160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Temporal es </a:t>
            </a:r>
            <a:r>
              <a:rPr lang="en-US" sz="1400" i="1" dirty="0" err="1">
                <a:solidFill>
                  <a:srgbClr val="FFFFFF"/>
                </a:solidFill>
              </a:rPr>
              <a:t>una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plataforma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código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abierto</a:t>
            </a:r>
            <a:r>
              <a:rPr lang="en-US" sz="1400" i="1" dirty="0">
                <a:solidFill>
                  <a:srgbClr val="FFFFFF"/>
                </a:solidFill>
              </a:rPr>
              <a:t> para </a:t>
            </a:r>
            <a:r>
              <a:rPr lang="en-US" sz="1400" i="1" dirty="0" err="1">
                <a:solidFill>
                  <a:srgbClr val="FFFFFF"/>
                </a:solidFill>
              </a:rPr>
              <a:t>implementar</a:t>
            </a:r>
            <a:r>
              <a:rPr lang="en-US" sz="1400" i="1" dirty="0">
                <a:solidFill>
                  <a:srgbClr val="FFFFFF"/>
                </a:solidFill>
              </a:rPr>
              <a:t> de forma </a:t>
            </a:r>
            <a:r>
              <a:rPr lang="en-US" sz="1400" i="1" dirty="0" err="1">
                <a:solidFill>
                  <a:srgbClr val="FFFFFF"/>
                </a:solidFill>
              </a:rPr>
              <a:t>fiable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sistemas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distribuidos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larga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duración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donde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el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propio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sistema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gestiona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toda</a:t>
            </a:r>
            <a:r>
              <a:rPr lang="en-US" sz="1400" i="1" dirty="0">
                <a:solidFill>
                  <a:srgbClr val="FFFFFF"/>
                </a:solidFill>
              </a:rPr>
              <a:t> la </a:t>
            </a:r>
            <a:r>
              <a:rPr lang="en-US" sz="1400" i="1" dirty="0" err="1">
                <a:solidFill>
                  <a:srgbClr val="FFFFFF"/>
                </a:solidFill>
              </a:rPr>
              <a:t>complejidad</a:t>
            </a:r>
            <a:r>
              <a:rPr lang="en-US" sz="1400" i="1" dirty="0">
                <a:solidFill>
                  <a:srgbClr val="FFFFFF"/>
                </a:solidFill>
              </a:rPr>
              <a:t> del </a:t>
            </a:r>
            <a:r>
              <a:rPr lang="en-US" sz="1400" i="1" dirty="0" err="1">
                <a:solidFill>
                  <a:srgbClr val="FFFFFF"/>
                </a:solidFill>
              </a:rPr>
              <a:t>estado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los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fallos</a:t>
            </a:r>
            <a:r>
              <a:rPr lang="en-US" sz="1400" i="1" dirty="0">
                <a:solidFill>
                  <a:srgbClr val="FFFFFF"/>
                </a:solidFill>
              </a:rPr>
              <a:t>, </a:t>
            </a:r>
            <a:r>
              <a:rPr lang="en-US" sz="1400" i="1" dirty="0" err="1">
                <a:solidFill>
                  <a:srgbClr val="FFFFFF"/>
                </a:solidFill>
              </a:rPr>
              <a:t>los</a:t>
            </a:r>
            <a:r>
              <a:rPr lang="en-US" sz="1400" i="1" dirty="0">
                <a:solidFill>
                  <a:srgbClr val="FFFFFF"/>
                </a:solidFill>
              </a:rPr>
              <a:t> </a:t>
            </a:r>
            <a:r>
              <a:rPr lang="en-US" sz="1400" i="1" dirty="0" err="1">
                <a:solidFill>
                  <a:srgbClr val="FFFFFF"/>
                </a:solidFill>
              </a:rPr>
              <a:t>reintentos</a:t>
            </a:r>
            <a:r>
              <a:rPr lang="en-US" sz="1400" i="1" dirty="0">
                <a:solidFill>
                  <a:srgbClr val="FFFFFF"/>
                </a:solidFill>
              </a:rPr>
              <a:t> y la </a:t>
            </a:r>
            <a:r>
              <a:rPr lang="en-US" sz="1400" i="1" dirty="0" err="1">
                <a:solidFill>
                  <a:srgbClr val="FFFFFF"/>
                </a:solidFill>
              </a:rPr>
              <a:t>continuidad</a:t>
            </a:r>
            <a:r>
              <a:rPr lang="en-US" sz="1400" i="1" dirty="0">
                <a:solidFill>
                  <a:srgbClr val="FFF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606040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3200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Durabilidad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Flujos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persistentes</a:t>
            </a:r>
            <a:r>
              <a:rPr lang="en-US" sz="1100" dirty="0">
                <a:solidFill>
                  <a:srgbClr val="8FA3B3"/>
                </a:solidFill>
              </a:rPr>
              <a:t> que se </a:t>
            </a:r>
            <a:r>
              <a:rPr lang="en-US" sz="1100" dirty="0" err="1">
                <a:solidFill>
                  <a:srgbClr val="8FA3B3"/>
                </a:solidFill>
              </a:rPr>
              <a:t>reanudan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automáticamente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después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fallos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2606040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200400" y="3200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Intentos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9184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Reintento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automático</a:t>
            </a:r>
            <a:r>
              <a:rPr lang="en-US" sz="1100" dirty="0">
                <a:solidFill>
                  <a:srgbClr val="8FA3B3"/>
                </a:solidFill>
              </a:rPr>
              <a:t> sin </a:t>
            </a:r>
            <a:r>
              <a:rPr lang="en-US" sz="1100" dirty="0" err="1">
                <a:solidFill>
                  <a:srgbClr val="8FA3B3"/>
                </a:solidFill>
              </a:rPr>
              <a:t>perder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el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estado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ejecución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2606040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603504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035040" y="3200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00D4AA"/>
                </a:solidFill>
              </a:rPr>
              <a:t>Repartido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2648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8FA3B3"/>
                </a:solidFill>
              </a:rPr>
              <a:t>Admite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procesos</a:t>
            </a:r>
            <a:r>
              <a:rPr lang="en-US" sz="1100" dirty="0">
                <a:solidFill>
                  <a:srgbClr val="8FA3B3"/>
                </a:solidFill>
              </a:rPr>
              <a:t> de </a:t>
            </a:r>
            <a:r>
              <a:rPr lang="en-US" sz="1100" dirty="0" err="1">
                <a:solidFill>
                  <a:srgbClr val="8FA3B3"/>
                </a:solidFill>
              </a:rPr>
              <a:t>larga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duración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en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sistemas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distribuidos</a:t>
            </a:r>
            <a:r>
              <a:rPr lang="en-US" sz="1100" dirty="0">
                <a:solidFill>
                  <a:srgbClr val="8FA3B3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02  / Por </a:t>
            </a:r>
            <a:r>
              <a:rPr lang="en-US" sz="2400" b="1" dirty="0" err="1">
                <a:solidFill>
                  <a:srgbClr val="FFFFFF"/>
                </a:solidFill>
              </a:rPr>
              <a:t>qué</a:t>
            </a:r>
            <a:r>
              <a:rPr lang="en-US" sz="2400" b="1" dirty="0">
                <a:solidFill>
                  <a:srgbClr val="FFFFFF"/>
                </a:solidFill>
              </a:rPr>
              <a:t> usar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❌  Sin Temporal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Guardar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manualmente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el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estado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en</a:t>
            </a:r>
            <a:r>
              <a:rPr lang="en-US" sz="1200" dirty="0">
                <a:solidFill>
                  <a:srgbClr val="8FA3B3"/>
                </a:solidFill>
              </a:rPr>
              <a:t> la base de </a:t>
            </a:r>
            <a:r>
              <a:rPr lang="en-US" sz="1200" dirty="0" err="1">
                <a:solidFill>
                  <a:srgbClr val="8FA3B3"/>
                </a:solidFill>
              </a:rPr>
              <a:t>datos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Repita</a:t>
            </a:r>
            <a:r>
              <a:rPr lang="en-US" sz="1200" dirty="0">
                <a:solidFill>
                  <a:srgbClr val="8FA3B3"/>
                </a:solidFill>
              </a:rPr>
              <a:t> la </a:t>
            </a:r>
            <a:r>
              <a:rPr lang="en-US" sz="1200" dirty="0" err="1">
                <a:solidFill>
                  <a:srgbClr val="8FA3B3"/>
                </a:solidFill>
              </a:rPr>
              <a:t>lógica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desde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donde</a:t>
            </a:r>
            <a:r>
              <a:rPr lang="en-US" sz="1200" dirty="0">
                <a:solidFill>
                  <a:srgbClr val="8FA3B3"/>
                </a:solidFill>
              </a:rPr>
              <a:t> se </a:t>
            </a:r>
            <a:r>
              <a:rPr lang="en-US" sz="1200" dirty="0" err="1">
                <a:solidFill>
                  <a:srgbClr val="8FA3B3"/>
                </a:solidFill>
              </a:rPr>
              <a:t>interrumpió</a:t>
            </a:r>
            <a:r>
              <a:rPr lang="en-US" sz="1200" dirty="0">
                <a:solidFill>
                  <a:srgbClr val="8FA3B3"/>
                </a:solidFill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Tratar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duplicaciones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Corregir</a:t>
            </a:r>
            <a:r>
              <a:rPr lang="en-US" sz="1200" dirty="0">
                <a:solidFill>
                  <a:srgbClr val="8FA3B3"/>
                </a:solidFill>
              </a:rPr>
              <a:t> </a:t>
            </a:r>
            <a:r>
              <a:rPr lang="en-US" sz="1200" dirty="0" err="1">
                <a:solidFill>
                  <a:srgbClr val="8FA3B3"/>
                </a:solidFill>
              </a:rPr>
              <a:t>fallos</a:t>
            </a:r>
            <a:r>
              <a:rPr lang="en-US" sz="1200" dirty="0">
                <a:solidFill>
                  <a:srgbClr val="8FA3B3"/>
                </a:solidFill>
              </a:rPr>
              <a:t> de red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</a:t>
            </a:r>
            <a:r>
              <a:rPr lang="en-US" sz="1200" dirty="0" err="1">
                <a:solidFill>
                  <a:srgbClr val="8FA3B3"/>
                </a:solidFill>
              </a:rPr>
              <a:t>Realizar</a:t>
            </a:r>
            <a:r>
              <a:rPr lang="en-US" sz="1200" dirty="0">
                <a:solidFill>
                  <a:srgbClr val="8FA3B3"/>
                </a:solidFill>
              </a:rPr>
              <a:t> la </a:t>
            </a:r>
            <a:r>
              <a:rPr lang="en-US" sz="1200" dirty="0" err="1">
                <a:solidFill>
                  <a:srgbClr val="8FA3B3"/>
                </a:solidFill>
              </a:rPr>
              <a:t>reconciliación</a:t>
            </a:r>
            <a:r>
              <a:rPr lang="en-US" sz="1200" dirty="0">
                <a:solidFill>
                  <a:srgbClr val="8FA3B3"/>
                </a:solidFill>
              </a:rPr>
              <a:t> de </a:t>
            </a:r>
            <a:r>
              <a:rPr lang="en-US" sz="1200" dirty="0" err="1">
                <a:solidFill>
                  <a:srgbClr val="8FA3B3"/>
                </a:solidFill>
              </a:rPr>
              <a:t>datos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6B6B"/>
                </a:solidFill>
              </a:rPr>
              <a:t>Código </a:t>
            </a:r>
            <a:r>
              <a:rPr lang="en-US" sz="1100" i="1" dirty="0" err="1">
                <a:solidFill>
                  <a:srgbClr val="FF6B6B"/>
                </a:solidFill>
              </a:rPr>
              <a:t>repetitivo</a:t>
            </a:r>
            <a:r>
              <a:rPr lang="en-US" sz="1100" i="1" dirty="0">
                <a:solidFill>
                  <a:srgbClr val="FF6B6B"/>
                </a:solidFill>
              </a:rPr>
              <a:t>, </a:t>
            </a:r>
            <a:r>
              <a:rPr lang="en-US" sz="1100" i="1" dirty="0" err="1">
                <a:solidFill>
                  <a:srgbClr val="FF6B6B"/>
                </a:solidFill>
              </a:rPr>
              <a:t>difícil</a:t>
            </a:r>
            <a:r>
              <a:rPr lang="en-US" sz="1100" i="1" dirty="0">
                <a:solidFill>
                  <a:srgbClr val="FF6B6B"/>
                </a:solidFill>
              </a:rPr>
              <a:t> de </a:t>
            </a:r>
            <a:r>
              <a:rPr lang="en-US" sz="1100" i="1" dirty="0" err="1">
                <a:solidFill>
                  <a:srgbClr val="FF6B6B"/>
                </a:solidFill>
              </a:rPr>
              <a:t>probar</a:t>
            </a:r>
            <a:r>
              <a:rPr lang="en-US" sz="1100" i="1" dirty="0">
                <a:solidFill>
                  <a:srgbClr val="FF6B6B"/>
                </a:solidFill>
              </a:rPr>
              <a:t> y </a:t>
            </a:r>
            <a:r>
              <a:rPr lang="en-US" sz="1100" i="1" dirty="0" err="1">
                <a:solidFill>
                  <a:srgbClr val="FF6B6B"/>
                </a:solidFill>
              </a:rPr>
              <a:t>propenso</a:t>
            </a:r>
            <a:r>
              <a:rPr lang="en-US" sz="1100" i="1" dirty="0">
                <a:solidFill>
                  <a:srgbClr val="FF6B6B"/>
                </a:solidFill>
              </a:rPr>
              <a:t> a bugs.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98348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✅  Con Temporal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Estado </a:t>
            </a:r>
            <a:r>
              <a:rPr lang="en-US" sz="1200" dirty="0" err="1">
                <a:solidFill>
                  <a:srgbClr val="FFFFFF"/>
                </a:solidFill>
              </a:rPr>
              <a:t>reconstruido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automáticamente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Reanudando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donde</a:t>
            </a:r>
            <a:r>
              <a:rPr lang="en-US" sz="1200" dirty="0">
                <a:solidFill>
                  <a:srgbClr val="FFFFFF"/>
                </a:solidFill>
              </a:rPr>
              <a:t> se </a:t>
            </a:r>
            <a:r>
              <a:rPr lang="en-US" sz="1200" dirty="0" err="1">
                <a:solidFill>
                  <a:srgbClr val="FFFFFF"/>
                </a:solidFill>
              </a:rPr>
              <a:t>interrumpió</a:t>
            </a:r>
            <a:r>
              <a:rPr lang="en-US" sz="1200" dirty="0">
                <a:solidFill>
                  <a:srgbClr val="FFFFFF"/>
                </a:solidFill>
              </a:rPr>
              <a:t> (</a:t>
            </a:r>
            <a:r>
              <a:rPr lang="en-US" sz="1200" dirty="0" err="1">
                <a:solidFill>
                  <a:srgbClr val="FFFFFF"/>
                </a:solidFill>
              </a:rPr>
              <a:t>segundos</a:t>
            </a:r>
            <a:r>
              <a:rPr lang="en-US" sz="1200" dirty="0">
                <a:solidFill>
                  <a:srgbClr val="FFFFFF"/>
                </a:solidFill>
              </a:rPr>
              <a:t>, días, meses)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Reintento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automático</a:t>
            </a:r>
            <a:r>
              <a:rPr lang="en-US" sz="1200" dirty="0">
                <a:solidFill>
                  <a:srgbClr val="FFFFFF"/>
                </a:solidFill>
              </a:rPr>
              <a:t> sin </a:t>
            </a:r>
            <a:r>
              <a:rPr lang="en-US" sz="1200" dirty="0" err="1">
                <a:solidFill>
                  <a:srgbClr val="FFFFFF"/>
                </a:solidFill>
              </a:rPr>
              <a:t>código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adicional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Tolerante</a:t>
            </a:r>
            <a:r>
              <a:rPr lang="en-US" sz="1200" dirty="0">
                <a:solidFill>
                  <a:srgbClr val="FFFFFF"/>
                </a:solidFill>
              </a:rPr>
              <a:t> a </a:t>
            </a:r>
            <a:r>
              <a:rPr lang="en-US" sz="1200" dirty="0" err="1">
                <a:solidFill>
                  <a:srgbClr val="FFFFFF"/>
                </a:solidFill>
              </a:rPr>
              <a:t>fallos</a:t>
            </a:r>
            <a:r>
              <a:rPr lang="en-US" sz="1200" dirty="0">
                <a:solidFill>
                  <a:srgbClr val="FFFFFF"/>
                </a:solidFill>
              </a:rPr>
              <a:t> y </a:t>
            </a:r>
            <a:r>
              <a:rPr lang="en-US" sz="1200" dirty="0" err="1">
                <a:solidFill>
                  <a:srgbClr val="FFFFFF"/>
                </a:solidFill>
              </a:rPr>
              <a:t>reinicios</a:t>
            </a:r>
            <a:r>
              <a:rPr lang="en-US" sz="1200" dirty="0">
                <a:solidFill>
                  <a:srgbClr val="FFFFFF"/>
                </a:solidFill>
              </a:rPr>
              <a:t> de la red.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</a:t>
            </a:r>
            <a:r>
              <a:rPr lang="en-US" sz="1200" dirty="0" err="1">
                <a:solidFill>
                  <a:srgbClr val="FFFFFF"/>
                </a:solidFill>
              </a:rPr>
              <a:t>Historial</a:t>
            </a:r>
            <a:r>
              <a:rPr lang="en-US" sz="1200" dirty="0">
                <a:solidFill>
                  <a:srgbClr val="FFFFFF"/>
                </a:solidFill>
              </a:rPr>
              <a:t> de </a:t>
            </a:r>
            <a:r>
              <a:rPr lang="en-US" sz="1200" dirty="0" err="1">
                <a:solidFill>
                  <a:srgbClr val="FFFFFF"/>
                </a:solidFill>
              </a:rPr>
              <a:t>eventos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completo</a:t>
            </a:r>
            <a:r>
              <a:rPr lang="en-US" sz="1200" dirty="0">
                <a:solidFill>
                  <a:srgbClr val="FFFFFF"/>
                </a:solidFill>
              </a:rPr>
              <a:t> y auditable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 err="1">
                <a:solidFill>
                  <a:srgbClr val="00D4AA"/>
                </a:solidFill>
              </a:rPr>
              <a:t>Ejecución</a:t>
            </a:r>
            <a:r>
              <a:rPr lang="en-US" sz="1100" i="1" dirty="0">
                <a:solidFill>
                  <a:srgbClr val="00D4AA"/>
                </a:solidFill>
              </a:rPr>
              <a:t> a </a:t>
            </a:r>
            <a:r>
              <a:rPr lang="en-US" sz="1100" i="1" dirty="0" err="1">
                <a:solidFill>
                  <a:srgbClr val="00D4AA"/>
                </a:solidFill>
              </a:rPr>
              <a:t>prueba</a:t>
            </a:r>
            <a:r>
              <a:rPr lang="en-US" sz="1100" i="1" dirty="0">
                <a:solidFill>
                  <a:srgbClr val="00D4AA"/>
                </a:solidFill>
              </a:rPr>
              <a:t> de </a:t>
            </a:r>
            <a:r>
              <a:rPr lang="en-US" sz="1100" i="1" dirty="0" err="1">
                <a:solidFill>
                  <a:srgbClr val="00D4AA"/>
                </a:solidFill>
              </a:rPr>
              <a:t>fallos</a:t>
            </a:r>
            <a:r>
              <a:rPr lang="en-US" sz="1100" i="1" dirty="0">
                <a:solidFill>
                  <a:srgbClr val="00D4AA"/>
                </a:solidFill>
              </a:rPr>
              <a:t>, sin </a:t>
            </a:r>
            <a:r>
              <a:rPr lang="en-US" sz="1100" i="1" dirty="0" err="1">
                <a:solidFill>
                  <a:srgbClr val="00D4AA"/>
                </a:solidFill>
              </a:rPr>
              <a:t>lógica</a:t>
            </a:r>
            <a:r>
              <a:rPr lang="en-US" sz="1100" i="1" dirty="0">
                <a:solidFill>
                  <a:srgbClr val="00D4AA"/>
                </a:solidFill>
              </a:rPr>
              <a:t> de </a:t>
            </a:r>
            <a:r>
              <a:rPr lang="en-US" sz="1100" i="1" dirty="0" err="1">
                <a:solidFill>
                  <a:srgbClr val="00D4AA"/>
                </a:solidFill>
              </a:rPr>
              <a:t>recuperación</a:t>
            </a:r>
            <a:r>
              <a:rPr lang="en-US" sz="1100" i="1" dirty="0">
                <a:solidFill>
                  <a:srgbClr val="00D4AA"/>
                </a:solidFill>
              </a:rPr>
              <a:t> manual.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2286000"/>
            <a:ext cx="640080" cy="64008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251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  / </a:t>
            </a:r>
            <a:r>
              <a:rPr lang="en-US" sz="2400" b="1" dirty="0" err="1">
                <a:solidFill>
                  <a:srgbClr val="FFFFFF"/>
                </a:solidFill>
              </a:rPr>
              <a:t>Ventajas</a:t>
            </a:r>
            <a:r>
              <a:rPr lang="en-US" sz="2400" b="1" dirty="0">
                <a:solidFill>
                  <a:srgbClr val="FFFFFF"/>
                </a:solidFill>
              </a:rPr>
              <a:t> y </a:t>
            </a:r>
            <a:r>
              <a:rPr lang="en-US" sz="2400" b="1" dirty="0" err="1">
                <a:solidFill>
                  <a:srgbClr val="FFFFFF"/>
                </a:solidFill>
              </a:rPr>
              <a:t>desventajas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✅  </a:t>
            </a:r>
            <a:r>
              <a:rPr lang="en-US" sz="1500" b="1" dirty="0" err="1">
                <a:solidFill>
                  <a:srgbClr val="0D1B2A"/>
                </a:solidFill>
              </a:rPr>
              <a:t>Ventajas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Reintentos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automáticos</a:t>
            </a:r>
            <a:r>
              <a:rPr lang="en-US" sz="1300" dirty="0">
                <a:solidFill>
                  <a:srgbClr val="FFFFFF"/>
                </a:solidFill>
              </a:rPr>
              <a:t> sin </a:t>
            </a:r>
            <a:r>
              <a:rPr lang="en-US" sz="1300" dirty="0" err="1">
                <a:solidFill>
                  <a:srgbClr val="FFFFFF"/>
                </a:solidFill>
              </a:rPr>
              <a:t>pérdida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estado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Estado </a:t>
            </a:r>
            <a:r>
              <a:rPr lang="en-US" sz="1300" dirty="0" err="1">
                <a:solidFill>
                  <a:srgbClr val="FFFFFF"/>
                </a:solidFill>
              </a:rPr>
              <a:t>reconstruido</a:t>
            </a:r>
            <a:r>
              <a:rPr lang="en-US" sz="1300" dirty="0">
                <a:solidFill>
                  <a:srgbClr val="FFFFFF"/>
                </a:solidFill>
              </a:rPr>
              <a:t> a </a:t>
            </a:r>
            <a:r>
              <a:rPr lang="en-US" sz="1300" dirty="0" err="1">
                <a:solidFill>
                  <a:srgbClr val="FFFFFF"/>
                </a:solidFill>
              </a:rPr>
              <a:t>partir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acontecimientos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históricos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Excelente</a:t>
            </a:r>
            <a:r>
              <a:rPr lang="en-US" sz="1300" dirty="0">
                <a:solidFill>
                  <a:srgbClr val="FFFFFF"/>
                </a:solidFill>
              </a:rPr>
              <a:t> para </a:t>
            </a:r>
            <a:r>
              <a:rPr lang="en-US" sz="1300" dirty="0" err="1">
                <a:solidFill>
                  <a:srgbClr val="FFFFFF"/>
                </a:solidFill>
              </a:rPr>
              <a:t>procesos</a:t>
            </a:r>
            <a:r>
              <a:rPr lang="en-US" sz="1300" dirty="0">
                <a:solidFill>
                  <a:srgbClr val="FFFFFF"/>
                </a:solidFill>
              </a:rPr>
              <a:t> largos y </a:t>
            </a:r>
            <a:r>
              <a:rPr lang="en-US" sz="1300" dirty="0" err="1">
                <a:solidFill>
                  <a:srgbClr val="FFFFFF"/>
                </a:solidFill>
              </a:rPr>
              <a:t>asíncronos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 err="1">
                <a:solidFill>
                  <a:srgbClr val="FFFFFF"/>
                </a:solidFill>
              </a:rPr>
              <a:t>Integración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nativa</a:t>
            </a:r>
            <a:r>
              <a:rPr lang="en-US" sz="1300" dirty="0">
                <a:solidFill>
                  <a:srgbClr val="FFFFFF"/>
                </a:solidFill>
              </a:rPr>
              <a:t> con Java, Go, TypeScript y Python.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⚠️  </a:t>
            </a:r>
            <a:r>
              <a:rPr lang="en-US" sz="1500" b="1" dirty="0" err="1">
                <a:solidFill>
                  <a:srgbClr val="FFFFFF"/>
                </a:solidFill>
              </a:rPr>
              <a:t>Desventajas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Curva de </a:t>
            </a:r>
            <a:r>
              <a:rPr lang="en-US" sz="1300" dirty="0" err="1">
                <a:solidFill>
                  <a:srgbClr val="FFFFFF"/>
                </a:solidFill>
              </a:rPr>
              <a:t>aprendizaje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inicial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avanzado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 err="1">
                <a:solidFill>
                  <a:srgbClr val="FFFFFF"/>
                </a:solidFill>
              </a:rPr>
              <a:t>Requiere</a:t>
            </a:r>
            <a:r>
              <a:rPr lang="en-US" sz="1300" dirty="0">
                <a:solidFill>
                  <a:srgbClr val="FFFFFF"/>
                </a:solidFill>
              </a:rPr>
              <a:t> infraestrutura adicional (Temporal Service + DB)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 err="1">
                <a:solidFill>
                  <a:srgbClr val="FFFFFF"/>
                </a:solidFill>
              </a:rPr>
              <a:t>Esto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puede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resultar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excesivo</a:t>
            </a:r>
            <a:r>
              <a:rPr lang="en-US" sz="1300" dirty="0">
                <a:solidFill>
                  <a:srgbClr val="FFFFFF"/>
                </a:solidFill>
              </a:rPr>
              <a:t> para </a:t>
            </a:r>
            <a:r>
              <a:rPr lang="en-US" sz="1300" dirty="0" err="1">
                <a:solidFill>
                  <a:srgbClr val="FFFFFF"/>
                </a:solidFill>
              </a:rPr>
              <a:t>sistemas</a:t>
            </a:r>
            <a:r>
              <a:rPr lang="en-US" sz="1300" dirty="0">
                <a:solidFill>
                  <a:srgbClr val="FFFFFF"/>
                </a:solidFill>
              </a:rPr>
              <a:t> simples o </a:t>
            </a:r>
            <a:r>
              <a:rPr lang="en-US" sz="1300" dirty="0" err="1">
                <a:solidFill>
                  <a:srgbClr val="FFFFFF"/>
                </a:solidFill>
              </a:rPr>
              <a:t>flujos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cortos</a:t>
            </a:r>
            <a:r>
              <a:rPr lang="en-US" sz="1300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</a:t>
            </a:r>
            <a:r>
              <a:rPr lang="en-US" sz="2400" b="1" dirty="0" err="1">
                <a:solidFill>
                  <a:srgbClr val="FFFFFF"/>
                </a:solidFill>
              </a:rPr>
              <a:t>Conceptos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principales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Proceso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duradero</a:t>
            </a:r>
            <a:r>
              <a:rPr lang="en-US" sz="1000" dirty="0">
                <a:solidFill>
                  <a:srgbClr val="8FA3B3"/>
                </a:solidFill>
              </a:rPr>
              <a:t> con </a:t>
            </a:r>
            <a:r>
              <a:rPr lang="en-US" sz="1000" dirty="0" err="1">
                <a:solidFill>
                  <a:srgbClr val="8FA3B3"/>
                </a:solidFill>
              </a:rPr>
              <a:t>ejecución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determinista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6732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Activity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6732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Unidad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externa (HTTP, DB, email…)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9340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9340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 </a:t>
            </a:r>
            <a:r>
              <a:rPr lang="en-US" sz="1000" dirty="0" err="1">
                <a:solidFill>
                  <a:srgbClr val="8FA3B3"/>
                </a:solidFill>
              </a:rPr>
              <a:t>proceso</a:t>
            </a:r>
            <a:r>
              <a:rPr lang="en-US" sz="1000" dirty="0">
                <a:solidFill>
                  <a:srgbClr val="8FA3B3"/>
                </a:solidFill>
              </a:rPr>
              <a:t> que </a:t>
            </a:r>
            <a:r>
              <a:rPr lang="en-US" sz="1000" dirty="0" err="1">
                <a:solidFill>
                  <a:srgbClr val="8FA3B3"/>
                </a:solidFill>
              </a:rPr>
              <a:t>ejecuta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flujos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y </a:t>
            </a:r>
            <a:r>
              <a:rPr lang="en-US" sz="1000" dirty="0" err="1">
                <a:solidFill>
                  <a:srgbClr val="8FA3B3"/>
                </a:solidFill>
              </a:rPr>
              <a:t>actividades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Task Queue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Cola que </a:t>
            </a:r>
            <a:r>
              <a:rPr lang="en-US" sz="1000" dirty="0" err="1">
                <a:solidFill>
                  <a:srgbClr val="8FA3B3"/>
                </a:solidFill>
              </a:rPr>
              <a:t>conecta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servicio</a:t>
            </a:r>
            <a:r>
              <a:rPr lang="en-US" sz="1000" dirty="0">
                <a:solidFill>
                  <a:srgbClr val="8FA3B3"/>
                </a:solidFill>
              </a:rPr>
              <a:t> central con </a:t>
            </a:r>
            <a:r>
              <a:rPr lang="en-US" sz="1000" dirty="0" err="1">
                <a:solidFill>
                  <a:srgbClr val="8FA3B3"/>
                </a:solidFill>
              </a:rPr>
              <a:t>los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trabajadores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6732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Retry Policy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6732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Define </a:t>
            </a:r>
            <a:r>
              <a:rPr lang="en-US" sz="1000" dirty="0" err="1">
                <a:solidFill>
                  <a:srgbClr val="8FA3B3"/>
                </a:solidFill>
              </a:rPr>
              <a:t>tentativas</a:t>
            </a:r>
            <a:r>
              <a:rPr lang="en-US" sz="1000" dirty="0">
                <a:solidFill>
                  <a:srgbClr val="8FA3B3"/>
                </a:solidFill>
              </a:rPr>
              <a:t>, </a:t>
            </a:r>
            <a:r>
              <a:rPr lang="en-US" sz="1000" dirty="0" err="1">
                <a:solidFill>
                  <a:srgbClr val="8FA3B3"/>
                </a:solidFill>
              </a:rPr>
              <a:t>intervalos</a:t>
            </a:r>
            <a:r>
              <a:rPr lang="en-US" sz="1000" dirty="0">
                <a:solidFill>
                  <a:srgbClr val="8FA3B3"/>
                </a:solidFill>
              </a:rPr>
              <a:t> e </a:t>
            </a:r>
            <a:r>
              <a:rPr lang="en-US" sz="1000" dirty="0" err="1">
                <a:solidFill>
                  <a:srgbClr val="8FA3B3"/>
                </a:solidFill>
              </a:rPr>
              <a:t>erros</a:t>
            </a:r>
            <a:r>
              <a:rPr lang="en-US" sz="1000" dirty="0">
                <a:solidFill>
                  <a:srgbClr val="8FA3B3"/>
                </a:solidFill>
              </a:rPr>
              <a:t> a </a:t>
            </a:r>
            <a:r>
              <a:rPr lang="en-US" sz="1000" dirty="0" err="1">
                <a:solidFill>
                  <a:srgbClr val="8FA3B3"/>
                </a:solidFill>
              </a:rPr>
              <a:t>ignorar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9340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Temporal Service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340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Orquestador</a:t>
            </a:r>
            <a:r>
              <a:rPr lang="en-US" sz="1000" dirty="0">
                <a:solidFill>
                  <a:srgbClr val="8FA3B3"/>
                </a:solidFill>
              </a:rPr>
              <a:t> central: </a:t>
            </a:r>
            <a:r>
              <a:rPr lang="en-US" sz="1000" dirty="0" err="1">
                <a:solidFill>
                  <a:srgbClr val="8FA3B3"/>
                </a:solidFill>
              </a:rPr>
              <a:t>persiste</a:t>
            </a:r>
            <a:r>
              <a:rPr lang="en-US" sz="1000" dirty="0">
                <a:solidFill>
                  <a:srgbClr val="8FA3B3"/>
                </a:solidFill>
              </a:rPr>
              <a:t> y </a:t>
            </a:r>
            <a:r>
              <a:rPr lang="en-US" sz="1000" dirty="0" err="1">
                <a:solidFill>
                  <a:srgbClr val="8FA3B3"/>
                </a:solidFill>
              </a:rPr>
              <a:t>programa</a:t>
            </a:r>
            <a:r>
              <a:rPr lang="en-US" sz="1000" dirty="0">
                <a:solidFill>
                  <a:srgbClr val="8FA3B3"/>
                </a:solidFill>
              </a:rPr>
              <a:t> las </a:t>
            </a:r>
            <a:r>
              <a:rPr lang="en-US" sz="1000" dirty="0" err="1">
                <a:solidFill>
                  <a:srgbClr val="8FA3B3"/>
                </a:solidFill>
              </a:rPr>
              <a:t>tareas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6" name="Text 34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4124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Event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124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Una </a:t>
            </a:r>
            <a:r>
              <a:rPr lang="en-US" sz="1000" dirty="0" err="1">
                <a:solidFill>
                  <a:srgbClr val="8FA3B3"/>
                </a:solidFill>
              </a:rPr>
              <a:t>historia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inmutable</a:t>
            </a:r>
            <a:r>
              <a:rPr lang="en-US" sz="1000" dirty="0">
                <a:solidFill>
                  <a:srgbClr val="8FA3B3"/>
                </a:solidFill>
              </a:rPr>
              <a:t> que </a:t>
            </a:r>
            <a:r>
              <a:rPr lang="en-US" sz="1000" dirty="0" err="1">
                <a:solidFill>
                  <a:srgbClr val="8FA3B3"/>
                </a:solidFill>
              </a:rPr>
              <a:t>reconstruye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estado</a:t>
            </a:r>
            <a:r>
              <a:rPr lang="en-US" sz="1000" dirty="0">
                <a:solidFill>
                  <a:srgbClr val="8FA3B3"/>
                </a:solidFill>
              </a:rPr>
              <a:t>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Shape 38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76732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Signal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6732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FA3B3"/>
                </a:solidFill>
              </a:rPr>
              <a:t>Envía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información</a:t>
            </a:r>
            <a:r>
              <a:rPr lang="en-US" sz="1000" dirty="0">
                <a:solidFill>
                  <a:srgbClr val="8FA3B3"/>
                </a:solidFill>
              </a:rPr>
              <a:t> a un </a:t>
            </a:r>
            <a:r>
              <a:rPr lang="en-US" sz="1000" dirty="0" err="1">
                <a:solidFill>
                  <a:srgbClr val="8FA3B3"/>
                </a:solidFill>
              </a:rPr>
              <a:t>flujo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en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ejecución</a:t>
            </a:r>
            <a:r>
              <a:rPr lang="en-US" sz="1000" dirty="0">
                <a:solidFill>
                  <a:srgbClr val="8FA3B3"/>
                </a:solidFill>
              </a:rPr>
              <a:t> (</a:t>
            </a:r>
            <a:r>
              <a:rPr lang="en-US" sz="1000" dirty="0" err="1">
                <a:solidFill>
                  <a:srgbClr val="8FA3B3"/>
                </a:solidFill>
              </a:rPr>
              <a:t>asíncrono</a:t>
            </a:r>
            <a:r>
              <a:rPr lang="en-US" sz="1000" dirty="0">
                <a:solidFill>
                  <a:srgbClr val="8FA3B3"/>
                </a:solidFill>
              </a:rPr>
              <a:t>).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69340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Query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69340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Lee </a:t>
            </a:r>
            <a:r>
              <a:rPr lang="en-US" sz="1000" dirty="0" err="1">
                <a:solidFill>
                  <a:srgbClr val="8FA3B3"/>
                </a:solidFill>
              </a:rPr>
              <a:t>el</a:t>
            </a:r>
            <a:r>
              <a:rPr lang="en-US" sz="1000" dirty="0">
                <a:solidFill>
                  <a:srgbClr val="8FA3B3"/>
                </a:solidFill>
              </a:rPr>
              <a:t> </a:t>
            </a:r>
            <a:r>
              <a:rPr lang="en-US" sz="1000" dirty="0" err="1">
                <a:solidFill>
                  <a:srgbClr val="8FA3B3"/>
                </a:solidFill>
              </a:rPr>
              <a:t>estado</a:t>
            </a:r>
            <a:r>
              <a:rPr lang="en-US" sz="1000" dirty="0">
                <a:solidFill>
                  <a:srgbClr val="8FA3B3"/>
                </a:solidFill>
              </a:rPr>
              <a:t> actual de un </a:t>
            </a:r>
            <a:r>
              <a:rPr lang="en-US" sz="1000" dirty="0" err="1">
                <a:solidFill>
                  <a:srgbClr val="8FA3B3"/>
                </a:solidFill>
              </a:rPr>
              <a:t>flujo</a:t>
            </a:r>
            <a:r>
              <a:rPr lang="en-US" sz="1000" dirty="0">
                <a:solidFill>
                  <a:srgbClr val="8FA3B3"/>
                </a:solidFill>
              </a:rPr>
              <a:t> de </a:t>
            </a:r>
            <a:r>
              <a:rPr lang="en-US" sz="1000" dirty="0" err="1">
                <a:solidFill>
                  <a:srgbClr val="8FA3B3"/>
                </a:solidFill>
              </a:rPr>
              <a:t>trabajo</a:t>
            </a:r>
            <a:r>
              <a:rPr lang="en-US" sz="1000" dirty="0">
                <a:solidFill>
                  <a:srgbClr val="8FA3B3"/>
                </a:solidFill>
              </a:rPr>
              <a:t> (</a:t>
            </a:r>
            <a:r>
              <a:rPr lang="en-US" sz="1000" dirty="0" err="1">
                <a:solidFill>
                  <a:srgbClr val="8FA3B3"/>
                </a:solidFill>
              </a:rPr>
              <a:t>síncrono</a:t>
            </a:r>
            <a:r>
              <a:rPr lang="en-US" sz="1000" dirty="0">
                <a:solidFill>
                  <a:srgbClr val="8FA3B3"/>
                </a:solidFill>
              </a:rPr>
              <a:t>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 Workflow vs Activity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384048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02336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🔁  Workflow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Representa</a:t>
            </a:r>
            <a:r>
              <a:rPr lang="en-US" sz="1100" dirty="0">
                <a:solidFill>
                  <a:srgbClr val="FFFFFF"/>
                </a:solidFill>
              </a:rPr>
              <a:t> la </a:t>
            </a:r>
            <a:r>
              <a:rPr lang="en-US" sz="1100" dirty="0" err="1">
                <a:solidFill>
                  <a:srgbClr val="FFFFFF"/>
                </a:solidFill>
              </a:rPr>
              <a:t>lógica</a:t>
            </a:r>
            <a:r>
              <a:rPr lang="en-US" sz="1100" dirty="0">
                <a:solidFill>
                  <a:srgbClr val="FFFFFF"/>
                </a:solidFill>
              </a:rPr>
              <a:t> central del </a:t>
            </a:r>
            <a:r>
              <a:rPr lang="en-US" sz="1100" dirty="0" err="1">
                <a:solidFill>
                  <a:srgbClr val="FFFFFF"/>
                </a:solidFill>
              </a:rPr>
              <a:t>proceso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Ejecución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determinista</a:t>
            </a:r>
            <a:r>
              <a:rPr lang="en-US" sz="1100" dirty="0">
                <a:solidFill>
                  <a:srgbClr val="FFFFFF"/>
                </a:solidFill>
              </a:rPr>
              <a:t> (</a:t>
            </a:r>
            <a:r>
              <a:rPr lang="en-US" sz="1100" dirty="0" err="1">
                <a:solidFill>
                  <a:srgbClr val="FFFFFF"/>
                </a:solidFill>
              </a:rPr>
              <a:t>mismo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resultado</a:t>
            </a:r>
            <a:r>
              <a:rPr lang="en-US" sz="1100" dirty="0">
                <a:solidFill>
                  <a:srgbClr val="FFFFFF"/>
                </a:solidFill>
              </a:rPr>
              <a:t> para la </a:t>
            </a:r>
            <a:r>
              <a:rPr lang="en-US" sz="1100" dirty="0" err="1">
                <a:solidFill>
                  <a:srgbClr val="FFFFFF"/>
                </a:solidFill>
              </a:rPr>
              <a:t>misma</a:t>
            </a:r>
            <a:r>
              <a:rPr lang="en-US" sz="1100" dirty="0">
                <a:solidFill>
                  <a:srgbClr val="FFFFFF"/>
                </a:solidFill>
              </a:rPr>
              <a:t> entrada)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542032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Duradero</a:t>
            </a:r>
            <a:r>
              <a:rPr lang="en-US" sz="1100" dirty="0">
                <a:solidFill>
                  <a:srgbClr val="FFFFFF"/>
                </a:solidFill>
              </a:rPr>
              <a:t> y </a:t>
            </a:r>
            <a:r>
              <a:rPr lang="en-US" sz="1100" dirty="0" err="1">
                <a:solidFill>
                  <a:srgbClr val="FFFFFF"/>
                </a:solidFill>
              </a:rPr>
              <a:t>resistente</a:t>
            </a:r>
            <a:r>
              <a:rPr lang="en-US" sz="1100" dirty="0">
                <a:solidFill>
                  <a:srgbClr val="FFFFFF"/>
                </a:solidFill>
              </a:rPr>
              <a:t> a </a:t>
            </a:r>
            <a:r>
              <a:rPr lang="en-US" sz="1100" dirty="0" err="1">
                <a:solidFill>
                  <a:srgbClr val="FFFFFF"/>
                </a:solidFill>
              </a:rPr>
              <a:t>los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fallos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72384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NO accede </a:t>
            </a:r>
            <a:r>
              <a:rPr lang="en-US" sz="1100" dirty="0" err="1">
                <a:solidFill>
                  <a:srgbClr val="FFFFFF"/>
                </a:solidFill>
              </a:rPr>
              <a:t>directamente</a:t>
            </a:r>
            <a:r>
              <a:rPr lang="en-US" sz="1100" dirty="0">
                <a:solidFill>
                  <a:srgbClr val="FFFFFF"/>
                </a:solidFill>
              </a:rPr>
              <a:t> a </a:t>
            </a:r>
            <a:r>
              <a:rPr lang="en-US" sz="1100" dirty="0" err="1">
                <a:solidFill>
                  <a:srgbClr val="FFFFFF"/>
                </a:solidFill>
              </a:rPr>
              <a:t>sistemas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externos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602736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Coordina</a:t>
            </a:r>
            <a:r>
              <a:rPr lang="en-US" sz="1100" dirty="0">
                <a:solidFill>
                  <a:srgbClr val="FFFFFF"/>
                </a:solidFill>
              </a:rPr>
              <a:t> las </a:t>
            </a:r>
            <a:r>
              <a:rPr lang="en-US" sz="1100" dirty="0" err="1">
                <a:solidFill>
                  <a:srgbClr val="FFFFFF"/>
                </a:solidFill>
              </a:rPr>
              <a:t>actividades</a:t>
            </a:r>
            <a:r>
              <a:rPr lang="en-US" sz="1100" dirty="0">
                <a:solidFill>
                  <a:srgbClr val="FFFFFF"/>
                </a:solidFill>
              </a:rPr>
              <a:t> de </a:t>
            </a:r>
            <a:r>
              <a:rPr lang="en-US" sz="1100" dirty="0" err="1">
                <a:solidFill>
                  <a:srgbClr val="FFFFFF"/>
                </a:solidFill>
              </a:rPr>
              <a:t>trabajo</a:t>
            </a:r>
            <a:r>
              <a:rPr lang="en-US" sz="1100" dirty="0">
                <a:solidFill>
                  <a:srgbClr val="FFFFFF"/>
                </a:solidFill>
              </a:rPr>
              <a:t> de campo.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14400"/>
            <a:ext cx="4023360" cy="3840480"/>
          </a:xfrm>
          <a:prstGeom prst="rect">
            <a:avLst/>
          </a:prstGeom>
          <a:solidFill>
            <a:srgbClr val="112236"/>
          </a:solidFill>
          <a:ln w="127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846320" y="914400"/>
            <a:ext cx="4023360" cy="45720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84632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⚙️  Activity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0" y="148132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Realiza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una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única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acción</a:t>
            </a:r>
            <a:r>
              <a:rPr lang="en-US" sz="1100" dirty="0">
                <a:solidFill>
                  <a:srgbClr val="FFFFFF"/>
                </a:solidFill>
              </a:rPr>
              <a:t> externa.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011680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No </a:t>
            </a:r>
            <a:r>
              <a:rPr lang="en-US" sz="1100" dirty="0" err="1">
                <a:solidFill>
                  <a:srgbClr val="FFFFFF"/>
                </a:solidFill>
              </a:rPr>
              <a:t>tiene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por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qué</a:t>
            </a:r>
            <a:r>
              <a:rPr lang="en-US" sz="1100" dirty="0">
                <a:solidFill>
                  <a:srgbClr val="FFFFFF"/>
                </a:solidFill>
              </a:rPr>
              <a:t> ser </a:t>
            </a:r>
            <a:r>
              <a:rPr lang="en-US" sz="1100" dirty="0" err="1">
                <a:solidFill>
                  <a:srgbClr val="FFFFFF"/>
                </a:solidFill>
              </a:rPr>
              <a:t>determinista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542032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Debe</a:t>
            </a:r>
            <a:r>
              <a:rPr lang="en-US" sz="1100" dirty="0">
                <a:solidFill>
                  <a:srgbClr val="FFFFFF"/>
                </a:solidFill>
              </a:rPr>
              <a:t> ser </a:t>
            </a:r>
            <a:r>
              <a:rPr lang="en-US" sz="1100" dirty="0" err="1">
                <a:solidFill>
                  <a:srgbClr val="FFFFFF"/>
                </a:solidFill>
              </a:rPr>
              <a:t>idempotente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siempre</a:t>
            </a:r>
            <a:r>
              <a:rPr lang="en-US" sz="1100" dirty="0">
                <a:solidFill>
                  <a:srgbClr val="FFFFFF"/>
                </a:solidFill>
              </a:rPr>
              <a:t> que sea </a:t>
            </a:r>
            <a:r>
              <a:rPr lang="en-US" sz="1100" dirty="0" err="1">
                <a:solidFill>
                  <a:srgbClr val="FFFFFF"/>
                </a:solidFill>
              </a:rPr>
              <a:t>posible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3072384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Permite</a:t>
            </a:r>
            <a:r>
              <a:rPr lang="en-US" sz="1100" dirty="0">
                <a:solidFill>
                  <a:srgbClr val="FFFFFF"/>
                </a:solidFill>
              </a:rPr>
              <a:t> heartbeat para </a:t>
            </a:r>
            <a:r>
              <a:rPr lang="en-US" sz="1100" dirty="0" err="1">
                <a:solidFill>
                  <a:srgbClr val="FFFFFF"/>
                </a:solidFill>
              </a:rPr>
              <a:t>tareas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prolongadas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3602736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Acceso</a:t>
            </a:r>
            <a:r>
              <a:rPr lang="en-US" sz="1100" dirty="0">
                <a:solidFill>
                  <a:srgbClr val="FFFFFF"/>
                </a:solidFill>
              </a:rPr>
              <a:t> HTTP, DB, email, etc.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15968" y="2834640"/>
            <a:ext cx="512064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315968" y="2651760"/>
            <a:ext cx="512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4AA"/>
                </a:solidFill>
              </a:rPr>
              <a:t>→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 Signals vs Queries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286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1005840"/>
            <a:ext cx="2743200" cy="50292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2743200" y="1005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📡  Signal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1005840"/>
            <a:ext cx="2743200" cy="502920"/>
          </a:xfrm>
          <a:prstGeom prst="rect">
            <a:avLst/>
          </a:prstGeom>
          <a:solidFill>
            <a:srgbClr val="2D9CDB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5486400" y="1005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🔍  Query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508760"/>
            <a:ext cx="22860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548640" y="1508760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Tipo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508760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2834640" y="1508760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Assíncrono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0" y="1508760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5577840" y="1508760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Síncrono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258568"/>
            <a:ext cx="22860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548640" y="2258568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Cambia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estado</a:t>
            </a:r>
            <a:r>
              <a:rPr lang="en-US" sz="1200" dirty="0">
                <a:solidFill>
                  <a:srgbClr val="FFFFFF"/>
                </a:solidFill>
              </a:rPr>
              <a:t>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258568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2834640" y="225856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Si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0" y="2258568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1" name="Text 19"/>
          <p:cNvSpPr/>
          <p:nvPr/>
        </p:nvSpPr>
        <p:spPr>
          <a:xfrm>
            <a:off x="5577840" y="225856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❌  No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22860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3" name="Text 21"/>
          <p:cNvSpPr/>
          <p:nvPr/>
        </p:nvSpPr>
        <p:spPr>
          <a:xfrm>
            <a:off x="548640" y="3008376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</a:rPr>
              <a:t>Aporta</a:t>
            </a:r>
            <a:r>
              <a:rPr lang="en-US" sz="1200" dirty="0">
                <a:solidFill>
                  <a:srgbClr val="FFFFFF"/>
                </a:solidFill>
              </a:rPr>
              <a:t> valor?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008376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2834640" y="3008376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❌  No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0" y="3008376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7" name="Text 25"/>
          <p:cNvSpPr/>
          <p:nvPr/>
        </p:nvSpPr>
        <p:spPr>
          <a:xfrm>
            <a:off x="5577840" y="3008376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Si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758184"/>
            <a:ext cx="22860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Text 27"/>
          <p:cNvSpPr/>
          <p:nvPr/>
        </p:nvSpPr>
        <p:spPr>
          <a:xfrm>
            <a:off x="548640" y="3758184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Caso de uso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758184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2834640" y="3758184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</a:rPr>
              <a:t>Cancelar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pedido</a:t>
            </a:r>
            <a:r>
              <a:rPr lang="en-US" sz="1200" dirty="0">
                <a:solidFill>
                  <a:srgbClr val="FFFFFF"/>
                </a:solidFill>
              </a:rPr>
              <a:t>, </a:t>
            </a:r>
            <a:r>
              <a:rPr lang="en-US" sz="1200" dirty="0" err="1">
                <a:solidFill>
                  <a:srgbClr val="FFFFFF"/>
                </a:solidFill>
              </a:rPr>
              <a:t>aprobar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proceso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0" y="3758184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5577840" y="3758184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</a:rPr>
              <a:t>Consultar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estado</a:t>
            </a:r>
            <a:r>
              <a:rPr lang="en-US" sz="1200" dirty="0">
                <a:solidFill>
                  <a:srgbClr val="FFFFFF"/>
                </a:solidFill>
              </a:rPr>
              <a:t>, </a:t>
            </a:r>
            <a:r>
              <a:rPr lang="en-US" sz="1200" dirty="0" err="1">
                <a:solidFill>
                  <a:srgbClr val="FFFFFF"/>
                </a:solidFill>
              </a:rPr>
              <a:t>ver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progreso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5" name="Text 33"/>
          <p:cNvSpPr/>
          <p:nvPr/>
        </p:nvSpPr>
        <p:spPr>
          <a:xfrm>
            <a:off x="548640" y="461772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💡  Usa Signal para agir sobre um workflow em execução, e Query para observar o seu estado.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</a:t>
            </a:r>
            <a:r>
              <a:rPr lang="en-US" sz="2400" b="1" dirty="0" err="1">
                <a:solidFill>
                  <a:srgbClr val="FFFFFF"/>
                </a:solidFill>
              </a:rPr>
              <a:t>Arquitectura</a:t>
            </a:r>
            <a:r>
              <a:rPr lang="en-US" sz="2400" b="1" dirty="0">
                <a:solidFill>
                  <a:srgbClr val="FFFFFF"/>
                </a:solidFill>
              </a:rPr>
              <a:t> general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5909" y="10058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55909" y="1005840"/>
            <a:ext cx="2834640" cy="4114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55909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Client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349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Inicia</a:t>
            </a:r>
            <a:r>
              <a:rPr lang="en-US" sz="1050" dirty="0">
                <a:solidFill>
                  <a:srgbClr val="8FA3B3"/>
                </a:solidFill>
              </a:rPr>
              <a:t> workflows, </a:t>
            </a:r>
            <a:r>
              <a:rPr lang="en-US" sz="1050" dirty="0" err="1">
                <a:solidFill>
                  <a:srgbClr val="8FA3B3"/>
                </a:solidFill>
              </a:rPr>
              <a:t>envía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señales</a:t>
            </a:r>
            <a:r>
              <a:rPr lang="en-US" sz="1050" dirty="0">
                <a:solidFill>
                  <a:srgbClr val="8FA3B3"/>
                </a:solidFill>
              </a:rPr>
              <a:t> y </a:t>
            </a:r>
            <a:r>
              <a:rPr lang="en-US" sz="1050" dirty="0" err="1">
                <a:solidFill>
                  <a:srgbClr val="8FA3B3"/>
                </a:solidFill>
              </a:rPr>
              <a:t>ejecuta</a:t>
            </a:r>
            <a:r>
              <a:rPr lang="en-US" sz="1050" dirty="0">
                <a:solidFill>
                  <a:srgbClr val="8FA3B3"/>
                </a:solidFill>
              </a:rPr>
              <a:t> queries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73429" y="10058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3273429" y="1005840"/>
            <a:ext cx="2834640" cy="4114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3273429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Temporal Service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64869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Orquestación</a:t>
            </a:r>
            <a:r>
              <a:rPr lang="en-US" sz="1050" dirty="0">
                <a:solidFill>
                  <a:srgbClr val="8FA3B3"/>
                </a:solidFill>
              </a:rPr>
              <a:t> central: </a:t>
            </a:r>
            <a:r>
              <a:rPr lang="en-US" sz="1050" dirty="0" err="1">
                <a:solidFill>
                  <a:srgbClr val="8FA3B3"/>
                </a:solidFill>
              </a:rPr>
              <a:t>persistencia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histórica</a:t>
            </a:r>
            <a:r>
              <a:rPr lang="en-US" sz="1050" dirty="0">
                <a:solidFill>
                  <a:srgbClr val="8FA3B3"/>
                </a:solidFill>
              </a:rPr>
              <a:t> y agenda de </a:t>
            </a:r>
            <a:r>
              <a:rPr lang="en-US" sz="1050" dirty="0" err="1">
                <a:solidFill>
                  <a:srgbClr val="8FA3B3"/>
                </a:solidFill>
              </a:rPr>
              <a:t>tareas</a:t>
            </a:r>
            <a:r>
              <a:rPr lang="en-US" sz="1050" dirty="0">
                <a:solidFill>
                  <a:srgbClr val="8FA3B3"/>
                </a:solidFill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5909" y="28346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255909" y="2834640"/>
            <a:ext cx="2834640" cy="411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255909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 Queues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349" y="32918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Colas </a:t>
            </a:r>
            <a:r>
              <a:rPr lang="en-US" sz="1050" dirty="0" err="1">
                <a:solidFill>
                  <a:srgbClr val="8FA3B3"/>
                </a:solidFill>
              </a:rPr>
              <a:t>lógicas</a:t>
            </a:r>
            <a:r>
              <a:rPr lang="en-US" sz="1050" dirty="0">
                <a:solidFill>
                  <a:srgbClr val="8FA3B3"/>
                </a:solidFill>
              </a:rPr>
              <a:t> que </a:t>
            </a:r>
            <a:r>
              <a:rPr lang="en-US" sz="1050" dirty="0" err="1">
                <a:solidFill>
                  <a:srgbClr val="8FA3B3"/>
                </a:solidFill>
              </a:rPr>
              <a:t>distribuyen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tareas</a:t>
            </a:r>
            <a:r>
              <a:rPr lang="en-US" sz="1050" dirty="0">
                <a:solidFill>
                  <a:srgbClr val="8FA3B3"/>
                </a:solidFill>
              </a:rPr>
              <a:t> a </a:t>
            </a:r>
            <a:r>
              <a:rPr lang="en-US" sz="1050" dirty="0" err="1">
                <a:solidFill>
                  <a:srgbClr val="8FA3B3"/>
                </a:solidFill>
              </a:rPr>
              <a:t>los</a:t>
            </a:r>
            <a:r>
              <a:rPr lang="en-US" sz="1050" dirty="0">
                <a:solidFill>
                  <a:srgbClr val="8FA3B3"/>
                </a:solidFill>
              </a:rPr>
              <a:t> workers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73429" y="28346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B06C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3273429" y="2834640"/>
            <a:ext cx="2834640" cy="411480"/>
          </a:xfrm>
          <a:prstGeom prst="rect">
            <a:avLst/>
          </a:prstGeom>
          <a:solidFill>
            <a:srgbClr val="B06CC4"/>
          </a:solidFill>
          <a:ln w="12700">
            <a:solidFill>
              <a:srgbClr val="B06CC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3273429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Workers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64869" y="32918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Ejecutan</a:t>
            </a:r>
            <a:r>
              <a:rPr lang="en-US" sz="1050" dirty="0">
                <a:solidFill>
                  <a:srgbClr val="8FA3B3"/>
                </a:solidFill>
              </a:rPr>
              <a:t> Código de workflows y activities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53512" y="19202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253512" y="1920240"/>
            <a:ext cx="283464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253512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4952" y="23774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 err="1">
                <a:solidFill>
                  <a:srgbClr val="8FA3B3"/>
                </a:solidFill>
              </a:rPr>
              <a:t>Almacena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el</a:t>
            </a:r>
            <a:r>
              <a:rPr lang="en-US" sz="1050" dirty="0">
                <a:solidFill>
                  <a:srgbClr val="8FA3B3"/>
                </a:solidFill>
              </a:rPr>
              <a:t> </a:t>
            </a:r>
            <a:r>
              <a:rPr lang="en-US" sz="1050" dirty="0" err="1">
                <a:solidFill>
                  <a:srgbClr val="8FA3B3"/>
                </a:solidFill>
              </a:rPr>
              <a:t>historial</a:t>
            </a:r>
            <a:r>
              <a:rPr lang="en-US" sz="1050" dirty="0">
                <a:solidFill>
                  <a:srgbClr val="8FA3B3"/>
                </a:solidFill>
              </a:rPr>
              <a:t> de </a:t>
            </a:r>
            <a:r>
              <a:rPr lang="en-US" sz="1050" dirty="0" err="1">
                <a:solidFill>
                  <a:srgbClr val="8FA3B3"/>
                </a:solidFill>
              </a:rPr>
              <a:t>eventos</a:t>
            </a:r>
            <a:r>
              <a:rPr lang="en-US" sz="1050" dirty="0">
                <a:solidFill>
                  <a:srgbClr val="8FA3B3"/>
                </a:solidFill>
              </a:rPr>
              <a:t> (PostgreSQL/MySQL/Cassandra)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090549" y="1737360"/>
            <a:ext cx="20116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2999109" y="157276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090549" y="3566160"/>
            <a:ext cx="20116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7" name="Text 25"/>
          <p:cNvSpPr/>
          <p:nvPr/>
        </p:nvSpPr>
        <p:spPr>
          <a:xfrm>
            <a:off x="2999109" y="340156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 Fluxo de Execução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02920" cy="50292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</a:rPr>
              <a:t>Cliente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inicia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flujo</a:t>
            </a:r>
            <a:r>
              <a:rPr lang="en-US" sz="1200" dirty="0">
                <a:solidFill>
                  <a:srgbClr val="FFFFFF"/>
                </a:solidFill>
              </a:rPr>
              <a:t> de </a:t>
            </a:r>
            <a:r>
              <a:rPr lang="en-US" sz="1200" dirty="0" err="1">
                <a:solidFill>
                  <a:srgbClr val="FFFFFF"/>
                </a:solidFill>
              </a:rPr>
              <a:t>trabajo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4630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502920" cy="50292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91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8620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Temporal Service </a:t>
            </a:r>
            <a:r>
              <a:rPr lang="en-US" sz="1200" dirty="0" err="1">
                <a:solidFill>
                  <a:srgbClr val="FFFFFF"/>
                </a:solidFill>
              </a:rPr>
              <a:t>registra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evento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4630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02920" cy="50292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17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1228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Las </a:t>
            </a:r>
            <a:r>
              <a:rPr lang="en-US" sz="1200" dirty="0" err="1">
                <a:solidFill>
                  <a:srgbClr val="FFFFFF"/>
                </a:solidFill>
              </a:rPr>
              <a:t>tareas</a:t>
            </a:r>
            <a:r>
              <a:rPr lang="en-US" sz="1200" dirty="0">
                <a:solidFill>
                  <a:srgbClr val="FFFFFF"/>
                </a:solidFill>
              </a:rPr>
              <a:t> se </a:t>
            </a:r>
            <a:r>
              <a:rPr lang="en-US" sz="1200" dirty="0" err="1">
                <a:solidFill>
                  <a:srgbClr val="FFFFFF"/>
                </a:solidFill>
              </a:rPr>
              <a:t>programan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en</a:t>
            </a:r>
            <a:r>
              <a:rPr lang="en-US" sz="1200" dirty="0">
                <a:solidFill>
                  <a:srgbClr val="FFFFFF"/>
                </a:solidFill>
              </a:rPr>
              <a:t> Task Queue.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Worker consume y </a:t>
            </a:r>
            <a:r>
              <a:rPr lang="en-US" sz="1200" dirty="0" err="1">
                <a:solidFill>
                  <a:srgbClr val="FFFFFF"/>
                </a:solidFill>
              </a:rPr>
              <a:t>ejecuta</a:t>
            </a:r>
            <a:r>
              <a:rPr lang="en-US" sz="1200" dirty="0">
                <a:solidFill>
                  <a:srgbClr val="FFFFFF"/>
                </a:solidFill>
              </a:rPr>
              <a:t> la </a:t>
            </a:r>
            <a:r>
              <a:rPr lang="en-US" sz="1200" dirty="0" err="1">
                <a:solidFill>
                  <a:srgbClr val="FFFFFF"/>
                </a:solidFill>
              </a:rPr>
              <a:t>tarea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17520" y="310896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20040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3291840" y="274320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32918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8620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Activity </a:t>
            </a:r>
            <a:r>
              <a:rPr lang="en-US" sz="1200" dirty="0" err="1">
                <a:solidFill>
                  <a:srgbClr val="FFFFFF"/>
                </a:solidFill>
              </a:rPr>
              <a:t>realiza</a:t>
            </a:r>
            <a:r>
              <a:rPr lang="en-US" sz="1200" dirty="0">
                <a:solidFill>
                  <a:srgbClr val="FFFFFF"/>
                </a:solidFill>
              </a:rPr>
              <a:t> la </a:t>
            </a:r>
            <a:r>
              <a:rPr lang="en-US" sz="1200" dirty="0" err="1">
                <a:solidFill>
                  <a:srgbClr val="FFFFFF"/>
                </a:solidFill>
              </a:rPr>
              <a:t>operación</a:t>
            </a:r>
            <a:r>
              <a:rPr lang="en-US" sz="1200" dirty="0">
                <a:solidFill>
                  <a:srgbClr val="FFFFFF"/>
                </a:solidFill>
              </a:rPr>
              <a:t> externa.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0" y="310896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2648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6217920" y="274320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62179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Se </a:t>
            </a:r>
            <a:r>
              <a:rPr lang="en-US" sz="1200" dirty="0" err="1">
                <a:solidFill>
                  <a:srgbClr val="FFFFFF"/>
                </a:solidFill>
              </a:rPr>
              <a:t>devuelve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resultado</a:t>
            </a:r>
            <a:r>
              <a:rPr lang="en-US" sz="1200" dirty="0">
                <a:solidFill>
                  <a:srgbClr val="FFFFFF"/>
                </a:solidFill>
              </a:rPr>
              <a:t> y se </a:t>
            </a:r>
            <a:r>
              <a:rPr lang="en-US" sz="1200" dirty="0" err="1">
                <a:solidFill>
                  <a:srgbClr val="FFFFFF"/>
                </a:solidFill>
              </a:rPr>
              <a:t>actualiza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el</a:t>
            </a:r>
            <a:r>
              <a:rPr lang="en-US" sz="1200" dirty="0">
                <a:solidFill>
                  <a:srgbClr val="FFFFFF"/>
                </a:solidFill>
              </a:rPr>
              <a:t> </a:t>
            </a:r>
            <a:r>
              <a:rPr lang="en-US" sz="1200" dirty="0" err="1">
                <a:solidFill>
                  <a:srgbClr val="FFFFFF"/>
                </a:solidFill>
              </a:rPr>
              <a:t>historial</a:t>
            </a:r>
            <a:r>
              <a:rPr lang="en-US" sz="1200" dirty="0">
                <a:solidFill>
                  <a:srgbClr val="FFFFFF"/>
                </a:solidFill>
              </a:rPr>
              <a:t>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🔄  En </a:t>
            </a:r>
            <a:r>
              <a:rPr lang="en-US" sz="1100" i="1" dirty="0" err="1">
                <a:solidFill>
                  <a:srgbClr val="FFFFFF"/>
                </a:solidFill>
              </a:rPr>
              <a:t>caso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fallo</a:t>
            </a:r>
            <a:r>
              <a:rPr lang="en-US" sz="1100" i="1" dirty="0">
                <a:solidFill>
                  <a:srgbClr val="FFFFFF"/>
                </a:solidFill>
              </a:rPr>
              <a:t>: Temporal </a:t>
            </a:r>
            <a:r>
              <a:rPr lang="en-US" sz="1100" i="1" dirty="0" err="1">
                <a:solidFill>
                  <a:srgbClr val="FFFFFF"/>
                </a:solidFill>
              </a:rPr>
              <a:t>aplica</a:t>
            </a:r>
            <a:r>
              <a:rPr lang="en-US" sz="1100" i="1" dirty="0">
                <a:solidFill>
                  <a:srgbClr val="FFFFFF"/>
                </a:solidFill>
              </a:rPr>
              <a:t> las </a:t>
            </a:r>
            <a:r>
              <a:rPr lang="en-US" sz="1100" i="1" dirty="0" err="1">
                <a:solidFill>
                  <a:srgbClr val="FFFFFF"/>
                </a:solidFill>
              </a:rPr>
              <a:t>políticas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reintento</a:t>
            </a:r>
            <a:r>
              <a:rPr lang="en-US" sz="1100" i="1" dirty="0">
                <a:solidFill>
                  <a:srgbClr val="FFFFFF"/>
                </a:solidFill>
              </a:rPr>
              <a:t> y </a:t>
            </a:r>
            <a:r>
              <a:rPr lang="en-US" sz="1100" i="1" dirty="0" err="1">
                <a:solidFill>
                  <a:srgbClr val="FFFFFF"/>
                </a:solidFill>
              </a:rPr>
              <a:t>reanuda</a:t>
            </a:r>
            <a:r>
              <a:rPr lang="en-US" sz="1100" i="1" dirty="0">
                <a:solidFill>
                  <a:srgbClr val="FFFFFF"/>
                </a:solidFill>
              </a:rPr>
              <a:t> la </a:t>
            </a:r>
            <a:r>
              <a:rPr lang="en-US" sz="1100" i="1" dirty="0" err="1">
                <a:solidFill>
                  <a:srgbClr val="FFFFFF"/>
                </a:solidFill>
              </a:rPr>
              <a:t>ejecución</a:t>
            </a:r>
            <a:r>
              <a:rPr lang="en-US" sz="1100" i="1" dirty="0">
                <a:solidFill>
                  <a:srgbClr val="FFFFFF"/>
                </a:solidFill>
              </a:rPr>
              <a:t> </a:t>
            </a:r>
            <a:r>
              <a:rPr lang="en-US" sz="1100" i="1" dirty="0" err="1">
                <a:solidFill>
                  <a:srgbClr val="FFFFFF"/>
                </a:solidFill>
              </a:rPr>
              <a:t>en</a:t>
            </a:r>
            <a:r>
              <a:rPr lang="en-US" sz="1100" i="1" dirty="0">
                <a:solidFill>
                  <a:srgbClr val="FFFFFF"/>
                </a:solidFill>
              </a:rPr>
              <a:t> </a:t>
            </a:r>
            <a:r>
              <a:rPr lang="en-US" sz="1100" i="1" dirty="0" err="1">
                <a:solidFill>
                  <a:srgbClr val="FFFFFF"/>
                </a:solidFill>
              </a:rPr>
              <a:t>función</a:t>
            </a:r>
            <a:r>
              <a:rPr lang="en-US" sz="1100" i="1" dirty="0">
                <a:solidFill>
                  <a:srgbClr val="FFFFFF"/>
                </a:solidFill>
              </a:rPr>
              <a:t> del </a:t>
            </a:r>
            <a:r>
              <a:rPr lang="en-US" sz="1100" i="1" dirty="0" err="1">
                <a:solidFill>
                  <a:srgbClr val="FFFFFF"/>
                </a:solidFill>
              </a:rPr>
              <a:t>historial</a:t>
            </a:r>
            <a:r>
              <a:rPr lang="en-US" sz="1100" i="1" dirty="0">
                <a:solidFill>
                  <a:srgbClr val="FFFFFF"/>
                </a:solidFill>
              </a:rPr>
              <a:t> de </a:t>
            </a:r>
            <a:r>
              <a:rPr lang="en-US" sz="1100" i="1" dirty="0" err="1">
                <a:solidFill>
                  <a:srgbClr val="FFFFFF"/>
                </a:solidFill>
              </a:rPr>
              <a:t>eventos</a:t>
            </a:r>
            <a:r>
              <a:rPr lang="en-US" sz="1100" i="1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06  / </a:t>
            </a:r>
            <a:r>
              <a:rPr lang="en-US" sz="2400" b="1" dirty="0" err="1">
                <a:solidFill>
                  <a:srgbClr val="FFFFFF"/>
                </a:solidFill>
              </a:rPr>
              <a:t>Conclusión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Temporal IO no es solo </a:t>
            </a:r>
            <a:r>
              <a:rPr lang="en-US" sz="1300" i="1" dirty="0" err="1">
                <a:solidFill>
                  <a:srgbClr val="FFFFFF"/>
                </a:solidFill>
              </a:rPr>
              <a:t>una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herramienta</a:t>
            </a:r>
            <a:r>
              <a:rPr lang="en-US" sz="1300" i="1" dirty="0">
                <a:solidFill>
                  <a:srgbClr val="FFFFFF"/>
                </a:solidFill>
              </a:rPr>
              <a:t> de </a:t>
            </a:r>
            <a:r>
              <a:rPr lang="en-US" sz="1300" i="1" dirty="0" err="1">
                <a:solidFill>
                  <a:srgbClr val="FFFFFF"/>
                </a:solidFill>
              </a:rPr>
              <a:t>orquestación</a:t>
            </a:r>
            <a:r>
              <a:rPr lang="en-US" sz="1300" i="1" dirty="0">
                <a:solidFill>
                  <a:srgbClr val="FFFFFF"/>
                </a:solidFill>
              </a:rPr>
              <a:t>, </a:t>
            </a:r>
            <a:r>
              <a:rPr lang="en-US" sz="1300" i="1" dirty="0" err="1">
                <a:solidFill>
                  <a:srgbClr val="FFFFFF"/>
                </a:solidFill>
              </a:rPr>
              <a:t>sino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una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plataforma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completa</a:t>
            </a:r>
            <a:r>
              <a:rPr lang="en-US" sz="1300" i="1" dirty="0">
                <a:solidFill>
                  <a:srgbClr val="FFFFFF"/>
                </a:solidFill>
              </a:rPr>
              <a:t> para </a:t>
            </a:r>
            <a:r>
              <a:rPr lang="en-US" sz="1300" i="1" dirty="0" err="1">
                <a:solidFill>
                  <a:srgbClr val="FFFFFF"/>
                </a:solidFill>
              </a:rPr>
              <a:t>crear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aplicaciones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distribuidas</a:t>
            </a:r>
            <a:r>
              <a:rPr lang="en-US" sz="1300" i="1" dirty="0">
                <a:solidFill>
                  <a:srgbClr val="FFFFFF"/>
                </a:solidFill>
              </a:rPr>
              <a:t> </a:t>
            </a:r>
            <a:r>
              <a:rPr lang="en-US" sz="1300" i="1" dirty="0" err="1">
                <a:solidFill>
                  <a:srgbClr val="FFFFFF"/>
                </a:solidFill>
              </a:rPr>
              <a:t>resilientes</a:t>
            </a:r>
            <a:r>
              <a:rPr lang="en-US" sz="1300" i="1" dirty="0">
                <a:solidFill>
                  <a:srgbClr val="FFFFFF"/>
                </a:solidFill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✅ </a:t>
            </a:r>
            <a:r>
              <a:rPr lang="en-US" sz="1300" b="1" dirty="0" err="1">
                <a:solidFill>
                  <a:srgbClr val="0D1B2A"/>
                </a:solidFill>
              </a:rPr>
              <a:t>Utilizar</a:t>
            </a:r>
            <a:r>
              <a:rPr lang="en-US" sz="1300" b="1" dirty="0">
                <a:solidFill>
                  <a:srgbClr val="0D1B2A"/>
                </a:solidFill>
              </a:rPr>
              <a:t> </a:t>
            </a:r>
            <a:r>
              <a:rPr lang="en-US" sz="1300" b="1" dirty="0" err="1">
                <a:solidFill>
                  <a:srgbClr val="0D1B2A"/>
                </a:solidFill>
              </a:rPr>
              <a:t>cuando</a:t>
            </a:r>
            <a:r>
              <a:rPr lang="en-US" sz="1300" b="1" dirty="0">
                <a:solidFill>
                  <a:srgbClr val="0D1B2A"/>
                </a:solidFill>
              </a:rPr>
              <a:t>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Múltiples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integraciones</a:t>
            </a:r>
            <a:r>
              <a:rPr lang="en-US" sz="1100" dirty="0">
                <a:solidFill>
                  <a:srgbClr val="FFFFFF"/>
                </a:solidFill>
              </a:rPr>
              <a:t> entre </a:t>
            </a:r>
            <a:r>
              <a:rPr lang="en-US" sz="1100" dirty="0" err="1">
                <a:solidFill>
                  <a:srgbClr val="FFFFFF"/>
                </a:solidFill>
              </a:rPr>
              <a:t>servicios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Dependencia</a:t>
            </a:r>
            <a:r>
              <a:rPr lang="en-US" sz="1100" dirty="0">
                <a:solidFill>
                  <a:srgbClr val="FFFFFF"/>
                </a:solidFill>
              </a:rPr>
              <a:t> de </a:t>
            </a:r>
            <a:r>
              <a:rPr lang="en-US" sz="1100" dirty="0" err="1">
                <a:solidFill>
                  <a:srgbClr val="FFFFFF"/>
                </a:solidFill>
              </a:rPr>
              <a:t>sistemas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externos</a:t>
            </a:r>
            <a:r>
              <a:rPr lang="en-US" sz="1100" dirty="0">
                <a:solidFill>
                  <a:srgbClr val="FFFFFF"/>
                </a:solidFill>
              </a:rPr>
              <a:t> que </a:t>
            </a:r>
            <a:r>
              <a:rPr lang="en-US" sz="1100" dirty="0" err="1">
                <a:solidFill>
                  <a:srgbClr val="FFFFFF"/>
                </a:solidFill>
              </a:rPr>
              <a:t>están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sujetos</a:t>
            </a:r>
            <a:r>
              <a:rPr lang="en-US" sz="1100" dirty="0">
                <a:solidFill>
                  <a:srgbClr val="FFFFFF"/>
                </a:solidFill>
              </a:rPr>
              <a:t> a </a:t>
            </a:r>
            <a:r>
              <a:rPr lang="en-US" sz="1100" dirty="0" err="1">
                <a:solidFill>
                  <a:srgbClr val="FFFFFF"/>
                </a:solidFill>
              </a:rPr>
              <a:t>fallos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Procesos</a:t>
            </a:r>
            <a:r>
              <a:rPr lang="en-US" sz="1100" dirty="0">
                <a:solidFill>
                  <a:srgbClr val="FFFFFF"/>
                </a:solidFill>
              </a:rPr>
              <a:t> largos o </a:t>
            </a:r>
            <a:r>
              <a:rPr lang="en-US" sz="1100" dirty="0" err="1">
                <a:solidFill>
                  <a:srgbClr val="FFFFFF"/>
                </a:solidFill>
              </a:rPr>
              <a:t>asíncronos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Necesita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trazabilidad</a:t>
            </a:r>
            <a:r>
              <a:rPr lang="en-US" sz="1100" dirty="0">
                <a:solidFill>
                  <a:srgbClr val="FFFFFF"/>
                </a:solidFill>
              </a:rPr>
              <a:t> y un </a:t>
            </a:r>
            <a:r>
              <a:rPr lang="en-US" sz="1100" dirty="0" err="1">
                <a:solidFill>
                  <a:srgbClr val="FFFFFF"/>
                </a:solidFill>
              </a:rPr>
              <a:t>reprocesamiento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fiable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</a:t>
            </a:r>
            <a:r>
              <a:rPr lang="en-US" sz="1300" b="1" dirty="0" err="1">
                <a:solidFill>
                  <a:srgbClr val="FFFFFF"/>
                </a:solidFill>
              </a:rPr>
              <a:t>Reconsidera</a:t>
            </a:r>
            <a:r>
              <a:rPr lang="en-US" sz="1300" b="1" dirty="0">
                <a:solidFill>
                  <a:srgbClr val="FFFFFF"/>
                </a:solidFill>
              </a:rPr>
              <a:t> </a:t>
            </a:r>
            <a:r>
              <a:rPr lang="en-US" sz="1300" b="1" dirty="0" err="1">
                <a:solidFill>
                  <a:srgbClr val="FFFFFF"/>
                </a:solidFill>
              </a:rPr>
              <a:t>cuando</a:t>
            </a:r>
            <a:r>
              <a:rPr lang="en-US" sz="1300" b="1" dirty="0">
                <a:solidFill>
                  <a:srgbClr val="FFFFFF"/>
                </a:solidFill>
              </a:rPr>
              <a:t>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Requiere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facilidad</a:t>
            </a:r>
            <a:r>
              <a:rPr lang="en-US" sz="1100" dirty="0">
                <a:solidFill>
                  <a:srgbClr val="FFFFFF"/>
                </a:solidFill>
              </a:rPr>
              <a:t> de </a:t>
            </a:r>
            <a:r>
              <a:rPr lang="en-US" sz="1100" dirty="0" err="1">
                <a:solidFill>
                  <a:srgbClr val="FFFFFF"/>
                </a:solidFill>
              </a:rPr>
              <a:t>transporte</a:t>
            </a:r>
            <a:r>
              <a:rPr lang="en-US" sz="1100" dirty="0">
                <a:solidFill>
                  <a:srgbClr val="FFFFFF"/>
                </a:solidFill>
              </a:rPr>
              <a:t> y </a:t>
            </a:r>
            <a:r>
              <a:rPr lang="en-US" sz="1100" dirty="0" err="1">
                <a:solidFill>
                  <a:srgbClr val="FFFFFF"/>
                </a:solidFill>
              </a:rPr>
              <a:t>reprocesamiento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fiable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Equipos</a:t>
            </a:r>
            <a:r>
              <a:rPr lang="en-US" sz="1100" dirty="0">
                <a:solidFill>
                  <a:srgbClr val="FFFFFF"/>
                </a:solidFill>
              </a:rPr>
              <a:t> sin </a:t>
            </a:r>
            <a:r>
              <a:rPr lang="en-US" sz="1100" dirty="0" err="1">
                <a:solidFill>
                  <a:srgbClr val="FFFFFF"/>
                </a:solidFill>
              </a:rPr>
              <a:t>tiempo</a:t>
            </a:r>
            <a:r>
              <a:rPr lang="en-US" sz="1100" dirty="0">
                <a:solidFill>
                  <a:srgbClr val="FFFFFF"/>
                </a:solidFill>
              </a:rPr>
              <a:t> para </a:t>
            </a:r>
            <a:r>
              <a:rPr lang="en-US" sz="1100" dirty="0" err="1">
                <a:solidFill>
                  <a:srgbClr val="FFFFFF"/>
                </a:solidFill>
              </a:rPr>
              <a:t>una</a:t>
            </a:r>
            <a:r>
              <a:rPr lang="en-US" sz="1100" dirty="0">
                <a:solidFill>
                  <a:srgbClr val="FFFFFF"/>
                </a:solidFill>
              </a:rPr>
              <a:t> curva de </a:t>
            </a:r>
            <a:r>
              <a:rPr lang="en-US" sz="1100" dirty="0" err="1">
                <a:solidFill>
                  <a:srgbClr val="FFFFFF"/>
                </a:solidFill>
              </a:rPr>
              <a:t>aprendizaje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</a:t>
            </a:r>
            <a:r>
              <a:rPr lang="en-US" sz="1100" dirty="0" err="1">
                <a:solidFill>
                  <a:srgbClr val="FFFFFF"/>
                </a:solidFill>
              </a:rPr>
              <a:t>Proyectos</a:t>
            </a:r>
            <a:r>
              <a:rPr lang="en-US" sz="1100" dirty="0">
                <a:solidFill>
                  <a:srgbClr val="FFFFFF"/>
                </a:solidFill>
              </a:rPr>
              <a:t> que no </a:t>
            </a:r>
            <a:r>
              <a:rPr lang="en-US" sz="1100" dirty="0" err="1">
                <a:solidFill>
                  <a:srgbClr val="FFFFFF"/>
                </a:solidFill>
              </a:rPr>
              <a:t>requieren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alta</a:t>
            </a:r>
            <a:r>
              <a:rPr lang="en-US" sz="1100" dirty="0">
                <a:solidFill>
                  <a:srgbClr val="FFFFFF"/>
                </a:solidFill>
              </a:rPr>
              <a:t> </a:t>
            </a:r>
            <a:r>
              <a:rPr lang="en-US" sz="1100" dirty="0" err="1">
                <a:solidFill>
                  <a:srgbClr val="FFFFFF"/>
                </a:solidFill>
              </a:rPr>
              <a:t>resiliencia</a:t>
            </a:r>
            <a:r>
              <a:rPr lang="en-US" sz="1100" dirty="0">
                <a:solidFill>
                  <a:srgbClr val="FFFFFF"/>
                </a:solidFill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1B6CA8">
              <a:alpha val="15000"/>
            </a:srgbClr>
          </a:solidFill>
          <a:ln w="12700">
            <a:solidFill>
              <a:srgbClr val="1B6CA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Gracias!</a:t>
            </a:r>
            <a:endParaRPr lang="en-US" sz="5200" dirty="0">
              <a:solidFill>
                <a:srgbClr val="00206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9CDB"/>
                </a:solidFill>
              </a:rPr>
              <a:t>Temporal IO  •  Workflows Durables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📚  </a:t>
            </a:r>
            <a:r>
              <a:rPr lang="en-US" sz="1400" b="1" dirty="0" err="1">
                <a:solidFill>
                  <a:srgbClr val="00D4AA"/>
                </a:solidFill>
              </a:rPr>
              <a:t>Referencias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temporal.io  —  </a:t>
            </a:r>
            <a:r>
              <a:rPr lang="en-US" sz="1100" dirty="0" err="1">
                <a:solidFill>
                  <a:srgbClr val="8FA3B3"/>
                </a:solidFill>
              </a:rPr>
              <a:t>Documentación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oficial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docs.temporal.io/encyclopedia  —  Encyclopedia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78561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learn.temporal.io  —  Academia Temporal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6966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youtube.com/@Temporalio  —  </a:t>
            </a:r>
            <a:r>
              <a:rPr lang="en-US" sz="1100" dirty="0" err="1">
                <a:solidFill>
                  <a:srgbClr val="8FA3B3"/>
                </a:solidFill>
              </a:rPr>
              <a:t>Vídeos</a:t>
            </a:r>
            <a:r>
              <a:rPr lang="en-US" sz="1100" dirty="0">
                <a:solidFill>
                  <a:srgbClr val="8FA3B3"/>
                </a:solidFill>
              </a:rPr>
              <a:t> </a:t>
            </a:r>
            <a:r>
              <a:rPr lang="en-US" sz="1100" dirty="0" err="1">
                <a:solidFill>
                  <a:srgbClr val="8FA3B3"/>
                </a:solidFill>
              </a:rPr>
              <a:t>oficiales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850</Words>
  <Application>Microsoft Macintosh PowerPoint</Application>
  <PresentationFormat>Apresentação no Ecrã (16:9)</PresentationFormat>
  <Paragraphs>173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IO</dc:title>
  <dc:subject>PptxGenJS Presentation</dc:subject>
  <dc:creator>PptxGenJS</dc:creator>
  <cp:lastModifiedBy>Pedro Bruno Viveiros Ferreira</cp:lastModifiedBy>
  <cp:revision>19</cp:revision>
  <cp:lastPrinted>2026-04-09T08:34:09Z</cp:lastPrinted>
  <dcterms:created xsi:type="dcterms:W3CDTF">2026-04-09T07:59:40Z</dcterms:created>
  <dcterms:modified xsi:type="dcterms:W3CDTF">2026-04-09T09:20:36Z</dcterms:modified>
</cp:coreProperties>
</file>