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4" r:id="rId9"/>
    <p:sldId id="265" r:id="rId10"/>
    <p:sldId id="266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61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1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3340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D1124-F660-C6C8-7958-8F694056A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3DC7DB-02BD-4B8A-3FFE-C1E12C63D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4151BA-512A-A33C-2BFE-B65A0B28B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B5ED7D-E7A3-F4E8-E528-D3AFF4050D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548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6858000" y="-548640"/>
            <a:ext cx="3657600" cy="3657600"/>
          </a:xfrm>
          <a:prstGeom prst="ellipse">
            <a:avLst/>
          </a:prstGeom>
          <a:solidFill>
            <a:srgbClr val="1B6CA8">
              <a:alpha val="20000"/>
            </a:srgbClr>
          </a:solidFill>
          <a:ln w="12700">
            <a:solidFill>
              <a:srgbClr val="1B6C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00D4AA">
              <a:alpha val="15000"/>
            </a:srgbClr>
          </a:solidFill>
          <a:ln w="12700">
            <a:solidFill>
              <a:srgbClr val="00D4A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PLATAFORMA OPEN-SOURCE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IO</a:t>
            </a:r>
            <a:endParaRPr lang="en-US" sz="6000" dirty="0">
              <a:solidFill>
                <a:srgbClr val="00206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29768" y="2629286"/>
            <a:ext cx="6428232" cy="82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duráveis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​​para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distribuídos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Apresentação técnica  •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Índice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4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57200" y="2057404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457200" y="2057404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057404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O que é o Temporal IO?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032409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457200" y="3032409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457200" y="3032409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3032409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Porque usar Temporal IO?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2428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57200" y="402428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57200" y="402428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40242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Vantagens e Desvantagens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27909" y="1109556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4827909" y="1109556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4827909" y="1109556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22269" y="1109556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Principais Conceitos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27909" y="2057404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4827909" y="2057404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4827909" y="2057404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22269" y="2057404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Arquitetura Geral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27909" y="402428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4827909" y="402428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4827909" y="402428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22269" y="40242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Conclusão</a:t>
            </a:r>
            <a:endParaRPr lang="en-US" sz="1300" dirty="0"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5C4D2458-67BC-CF49-68D1-8A9C12353956}"/>
              </a:ext>
            </a:extLst>
          </p:cNvPr>
          <p:cNvSpPr/>
          <p:nvPr/>
        </p:nvSpPr>
        <p:spPr>
          <a:xfrm>
            <a:off x="457200" y="1109556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43C841EB-DA9C-D22B-FE3B-BD712033BAE7}"/>
              </a:ext>
            </a:extLst>
          </p:cNvPr>
          <p:cNvSpPr/>
          <p:nvPr/>
        </p:nvSpPr>
        <p:spPr>
          <a:xfrm>
            <a:off x="457200" y="1109556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F64EF508-75AC-41CF-A13C-038D47275BE0}"/>
              </a:ext>
            </a:extLst>
          </p:cNvPr>
          <p:cNvSpPr/>
          <p:nvPr/>
        </p:nvSpPr>
        <p:spPr>
          <a:xfrm>
            <a:off x="457200" y="1109556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01</a:t>
            </a:r>
            <a:endParaRPr lang="en-US" sz="13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7AD72CAE-54EC-B2B1-FF83-49ED8067E2D0}"/>
              </a:ext>
            </a:extLst>
          </p:cNvPr>
          <p:cNvSpPr/>
          <p:nvPr/>
        </p:nvSpPr>
        <p:spPr>
          <a:xfrm>
            <a:off x="1051560" y="1109556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FFFFF"/>
                </a:solidFill>
              </a:rPr>
              <a:t>Problema</a:t>
            </a:r>
            <a:r>
              <a:rPr lang="en-US" sz="1400" dirty="0">
                <a:solidFill>
                  <a:srgbClr val="FFFFFF"/>
                </a:solidFill>
              </a:rPr>
              <a:t> real </a:t>
            </a:r>
            <a:r>
              <a:rPr lang="en-US" sz="1400" dirty="0" err="1">
                <a:solidFill>
                  <a:srgbClr val="FFFFFF"/>
                </a:solidFill>
              </a:rPr>
              <a:t>nos</a:t>
            </a:r>
            <a:r>
              <a:rPr lang="en-US" sz="1400" dirty="0">
                <a:solidFill>
                  <a:srgbClr val="FFFFFF"/>
                </a:solidFill>
              </a:rPr>
              <a:t> </a:t>
            </a:r>
            <a:r>
              <a:rPr lang="en-US" sz="1400" dirty="0" err="1">
                <a:solidFill>
                  <a:srgbClr val="FFFFFF"/>
                </a:solidFill>
              </a:rPr>
              <a:t>microservicos</a:t>
            </a:r>
            <a:endParaRPr lang="en-US" sz="1300" dirty="0"/>
          </a:p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B9B62BC8-2C92-204C-5751-3A55496DD050}"/>
              </a:ext>
            </a:extLst>
          </p:cNvPr>
          <p:cNvSpPr/>
          <p:nvPr/>
        </p:nvSpPr>
        <p:spPr>
          <a:xfrm>
            <a:off x="4827909" y="3040842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1055CE5D-DD06-D85A-A5FA-5D56813A3D1F}"/>
              </a:ext>
            </a:extLst>
          </p:cNvPr>
          <p:cNvSpPr/>
          <p:nvPr/>
        </p:nvSpPr>
        <p:spPr>
          <a:xfrm>
            <a:off x="4827909" y="3040842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28FAF75B-0DEC-195B-6F50-CC07442083C4}"/>
              </a:ext>
            </a:extLst>
          </p:cNvPr>
          <p:cNvSpPr/>
          <p:nvPr/>
        </p:nvSpPr>
        <p:spPr>
          <a:xfrm>
            <a:off x="4827909" y="3040842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07</a:t>
            </a:r>
            <a:endParaRPr lang="en-US" sz="1300" dirty="0"/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99E27ED4-2EFD-DFBC-533E-0BF386098700}"/>
              </a:ext>
            </a:extLst>
          </p:cNvPr>
          <p:cNvSpPr/>
          <p:nvPr/>
        </p:nvSpPr>
        <p:spPr>
          <a:xfrm>
            <a:off x="5422269" y="304084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Fluxo</a:t>
            </a:r>
            <a:r>
              <a:rPr lang="en-US" sz="1300" dirty="0">
                <a:solidFill>
                  <a:srgbClr val="FFFFFF"/>
                </a:solidFill>
              </a:rPr>
              <a:t> de </a:t>
            </a:r>
            <a:r>
              <a:rPr lang="en-US" sz="1300" dirty="0" err="1">
                <a:solidFill>
                  <a:srgbClr val="FFFFFF"/>
                </a:solidFill>
              </a:rPr>
              <a:t>Execução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3">
            <a:extLst>
              <a:ext uri="{FF2B5EF4-FFF2-40B4-BE49-F238E27FC236}">
                <a16:creationId xmlns:a16="http://schemas.microsoft.com/office/drawing/2014/main" id="{55CD4805-F19C-31F2-A9D5-965B2ACEE397}"/>
              </a:ext>
            </a:extLst>
          </p:cNvPr>
          <p:cNvSpPr/>
          <p:nvPr/>
        </p:nvSpPr>
        <p:spPr>
          <a:xfrm>
            <a:off x="296342" y="1029778"/>
            <a:ext cx="3818458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  /  </a:t>
            </a:r>
            <a:r>
              <a:rPr lang="en-US" sz="2400" b="1" dirty="0" err="1">
                <a:solidFill>
                  <a:srgbClr val="FFFFFF"/>
                </a:solidFill>
              </a:rPr>
              <a:t>Problema</a:t>
            </a:r>
            <a:r>
              <a:rPr lang="en-US" sz="2400" b="1" dirty="0">
                <a:solidFill>
                  <a:srgbClr val="FFFFFF"/>
                </a:solidFill>
              </a:rPr>
              <a:t> real </a:t>
            </a:r>
            <a:r>
              <a:rPr lang="en-US" sz="2400" b="1" dirty="0" err="1">
                <a:solidFill>
                  <a:srgbClr val="FFFFFF"/>
                </a:solidFill>
              </a:rPr>
              <a:t>nos</a:t>
            </a:r>
            <a:r>
              <a:rPr lang="en-US" sz="2400" b="1" dirty="0">
                <a:solidFill>
                  <a:srgbClr val="FFFFFF"/>
                </a:solidFill>
              </a:rPr>
              <a:t> </a:t>
            </a:r>
            <a:r>
              <a:rPr lang="en-US" sz="2400" b="1" dirty="0" err="1">
                <a:solidFill>
                  <a:srgbClr val="FFFFFF"/>
                </a:solidFill>
              </a:rPr>
              <a:t>microservicos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96342" y="1488239"/>
            <a:ext cx="3818458" cy="1132223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3C112B80-1565-C23F-AECD-9BD6AE8FE229}"/>
              </a:ext>
            </a:extLst>
          </p:cNvPr>
          <p:cNvSpPr/>
          <p:nvPr/>
        </p:nvSpPr>
        <p:spPr>
          <a:xfrm>
            <a:off x="457200" y="1595604"/>
            <a:ext cx="3254644" cy="8346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 err="1">
                <a:solidFill>
                  <a:srgbClr val="FFFFFF"/>
                </a:solidFill>
              </a:rPr>
              <a:t>Processamento</a:t>
            </a:r>
            <a:r>
              <a:rPr lang="en-US" sz="1400" i="1" dirty="0">
                <a:solidFill>
                  <a:srgbClr val="FFFFFF"/>
                </a:solidFill>
              </a:rPr>
              <a:t> de </a:t>
            </a:r>
            <a:r>
              <a:rPr lang="en-US" sz="1400" i="1" dirty="0" err="1">
                <a:solidFill>
                  <a:srgbClr val="FFFFFF"/>
                </a:solidFill>
              </a:rPr>
              <a:t>encomenda</a:t>
            </a:r>
            <a:endParaRPr lang="en-US" sz="1400" i="1" dirty="0">
              <a:solidFill>
                <a:srgbClr val="FFFFFF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 err="1">
                <a:solidFill>
                  <a:srgbClr val="FFFFFF"/>
                </a:solidFill>
              </a:rPr>
              <a:t>Reservar</a:t>
            </a:r>
            <a:r>
              <a:rPr lang="en-US" sz="1400" i="1" dirty="0">
                <a:solidFill>
                  <a:srgbClr val="FFFFFF"/>
                </a:solidFill>
              </a:rPr>
              <a:t> Stock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 err="1">
                <a:solidFill>
                  <a:srgbClr val="FFFFFF"/>
                </a:solidFill>
              </a:rPr>
              <a:t>Pagamento</a:t>
            </a:r>
            <a:endParaRPr lang="en-US" sz="1400" i="1" dirty="0">
              <a:solidFill>
                <a:srgbClr val="FFFFFF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 err="1">
                <a:solidFill>
                  <a:srgbClr val="FFFFFF"/>
                </a:solidFill>
              </a:rPr>
              <a:t>Enviar</a:t>
            </a:r>
            <a:r>
              <a:rPr lang="en-US" sz="1400" i="1" dirty="0">
                <a:solidFill>
                  <a:srgbClr val="FFFFFF"/>
                </a:solidFill>
              </a:rPr>
              <a:t> Email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C8F8221-E248-C7C3-45F7-02D102595CD8}"/>
              </a:ext>
            </a:extLst>
          </p:cNvPr>
          <p:cNvSpPr txBox="1"/>
          <p:nvPr/>
        </p:nvSpPr>
        <p:spPr>
          <a:xfrm>
            <a:off x="463857" y="1089101"/>
            <a:ext cx="3410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D1B2A"/>
                </a:solidFill>
              </a:rPr>
              <a:t>Caso de </a:t>
            </a:r>
            <a:r>
              <a:rPr lang="en-US" sz="1400" b="1" dirty="0" err="1">
                <a:solidFill>
                  <a:srgbClr val="0D1B2A"/>
                </a:solidFill>
              </a:rPr>
              <a:t>Uso</a:t>
            </a:r>
            <a:endParaRPr lang="pt-PT" sz="1400" dirty="0"/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DB2BB3BE-4FA4-AD70-F6B3-8482D5B83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159" y="1029778"/>
            <a:ext cx="4347835" cy="37570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C2ED64-EF6B-DC82-C1E2-1A46F3620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1701C6-25AA-D955-E28E-9A1D3548EE7D}"/>
              </a:ext>
            </a:extLst>
          </p:cNvPr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7FF1245-3081-8909-453D-86208DF24ABD}"/>
              </a:ext>
            </a:extLst>
          </p:cNvPr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02  /  O que é o Temporal IO?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9713006-2E3D-5976-FC42-0BCCF16653C5}"/>
              </a:ext>
            </a:extLst>
          </p:cNvPr>
          <p:cNvSpPr/>
          <p:nvPr/>
        </p:nvSpPr>
        <p:spPr>
          <a:xfrm>
            <a:off x="365760" y="960120"/>
            <a:ext cx="8412480" cy="931581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461EB8-261F-322C-3F6C-FFFFBDFA7C67}"/>
              </a:ext>
            </a:extLst>
          </p:cNvPr>
          <p:cNvSpPr/>
          <p:nvPr/>
        </p:nvSpPr>
        <p:spPr>
          <a:xfrm>
            <a:off x="548640" y="1005840"/>
            <a:ext cx="8046720" cy="7487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Temporal é uma plataforma open-source para implementar sistemas distribuídos e de longa duração de forma confiável, onde o próprio sistema cuida de toda a complexidade de estado, falhas, retentativas e continuidade.</a:t>
            </a:r>
            <a:endParaRPr lang="en-US" sz="1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BD3CBE2-5BF0-BE02-9901-7A8955C04C82}"/>
              </a:ext>
            </a:extLst>
          </p:cNvPr>
          <p:cNvSpPr/>
          <p:nvPr/>
        </p:nvSpPr>
        <p:spPr>
          <a:xfrm>
            <a:off x="365760" y="2091462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9C95000-BD84-4618-3887-4F9994CD70F8}"/>
              </a:ext>
            </a:extLst>
          </p:cNvPr>
          <p:cNvSpPr/>
          <p:nvPr/>
        </p:nvSpPr>
        <p:spPr>
          <a:xfrm>
            <a:off x="365760" y="218290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8D3CAED-D8CE-F85B-ABC5-CE2417B31F59}"/>
              </a:ext>
            </a:extLst>
          </p:cNvPr>
          <p:cNvSpPr/>
          <p:nvPr/>
        </p:nvSpPr>
        <p:spPr>
          <a:xfrm>
            <a:off x="365760" y="268582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AA"/>
                </a:solidFill>
              </a:rPr>
              <a:t>Durabilidade</a:t>
            </a:r>
            <a:endParaRPr lang="en-US" sz="14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10B5771-57FD-B08A-BD64-1A917E56DE52}"/>
              </a:ext>
            </a:extLst>
          </p:cNvPr>
          <p:cNvSpPr/>
          <p:nvPr/>
        </p:nvSpPr>
        <p:spPr>
          <a:xfrm>
            <a:off x="457200" y="309730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Fluxos persistidos e retomados automaticamente após falhas</a:t>
            </a:r>
            <a:endParaRPr lang="en-US" sz="11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0A2B1FF-CCCB-467D-B4ED-95F7402366B4}"/>
              </a:ext>
            </a:extLst>
          </p:cNvPr>
          <p:cNvSpPr/>
          <p:nvPr/>
        </p:nvSpPr>
        <p:spPr>
          <a:xfrm>
            <a:off x="3200400" y="2091462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75002BC-6BEC-A100-A27F-52529B7CFF19}"/>
              </a:ext>
            </a:extLst>
          </p:cNvPr>
          <p:cNvSpPr/>
          <p:nvPr/>
        </p:nvSpPr>
        <p:spPr>
          <a:xfrm>
            <a:off x="3200400" y="218290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C22E6CC-75A3-9986-C640-EB59FBAA720C}"/>
              </a:ext>
            </a:extLst>
          </p:cNvPr>
          <p:cNvSpPr/>
          <p:nvPr/>
        </p:nvSpPr>
        <p:spPr>
          <a:xfrm>
            <a:off x="3200400" y="268582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AA"/>
                </a:solidFill>
              </a:rPr>
              <a:t>Retentativas</a:t>
            </a:r>
            <a:endParaRPr lang="en-US" sz="14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DA7D386-78B2-45F0-4706-3A2A7AFDCE43}"/>
              </a:ext>
            </a:extLst>
          </p:cNvPr>
          <p:cNvSpPr/>
          <p:nvPr/>
        </p:nvSpPr>
        <p:spPr>
          <a:xfrm>
            <a:off x="3291840" y="309730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Retry automático sem perder o estado da execução</a:t>
            </a:r>
            <a:endParaRPr lang="en-US" sz="11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53A64A7-8D1A-0A74-8ACF-F56FF0899E96}"/>
              </a:ext>
            </a:extLst>
          </p:cNvPr>
          <p:cNvSpPr/>
          <p:nvPr/>
        </p:nvSpPr>
        <p:spPr>
          <a:xfrm>
            <a:off x="6035040" y="2091462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CFA4D5E-C179-4E48-B007-FE100A5F4231}"/>
              </a:ext>
            </a:extLst>
          </p:cNvPr>
          <p:cNvSpPr/>
          <p:nvPr/>
        </p:nvSpPr>
        <p:spPr>
          <a:xfrm>
            <a:off x="6035040" y="218290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2CD5298-BEA1-9933-211C-2806032D6194}"/>
              </a:ext>
            </a:extLst>
          </p:cNvPr>
          <p:cNvSpPr/>
          <p:nvPr/>
        </p:nvSpPr>
        <p:spPr>
          <a:xfrm>
            <a:off x="6035040" y="268582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AA"/>
                </a:solidFill>
              </a:rPr>
              <a:t>Distribuído</a:t>
            </a:r>
            <a:endParaRPr lang="en-US" sz="14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2301AB3-3BC4-D465-299A-682D26782883}"/>
              </a:ext>
            </a:extLst>
          </p:cNvPr>
          <p:cNvSpPr/>
          <p:nvPr/>
        </p:nvSpPr>
        <p:spPr>
          <a:xfrm>
            <a:off x="6126480" y="309730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Suporta processos de longa duração em sistemas distribuídos</a:t>
            </a:r>
            <a:endParaRPr lang="en-US" sz="1100" dirty="0"/>
          </a:p>
        </p:txBody>
      </p:sp>
      <p:sp>
        <p:nvSpPr>
          <p:cNvPr id="18" name="Shape 30">
            <a:extLst>
              <a:ext uri="{FF2B5EF4-FFF2-40B4-BE49-F238E27FC236}">
                <a16:creationId xmlns:a16="http://schemas.microsoft.com/office/drawing/2014/main" id="{ABC211BF-0916-DC26-1608-8FB7AC8B2B14}"/>
              </a:ext>
            </a:extLst>
          </p:cNvPr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AAC4DB85-4AAB-8F9D-FE3F-14391B4530AB}"/>
              </a:ext>
            </a:extLst>
          </p:cNvPr>
          <p:cNvSpPr/>
          <p:nvPr/>
        </p:nvSpPr>
        <p:spPr>
          <a:xfrm>
            <a:off x="365760" y="4434841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resilientes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manualmente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retry, recovery e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gestao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7234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03  /  </a:t>
            </a:r>
            <a:r>
              <a:rPr lang="en-US" sz="2400" b="1" dirty="0" err="1">
                <a:solidFill>
                  <a:srgbClr val="FFFFFF"/>
                </a:solidFill>
              </a:rPr>
              <a:t>Porque</a:t>
            </a:r>
            <a:r>
              <a:rPr lang="en-US" sz="2400" b="1" dirty="0">
                <a:solidFill>
                  <a:srgbClr val="FFFFFF"/>
                </a:solidFill>
              </a:rPr>
              <a:t> usar Temporal IO?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6B"/>
                </a:solidFill>
              </a:rPr>
              <a:t>❌  Sem Temporal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Guardar estado na base de dados manualmente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Reexecutar lógica de onde parou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Tratar duplicações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Corrigir falhas de rede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Fazer reconciliações de dados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6B6B"/>
                </a:solidFill>
              </a:rPr>
              <a:t>Código repetitivo, difícil de testar e propenso a bugs.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98348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✅  Com Temporal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Estado reconstruído automaticamente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Retoma de onde parou (segundos, dias, meses)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Retry automático sem código extra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Tolerante a falhas de rede e reinícios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Histórico de eventos completo e auditável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D4AA"/>
                </a:solidFill>
              </a:rPr>
              <a:t>Execução à prova de falhas, sem lógica manual de recuperação.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2286000"/>
            <a:ext cx="640080" cy="64008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4251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  /  Vantagens e Desvantagens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✅  Vantagens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Tentativas automáticas sem perda de estado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Estado reconstruído a partir do histórico de eventos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Excelente para processos longos e assíncronos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Integração nativa com Java, Go, TypeScript e Python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2" name="Shape 10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⚠️  Desvantagens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Curva de aprendizado inicial elevada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Requer infraestrutura adicional (Temporal Service + DB)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Pode ser exagerado para sistemas simples ou fluxos curtos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  /  Principais Conceitos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Processo durável com execução determinística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6732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Activity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6732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Unidade de trabalho externo (HTTP, DB, email…)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69340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9340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Processo que executa workflows e activities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Task Queue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Fila que conecta o serviço central aos workers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76732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Retry Policy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6732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Define tentativas, intervalos e erros a ignorar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0" name="Shape 28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9340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Temporal Service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340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Orquestrador central: persiste e agenda tarefas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5" name="Shape 33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6" name="Text 34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📜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4124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Event History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4124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Histórico imutável que reconstrói o estado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0" name="Shape 38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1" name="Text 39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76732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Signal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6732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Envia info a um workflow em execução (assíncrono)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2648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5" name="Shape 43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669340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Query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69340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Lê o estado atual de um workflow (síncrono)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06  /  Arquitetura Geral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13481" y="1005840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513481" y="1005840"/>
            <a:ext cx="2520000" cy="4114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13480" y="1005840"/>
            <a:ext cx="246888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Client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4921" y="1463040"/>
            <a:ext cx="2309597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Inicia workflows, envia signals, executa queries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34806" y="1005840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3234806" y="1005840"/>
            <a:ext cx="2520000" cy="4114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3234805" y="1005840"/>
            <a:ext cx="24512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Temporal Service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26246" y="1463040"/>
            <a:ext cx="23597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Orquestração central: persiste histórico e agenda tarefas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38302" y="1007097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5938302" y="1007097"/>
            <a:ext cx="2520000" cy="411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5952474" y="1007097"/>
            <a:ext cx="25058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Task Queues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29742" y="1464297"/>
            <a:ext cx="23801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Filas lógicas que distribuem tarefas aos workers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38298" y="2747917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B06C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5938298" y="2747917"/>
            <a:ext cx="2520000" cy="411480"/>
          </a:xfrm>
          <a:prstGeom prst="rect">
            <a:avLst/>
          </a:prstGeom>
          <a:solidFill>
            <a:srgbClr val="B06CC4"/>
          </a:solidFill>
          <a:ln w="12700">
            <a:solidFill>
              <a:srgbClr val="B06CC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5938298" y="2747917"/>
            <a:ext cx="252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Workers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29738" y="3205117"/>
            <a:ext cx="23801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Executam código de workflows e activities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34805" y="3550738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3234805" y="3550738"/>
            <a:ext cx="252000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3234805" y="3550738"/>
            <a:ext cx="252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Database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26245" y="4007938"/>
            <a:ext cx="2344329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Armazena o histórico de eventos (PostgreSQL/MySQL/Cassandra)</a:t>
            </a:r>
            <a:endParaRPr lang="en-US" sz="1050" dirty="0"/>
          </a:p>
        </p:txBody>
      </p:sp>
      <p:cxnSp>
        <p:nvCxnSpPr>
          <p:cNvPr id="28" name="Conexão Reta Unidirecional 27">
            <a:extLst>
              <a:ext uri="{FF2B5EF4-FFF2-40B4-BE49-F238E27FC236}">
                <a16:creationId xmlns:a16="http://schemas.microsoft.com/office/drawing/2014/main" id="{AF88746F-ECBF-8193-848C-E24B8BDB1D55}"/>
              </a:ext>
            </a:extLst>
          </p:cNvPr>
          <p:cNvCxnSpPr>
            <a:cxnSpLocks/>
            <a:stCxn id="8" idx="2"/>
            <a:endCxn id="21" idx="0"/>
          </p:cNvCxnSpPr>
          <p:nvPr/>
        </p:nvCxnSpPr>
        <p:spPr>
          <a:xfrm flipH="1">
            <a:off x="4494805" y="2445840"/>
            <a:ext cx="1" cy="110489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xão Reta Unidirecional 36">
            <a:extLst>
              <a:ext uri="{FF2B5EF4-FFF2-40B4-BE49-F238E27FC236}">
                <a16:creationId xmlns:a16="http://schemas.microsoft.com/office/drawing/2014/main" id="{5ACCBA04-FD58-71D4-151B-F6BD2C51783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3481" y="1725840"/>
            <a:ext cx="20132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xão Reta Unidirecional 39">
            <a:extLst>
              <a:ext uri="{FF2B5EF4-FFF2-40B4-BE49-F238E27FC236}">
                <a16:creationId xmlns:a16="http://schemas.microsoft.com/office/drawing/2014/main" id="{0EDA1B8A-1C98-FF12-81B3-2E66C2C5FFDA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>
            <a:off x="5754806" y="1725840"/>
            <a:ext cx="183496" cy="12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xão Reta Unidirecional 47">
            <a:extLst>
              <a:ext uri="{FF2B5EF4-FFF2-40B4-BE49-F238E27FC236}">
                <a16:creationId xmlns:a16="http://schemas.microsoft.com/office/drawing/2014/main" id="{7E2F4F85-E3E0-5A01-27B7-782D8FDB6494}"/>
              </a:ext>
            </a:extLst>
          </p:cNvPr>
          <p:cNvCxnSpPr>
            <a:cxnSpLocks/>
            <a:stCxn id="12" idx="2"/>
            <a:endCxn id="17" idx="0"/>
          </p:cNvCxnSpPr>
          <p:nvPr/>
        </p:nvCxnSpPr>
        <p:spPr>
          <a:xfrm flipH="1">
            <a:off x="7198298" y="2447097"/>
            <a:ext cx="4" cy="3008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07  /  Fluxo de Execução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02920" cy="50292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Client inicia o workflow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502920" cy="50292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918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8620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Temporal Service regista o evento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9B59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502920" cy="502920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21792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1228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Tarefas são agendadas na Task Queue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3657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Worker consome e executa a tarefa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3291840" y="2743200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32918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88620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Activity realiza a operação externa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2648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6217920" y="274320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621792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1228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Resultado retorna e histórico atualiza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🔄  Em caso de falha: Temporal aplica Retry Policies e retoma a execução com base no histórico de eventos.</a:t>
            </a:r>
            <a:endParaRPr lang="en-US" sz="1100" dirty="0"/>
          </a:p>
        </p:txBody>
      </p:sp>
      <p:cxnSp>
        <p:nvCxnSpPr>
          <p:cNvPr id="34" name="Conexão Reta Unidirecional 33">
            <a:extLst>
              <a:ext uri="{FF2B5EF4-FFF2-40B4-BE49-F238E27FC236}">
                <a16:creationId xmlns:a16="http://schemas.microsoft.com/office/drawing/2014/main" id="{BB5C6E2A-2925-F8C5-5E9D-468D5D9D3058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3017520" y="166878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xão Reta Unidirecional 36">
            <a:extLst>
              <a:ext uri="{FF2B5EF4-FFF2-40B4-BE49-F238E27FC236}">
                <a16:creationId xmlns:a16="http://schemas.microsoft.com/office/drawing/2014/main" id="{1BBE1A0A-02C2-26FE-803E-1112E59E56FA}"/>
              </a:ext>
            </a:extLst>
          </p:cNvPr>
          <p:cNvCxnSpPr>
            <a:cxnSpLocks/>
            <a:stCxn id="9" idx="3"/>
            <a:endCxn id="14" idx="1"/>
          </p:cNvCxnSpPr>
          <p:nvPr/>
        </p:nvCxnSpPr>
        <p:spPr>
          <a:xfrm>
            <a:off x="5943600" y="166878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xão Reta Unidirecional 39">
            <a:extLst>
              <a:ext uri="{FF2B5EF4-FFF2-40B4-BE49-F238E27FC236}">
                <a16:creationId xmlns:a16="http://schemas.microsoft.com/office/drawing/2014/main" id="{B696B6AA-6E81-E91D-16E1-3EF726F09E50}"/>
              </a:ext>
            </a:extLst>
          </p:cNvPr>
          <p:cNvCxnSpPr>
            <a:cxnSpLocks/>
            <a:stCxn id="18" idx="3"/>
            <a:endCxn id="23" idx="1"/>
          </p:cNvCxnSpPr>
          <p:nvPr/>
        </p:nvCxnSpPr>
        <p:spPr>
          <a:xfrm>
            <a:off x="3017520" y="331470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xão Reta Unidirecional 42">
            <a:extLst>
              <a:ext uri="{FF2B5EF4-FFF2-40B4-BE49-F238E27FC236}">
                <a16:creationId xmlns:a16="http://schemas.microsoft.com/office/drawing/2014/main" id="{83159633-415F-2D3D-D3A9-EA4F4EA99351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5943600" y="3310944"/>
            <a:ext cx="182880" cy="37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08  /  Conclusão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00584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O Temporal IO não é apenas uma ferramenta de orquestração — é uma plataforma completa para construção de aplicações distribuídas resilientes.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✅  Usar quando…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Múltiplas integrações entre serviços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Dependência de sistemas externos sujeitos a falhas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Processos longos ou assíncronos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20624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Necessidade de rastreabilidade e reprocessamento confiável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 Reconsiderar quando…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Sistemas simples ou fluxos curtos e síncronos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Equipas sem tempo para curva de aprendizado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Projetos sem necessidade de alta resiliência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1B6CA8">
              <a:alpha val="15000"/>
            </a:srgbClr>
          </a:solidFill>
          <a:ln w="12700">
            <a:solidFill>
              <a:srgbClr val="1B6CA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5200" dirty="0">
              <a:solidFill>
                <a:srgbClr val="00206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9CDB"/>
                </a:solidFill>
              </a:rPr>
              <a:t>Temporal IO  •  Workflows Duráveis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📚  Referências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temporal.io  —  Documentação oficial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4015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docs.temporal.io/encyclopedia  —  Encyclopedia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78561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learn.temporal.io  —  Academia Temporal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16966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youtube.com/@Temporalio  —  Vídeos oficiais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676</Words>
  <Application>Microsoft Macintosh PowerPoint</Application>
  <PresentationFormat>Apresentação no Ecrã (16:9)</PresentationFormat>
  <Paragraphs>147</Paragraphs>
  <Slides>11</Slides>
  <Notes>11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11</vt:i4>
      </vt:variant>
    </vt:vector>
  </HeadingPairs>
  <TitlesOfParts>
    <vt:vector size="15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Temporal IO</dc:title>
  <dc:subject>PptxGenJS Presentation</dc:subject>
  <dc:creator>PptxGenJS</dc:creator>
  <cp:lastModifiedBy>Pedro Bruno Viveiros Ferreira</cp:lastModifiedBy>
  <cp:revision>29</cp:revision>
  <cp:lastPrinted>2026-04-09T08:34:09Z</cp:lastPrinted>
  <dcterms:created xsi:type="dcterms:W3CDTF">2026-04-09T07:59:40Z</dcterms:created>
  <dcterms:modified xsi:type="dcterms:W3CDTF">2026-04-15T15:21:36Z</dcterms:modified>
</cp:coreProperties>
</file>